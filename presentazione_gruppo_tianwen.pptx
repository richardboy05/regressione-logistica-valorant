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60" r:id="rId4"/>
    <p:sldId id="269" r:id="rId5"/>
    <p:sldId id="268" r:id="rId6"/>
    <p:sldId id="270" r:id="rId7"/>
    <p:sldId id="271" r:id="rId8"/>
    <p:sldId id="272" r:id="rId9"/>
    <p:sldId id="273" r:id="rId10"/>
    <p:sldId id="274" r:id="rId11"/>
    <p:sldId id="267" r:id="rId12"/>
    <p:sldId id="275" r:id="rId13"/>
    <p:sldId id="276" r:id="rId14"/>
    <p:sldId id="266" r:id="rId15"/>
    <p:sldId id="277" r:id="rId16"/>
    <p:sldId id="278" r:id="rId17"/>
    <p:sldId id="262" r:id="rId18"/>
    <p:sldId id="279" r:id="rId19"/>
    <p:sldId id="280" r:id="rId20"/>
    <p:sldId id="281" r:id="rId21"/>
    <p:sldId id="282" r:id="rId22"/>
    <p:sldId id="261" r:id="rId23"/>
    <p:sldId id="283" r:id="rId24"/>
    <p:sldId id="284" r:id="rId25"/>
    <p:sldId id="285" r:id="rId26"/>
    <p:sldId id="263" r:id="rId27"/>
    <p:sldId id="286" r:id="rId28"/>
    <p:sldId id="287" r:id="rId29"/>
    <p:sldId id="264" r:id="rId30"/>
    <p:sldId id="288" r:id="rId31"/>
    <p:sldId id="265" r:id="rId32"/>
    <p:sldId id="289" r:id="rId3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144"/>
    <a:srgbClr val="C13A48"/>
    <a:srgbClr val="156082"/>
    <a:srgbClr val="4EA72E"/>
    <a:srgbClr val="2C3E50"/>
    <a:srgbClr val="0F1923"/>
    <a:srgbClr val="FF4655"/>
    <a:srgbClr val="1C25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8" autoAdjust="0"/>
    <p:restoredTop sz="91646" autoAdjust="0"/>
  </p:normalViewPr>
  <p:slideViewPr>
    <p:cSldViewPr snapToGrid="0">
      <p:cViewPr varScale="1">
        <p:scale>
          <a:sx n="99" d="100"/>
          <a:sy n="99" d="100"/>
        </p:scale>
        <p:origin x="3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8375B-0B36-44BF-9B39-3FFA8ABE813F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6DDB2-37A6-4CB2-B5CE-FE65F5A437A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3484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76DDB2-37A6-4CB2-B5CE-FE65F5A437A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7883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FB9B60-A27D-FE46-D72A-3A640AA78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5CEDC4D-2EA9-E6B6-1923-5FEC44B27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9789FF-74BC-F5C0-6E9C-BD4C1F3C7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B2DB-C7E0-4D26-9E59-F500E03B88CD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D52D83-228C-EFCE-1D8D-D27A27B6C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9394CC-8130-2D21-1EE0-C4364846F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82B-D868-4EAD-A52F-8825E9920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4598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2B52B1-AE4D-7176-5FB7-5639D7365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198A8E-99B1-CF01-B742-3DD149D3F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92AEF8-929D-B0CB-6F65-7EC4EA3C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B2DB-C7E0-4D26-9E59-F500E03B88CD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9C8E7C5-FF4E-25CD-942E-4A42A3B5C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E3970E5-4C96-20E9-E73A-E3D8BA49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82B-D868-4EAD-A52F-8825E9920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7896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B3536C-0D3E-3ECF-DB7A-C6753DC8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E68A7DE-4F66-779A-28E3-EE136DD6C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A2B9F5-02AA-3622-9E56-6D24C5848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B2DB-C7E0-4D26-9E59-F500E03B88CD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0AEBC79-4DE4-A65D-D76C-5A8F494B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1C01D84-10DA-74AC-0040-9311152C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82B-D868-4EAD-A52F-8825E9920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6500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311F2A-B5FE-2C44-2304-725F5A585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5470CD-6997-CE20-B337-8D0090EEB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001A304-6B40-F3A1-6A57-4515979FA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D6FFEE8-F4D5-44FC-EEA5-D9533E89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B2DB-C7E0-4D26-9E59-F500E03B88CD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9FDC1B2-D720-FEFB-B4A9-5E9BACFA2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6CB54F-A451-CBC9-BAB6-A786DBD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82B-D868-4EAD-A52F-8825E9920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8219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7FA136-E45B-1367-0FB5-9C0A24C34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F0CF295-2D60-AE15-DCF2-E54C1B173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5925842-12AF-7DEB-196D-8FA6CB86D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8197904-2B55-5DC4-6340-7FBD4C466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71871AF-0DEF-E18C-5855-F5C1D5F572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1C51295-B685-1C6A-9F6A-CA3A9FEAB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B2DB-C7E0-4D26-9E59-F500E03B88CD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B48A8CC-45E1-9BE5-65E5-897321CF6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3F44D1-4FCC-01E8-3402-E2005BE4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82B-D868-4EAD-A52F-8825E9920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6376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275217-A068-19AC-5458-C99198ABD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D4CBAF0-8F06-6F17-6FAA-34A64FC73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B2DB-C7E0-4D26-9E59-F500E03B88CD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D10D304-EFF4-F8F6-06CC-3988DA4BD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25068F7-6C56-B4BB-6119-6A754F6C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82B-D868-4EAD-A52F-8825E9920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7689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7409D65-B7CA-EF68-A72A-ECAAF98C2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B2DB-C7E0-4D26-9E59-F500E03B88CD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797EA29-E3C9-C9FC-FFBC-9558766DE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8617CCE-0832-B2BA-4D88-E41ACCFA1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82B-D868-4EAD-A52F-8825E9920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3252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7EAA46-EFB7-863D-E8CF-2CFF0F77E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C5B598-FD92-6586-918F-4FF0CABE4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C0050B4-103F-667E-4D03-0714EB60B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431C9C8-DEB8-AE7C-308D-C27B1BFD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B2DB-C7E0-4D26-9E59-F500E03B88CD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2750B86-92D7-8C91-9A6F-28DF085F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4F295F5-6705-05BC-6D13-0DAB25609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82B-D868-4EAD-A52F-8825E9920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587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6B6945-A24A-BD97-1420-840331CED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A794A09-DBC0-27AB-FDE0-6426E22B5B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38CB78-4B26-9864-7FE5-23FEFD216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00F1486-9D38-AB63-ACD7-FD9D1558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B2DB-C7E0-4D26-9E59-F500E03B88CD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BC71CDA-BE85-9813-3D63-3D22EA112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629580B-3240-A27E-590D-33163E84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82B-D868-4EAD-A52F-8825E9920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1417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A4F9C-7E93-D79E-A957-61A800C61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560C9D6-1080-E5F1-13DC-DB38AAB1C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48E0D9-52D7-2565-2804-4532B0FFF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B2DB-C7E0-4D26-9E59-F500E03B88CD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5D70455-71F2-C1B8-0BA8-1A20185B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731B75-CD51-0432-3B6A-A5670FE6C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82B-D868-4EAD-A52F-8825E9920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30841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E38736A-0688-7E9F-3ACF-E5AC9D89B2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A244806-7F3E-B762-7EDB-3FFC20AAC7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463698-44C5-0500-B440-5C38331F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BB2DB-C7E0-4D26-9E59-F500E03B88CD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E5D45C-04C3-7BDB-7518-52786E11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64FBBE3-FBD0-D846-1F40-930B7077D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3E82B-D868-4EAD-A52F-8825E9920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87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403178A-A229-F704-5348-F169D1366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88099C-FBB9-782F-03A3-DE54D6AD6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F80C4A-74B5-7E7E-3387-2B9E4DC6F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BB2DB-C7E0-4D26-9E59-F500E03B88CD}" type="datetimeFigureOut">
              <a:rPr lang="it-IT" smtClean="0"/>
              <a:t>19/01/2026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B71402-5C50-AE23-FA02-AADA1FA88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8457F7-9952-4F8E-1A91-F12FCF517E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3E82B-D868-4EAD-A52F-8825E99206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011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slide" Target="slide5.xml"/><Relationship Id="rId18" Type="http://schemas.openxmlformats.org/officeDocument/2006/relationships/image" Target="../media/image11.png"/><Relationship Id="rId3" Type="http://schemas.openxmlformats.org/officeDocument/2006/relationships/slide" Target="slide14.xml"/><Relationship Id="rId7" Type="http://schemas.openxmlformats.org/officeDocument/2006/relationships/slide" Target="slide29.xml"/><Relationship Id="rId12" Type="http://schemas.openxmlformats.org/officeDocument/2006/relationships/image" Target="../media/image8.png"/><Relationship Id="rId17" Type="http://schemas.openxmlformats.org/officeDocument/2006/relationships/slide" Target="slide17.xml"/><Relationship Id="rId2" Type="http://schemas.openxmlformats.org/officeDocument/2006/relationships/image" Target="../media/image2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slide" Target="slide3.xml"/><Relationship Id="rId5" Type="http://schemas.openxmlformats.org/officeDocument/2006/relationships/slide" Target="slide26.xml"/><Relationship Id="rId15" Type="http://schemas.openxmlformats.org/officeDocument/2006/relationships/slide" Target="slide11.xml"/><Relationship Id="rId10" Type="http://schemas.openxmlformats.org/officeDocument/2006/relationships/image" Target="../media/image7.png"/><Relationship Id="rId19" Type="http://schemas.openxmlformats.org/officeDocument/2006/relationships/slide" Target="slide22.xml"/><Relationship Id="rId4" Type="http://schemas.openxmlformats.org/officeDocument/2006/relationships/image" Target="../media/image4.png"/><Relationship Id="rId9" Type="http://schemas.openxmlformats.org/officeDocument/2006/relationships/slide" Target="slide31.xml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slide" Target="slide5.xml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" Type="http://schemas.openxmlformats.org/officeDocument/2006/relationships/image" Target="../media/image13.png"/><Relationship Id="rId21" Type="http://schemas.openxmlformats.org/officeDocument/2006/relationships/slide" Target="slide22.xml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slide" Target="slide14.xml"/><Relationship Id="rId25" Type="http://schemas.openxmlformats.org/officeDocument/2006/relationships/slide" Target="slide29.xml"/><Relationship Id="rId2" Type="http://schemas.openxmlformats.org/officeDocument/2006/relationships/image" Target="../media/image2.png"/><Relationship Id="rId16" Type="http://schemas.openxmlformats.org/officeDocument/2006/relationships/image" Target="../media/image24.png"/><Relationship Id="rId20" Type="http://schemas.openxmlformats.org/officeDocument/2006/relationships/image" Target="../media/image26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28.png"/><Relationship Id="rId5" Type="http://schemas.openxmlformats.org/officeDocument/2006/relationships/image" Target="../media/image15.png"/><Relationship Id="rId15" Type="http://schemas.openxmlformats.org/officeDocument/2006/relationships/slide" Target="slide11.xml"/><Relationship Id="rId23" Type="http://schemas.openxmlformats.org/officeDocument/2006/relationships/slide" Target="slide26.xml"/><Relationship Id="rId28" Type="http://schemas.openxmlformats.org/officeDocument/2006/relationships/image" Target="../media/image30.png"/><Relationship Id="rId10" Type="http://schemas.openxmlformats.org/officeDocument/2006/relationships/image" Target="../media/image20.png"/><Relationship Id="rId19" Type="http://schemas.openxmlformats.org/officeDocument/2006/relationships/slide" Target="slide17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3.png"/><Relationship Id="rId22" Type="http://schemas.openxmlformats.org/officeDocument/2006/relationships/image" Target="../media/image27.png"/><Relationship Id="rId27" Type="http://schemas.openxmlformats.org/officeDocument/2006/relationships/slide" Target="slide3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14.xml"/><Relationship Id="rId18" Type="http://schemas.openxmlformats.org/officeDocument/2006/relationships/image" Target="../media/image27.png"/><Relationship Id="rId26" Type="http://schemas.openxmlformats.org/officeDocument/2006/relationships/image" Target="../media/image23.png"/><Relationship Id="rId3" Type="http://schemas.openxmlformats.org/officeDocument/2006/relationships/image" Target="../media/image14.png"/><Relationship Id="rId21" Type="http://schemas.openxmlformats.org/officeDocument/2006/relationships/slide" Target="slide29.xml"/><Relationship Id="rId7" Type="http://schemas.openxmlformats.org/officeDocument/2006/relationships/image" Target="../media/image18.png"/><Relationship Id="rId12" Type="http://schemas.openxmlformats.org/officeDocument/2006/relationships/image" Target="../media/image31.png"/><Relationship Id="rId17" Type="http://schemas.openxmlformats.org/officeDocument/2006/relationships/slide" Target="slide22.xml"/><Relationship Id="rId25" Type="http://schemas.openxmlformats.org/officeDocument/2006/relationships/slide" Target="slide5.xml"/><Relationship Id="rId2" Type="http://schemas.openxmlformats.org/officeDocument/2006/relationships/image" Target="../media/image13.png"/><Relationship Id="rId16" Type="http://schemas.openxmlformats.org/officeDocument/2006/relationships/image" Target="../media/image26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0.png"/><Relationship Id="rId5" Type="http://schemas.openxmlformats.org/officeDocument/2006/relationships/image" Target="../media/image16.png"/><Relationship Id="rId15" Type="http://schemas.openxmlformats.org/officeDocument/2006/relationships/slide" Target="slide17.xml"/><Relationship Id="rId23" Type="http://schemas.openxmlformats.org/officeDocument/2006/relationships/slide" Target="slide31.xml"/><Relationship Id="rId28" Type="http://schemas.openxmlformats.org/officeDocument/2006/relationships/image" Target="../media/image24.png"/><Relationship Id="rId10" Type="http://schemas.openxmlformats.org/officeDocument/2006/relationships/image" Target="../media/image21.png"/><Relationship Id="rId19" Type="http://schemas.openxmlformats.org/officeDocument/2006/relationships/slide" Target="slide26.xml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29.png"/><Relationship Id="rId27" Type="http://schemas.openxmlformats.org/officeDocument/2006/relationships/slide" Target="slide1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png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" Type="http://schemas.openxmlformats.org/officeDocument/2006/relationships/image" Target="../media/image13.png"/><Relationship Id="rId21" Type="http://schemas.openxmlformats.org/officeDocument/2006/relationships/slide" Target="slide22.xml"/><Relationship Id="rId7" Type="http://schemas.openxmlformats.org/officeDocument/2006/relationships/image" Target="../media/image17.png"/><Relationship Id="rId12" Type="http://schemas.openxmlformats.org/officeDocument/2006/relationships/slide" Target="slide3.xml"/><Relationship Id="rId17" Type="http://schemas.openxmlformats.org/officeDocument/2006/relationships/slide" Target="slide14.xml"/><Relationship Id="rId25" Type="http://schemas.openxmlformats.org/officeDocument/2006/relationships/slide" Target="slide29.xml"/><Relationship Id="rId2" Type="http://schemas.openxmlformats.org/officeDocument/2006/relationships/image" Target="../media/image2.png"/><Relationship Id="rId16" Type="http://schemas.openxmlformats.org/officeDocument/2006/relationships/image" Target="../media/image24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28.png"/><Relationship Id="rId5" Type="http://schemas.openxmlformats.org/officeDocument/2006/relationships/image" Target="../media/image15.png"/><Relationship Id="rId15" Type="http://schemas.openxmlformats.org/officeDocument/2006/relationships/slide" Target="slide11.xml"/><Relationship Id="rId23" Type="http://schemas.openxmlformats.org/officeDocument/2006/relationships/slide" Target="slide26.xml"/><Relationship Id="rId28" Type="http://schemas.openxmlformats.org/officeDocument/2006/relationships/image" Target="../media/image30.png"/><Relationship Id="rId10" Type="http://schemas.openxmlformats.org/officeDocument/2006/relationships/image" Target="../media/image20.png"/><Relationship Id="rId19" Type="http://schemas.openxmlformats.org/officeDocument/2006/relationships/slide" Target="slide17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3.png"/><Relationship Id="rId22" Type="http://schemas.openxmlformats.org/officeDocument/2006/relationships/image" Target="../media/image27.png"/><Relationship Id="rId27" Type="http://schemas.openxmlformats.org/officeDocument/2006/relationships/slide" Target="slide3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slide" Target="slide3.xml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" Type="http://schemas.openxmlformats.org/officeDocument/2006/relationships/image" Target="../media/image13.png"/><Relationship Id="rId21" Type="http://schemas.openxmlformats.org/officeDocument/2006/relationships/slide" Target="slide22.xml"/><Relationship Id="rId7" Type="http://schemas.openxmlformats.org/officeDocument/2006/relationships/image" Target="../media/image17.png"/><Relationship Id="rId12" Type="http://schemas.openxmlformats.org/officeDocument/2006/relationships/image" Target="../media/image23.png"/><Relationship Id="rId17" Type="http://schemas.openxmlformats.org/officeDocument/2006/relationships/slide" Target="slide14.xml"/><Relationship Id="rId25" Type="http://schemas.openxmlformats.org/officeDocument/2006/relationships/slide" Target="slide29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png"/><Relationship Id="rId20" Type="http://schemas.openxmlformats.org/officeDocument/2006/relationships/image" Target="../media/image26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28.png"/><Relationship Id="rId5" Type="http://schemas.openxmlformats.org/officeDocument/2006/relationships/image" Target="../media/image15.png"/><Relationship Id="rId15" Type="http://schemas.openxmlformats.org/officeDocument/2006/relationships/slide" Target="slide11.xml"/><Relationship Id="rId23" Type="http://schemas.openxmlformats.org/officeDocument/2006/relationships/slide" Target="slide26.xml"/><Relationship Id="rId28" Type="http://schemas.openxmlformats.org/officeDocument/2006/relationships/image" Target="../media/image30.png"/><Relationship Id="rId10" Type="http://schemas.openxmlformats.org/officeDocument/2006/relationships/image" Target="../media/image20.png"/><Relationship Id="rId19" Type="http://schemas.openxmlformats.org/officeDocument/2006/relationships/slide" Target="slide17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2.png"/><Relationship Id="rId22" Type="http://schemas.openxmlformats.org/officeDocument/2006/relationships/image" Target="../media/image27.png"/><Relationship Id="rId27" Type="http://schemas.openxmlformats.org/officeDocument/2006/relationships/slide" Target="slide31.xml"/><Relationship Id="rId30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3.png"/><Relationship Id="rId18" Type="http://schemas.openxmlformats.org/officeDocument/2006/relationships/slide" Target="slide14.xml"/><Relationship Id="rId26" Type="http://schemas.openxmlformats.org/officeDocument/2006/relationships/slide" Target="slide29.xml"/><Relationship Id="rId3" Type="http://schemas.openxmlformats.org/officeDocument/2006/relationships/image" Target="../media/image13.png"/><Relationship Id="rId21" Type="http://schemas.openxmlformats.org/officeDocument/2006/relationships/image" Target="../media/image26.png"/><Relationship Id="rId7" Type="http://schemas.openxmlformats.org/officeDocument/2006/relationships/image" Target="../media/image17.png"/><Relationship Id="rId12" Type="http://schemas.openxmlformats.org/officeDocument/2006/relationships/image" Target="../media/image23.png"/><Relationship Id="rId17" Type="http://schemas.openxmlformats.org/officeDocument/2006/relationships/image" Target="../media/image24.png"/><Relationship Id="rId25" Type="http://schemas.openxmlformats.org/officeDocument/2006/relationships/image" Target="../media/image28.png"/><Relationship Id="rId2" Type="http://schemas.openxmlformats.org/officeDocument/2006/relationships/image" Target="../media/image32.png"/><Relationship Id="rId16" Type="http://schemas.openxmlformats.org/officeDocument/2006/relationships/slide" Target="slide11.xml"/><Relationship Id="rId20" Type="http://schemas.openxmlformats.org/officeDocument/2006/relationships/slide" Target="slide17.xml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slide" Target="slide26.xml"/><Relationship Id="rId5" Type="http://schemas.openxmlformats.org/officeDocument/2006/relationships/image" Target="../media/image15.png"/><Relationship Id="rId15" Type="http://schemas.openxmlformats.org/officeDocument/2006/relationships/image" Target="../media/image22.png"/><Relationship Id="rId23" Type="http://schemas.openxmlformats.org/officeDocument/2006/relationships/image" Target="../media/image27.png"/><Relationship Id="rId28" Type="http://schemas.openxmlformats.org/officeDocument/2006/relationships/slide" Target="slide31.xml"/><Relationship Id="rId10" Type="http://schemas.openxmlformats.org/officeDocument/2006/relationships/image" Target="../media/image20.png"/><Relationship Id="rId19" Type="http://schemas.openxmlformats.org/officeDocument/2006/relationships/image" Target="../media/image2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slide" Target="slide3.xml"/><Relationship Id="rId22" Type="http://schemas.openxmlformats.org/officeDocument/2006/relationships/slide" Target="slide22.xml"/><Relationship Id="rId27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3.png"/><Relationship Id="rId18" Type="http://schemas.openxmlformats.org/officeDocument/2006/relationships/slide" Target="slide14.xml"/><Relationship Id="rId26" Type="http://schemas.openxmlformats.org/officeDocument/2006/relationships/slide" Target="slide29.xml"/><Relationship Id="rId3" Type="http://schemas.openxmlformats.org/officeDocument/2006/relationships/image" Target="../media/image13.png"/><Relationship Id="rId21" Type="http://schemas.openxmlformats.org/officeDocument/2006/relationships/image" Target="../media/image26.png"/><Relationship Id="rId7" Type="http://schemas.openxmlformats.org/officeDocument/2006/relationships/image" Target="../media/image17.png"/><Relationship Id="rId12" Type="http://schemas.openxmlformats.org/officeDocument/2006/relationships/image" Target="../media/image23.png"/><Relationship Id="rId17" Type="http://schemas.openxmlformats.org/officeDocument/2006/relationships/image" Target="../media/image24.png"/><Relationship Id="rId25" Type="http://schemas.openxmlformats.org/officeDocument/2006/relationships/image" Target="../media/image28.png"/><Relationship Id="rId2" Type="http://schemas.openxmlformats.org/officeDocument/2006/relationships/image" Target="../media/image34.png"/><Relationship Id="rId16" Type="http://schemas.openxmlformats.org/officeDocument/2006/relationships/slide" Target="slide11.xml"/><Relationship Id="rId20" Type="http://schemas.openxmlformats.org/officeDocument/2006/relationships/slide" Target="slide17.xml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slide" Target="slide26.xml"/><Relationship Id="rId5" Type="http://schemas.openxmlformats.org/officeDocument/2006/relationships/image" Target="../media/image15.png"/><Relationship Id="rId15" Type="http://schemas.openxmlformats.org/officeDocument/2006/relationships/image" Target="../media/image22.png"/><Relationship Id="rId23" Type="http://schemas.openxmlformats.org/officeDocument/2006/relationships/image" Target="../media/image27.png"/><Relationship Id="rId28" Type="http://schemas.openxmlformats.org/officeDocument/2006/relationships/slide" Target="slide31.xml"/><Relationship Id="rId10" Type="http://schemas.openxmlformats.org/officeDocument/2006/relationships/image" Target="../media/image20.png"/><Relationship Id="rId19" Type="http://schemas.openxmlformats.org/officeDocument/2006/relationships/image" Target="../media/image2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slide" Target="slide3.xml"/><Relationship Id="rId22" Type="http://schemas.openxmlformats.org/officeDocument/2006/relationships/slide" Target="slide22.xml"/><Relationship Id="rId27" Type="http://schemas.openxmlformats.org/officeDocument/2006/relationships/image" Target="../media/image29.png"/><Relationship Id="rId30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3.xml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slide" Target="slide22.xml"/><Relationship Id="rId7" Type="http://schemas.openxmlformats.org/officeDocument/2006/relationships/image" Target="../media/image18.png"/><Relationship Id="rId12" Type="http://schemas.openxmlformats.org/officeDocument/2006/relationships/image" Target="../media/image35.png"/><Relationship Id="rId17" Type="http://schemas.openxmlformats.org/officeDocument/2006/relationships/slide" Target="slide14.xml"/><Relationship Id="rId25" Type="http://schemas.openxmlformats.org/officeDocument/2006/relationships/slide" Target="slide29.xml"/><Relationship Id="rId2" Type="http://schemas.openxmlformats.org/officeDocument/2006/relationships/image" Target="../media/image13.png"/><Relationship Id="rId16" Type="http://schemas.openxmlformats.org/officeDocument/2006/relationships/image" Target="../media/image24.png"/><Relationship Id="rId20" Type="http://schemas.openxmlformats.org/officeDocument/2006/relationships/image" Target="../media/image26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3.png"/><Relationship Id="rId24" Type="http://schemas.openxmlformats.org/officeDocument/2006/relationships/image" Target="../media/image28.png"/><Relationship Id="rId5" Type="http://schemas.openxmlformats.org/officeDocument/2006/relationships/image" Target="../media/image16.png"/><Relationship Id="rId15" Type="http://schemas.openxmlformats.org/officeDocument/2006/relationships/slide" Target="slide11.xml"/><Relationship Id="rId23" Type="http://schemas.openxmlformats.org/officeDocument/2006/relationships/slide" Target="slide26.xml"/><Relationship Id="rId28" Type="http://schemas.openxmlformats.org/officeDocument/2006/relationships/image" Target="../media/image30.png"/><Relationship Id="rId10" Type="http://schemas.openxmlformats.org/officeDocument/2006/relationships/image" Target="../media/image21.png"/><Relationship Id="rId19" Type="http://schemas.openxmlformats.org/officeDocument/2006/relationships/slide" Target="slide17.xml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2.png"/><Relationship Id="rId22" Type="http://schemas.openxmlformats.org/officeDocument/2006/relationships/image" Target="../media/image27.png"/><Relationship Id="rId27" Type="http://schemas.openxmlformats.org/officeDocument/2006/relationships/slide" Target="slide31.xml"/><Relationship Id="rId30" Type="http://schemas.openxmlformats.org/officeDocument/2006/relationships/image" Target="../media/image3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7.svg"/><Relationship Id="rId18" Type="http://schemas.openxmlformats.org/officeDocument/2006/relationships/slide" Target="slide14.xml"/><Relationship Id="rId26" Type="http://schemas.openxmlformats.org/officeDocument/2006/relationships/slide" Target="slide29.xml"/><Relationship Id="rId3" Type="http://schemas.openxmlformats.org/officeDocument/2006/relationships/image" Target="../media/image14.png"/><Relationship Id="rId21" Type="http://schemas.openxmlformats.org/officeDocument/2006/relationships/image" Target="../media/image26.png"/><Relationship Id="rId7" Type="http://schemas.openxmlformats.org/officeDocument/2006/relationships/image" Target="../media/image18.png"/><Relationship Id="rId12" Type="http://schemas.openxmlformats.org/officeDocument/2006/relationships/image" Target="../media/image36.png"/><Relationship Id="rId17" Type="http://schemas.openxmlformats.org/officeDocument/2006/relationships/image" Target="../media/image24.png"/><Relationship Id="rId25" Type="http://schemas.openxmlformats.org/officeDocument/2006/relationships/image" Target="../media/image28.png"/><Relationship Id="rId2" Type="http://schemas.openxmlformats.org/officeDocument/2006/relationships/image" Target="../media/image13.png"/><Relationship Id="rId16" Type="http://schemas.openxmlformats.org/officeDocument/2006/relationships/slide" Target="slide11.xml"/><Relationship Id="rId20" Type="http://schemas.openxmlformats.org/officeDocument/2006/relationships/slide" Target="slide17.xml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3.png"/><Relationship Id="rId24" Type="http://schemas.openxmlformats.org/officeDocument/2006/relationships/slide" Target="slide26.xml"/><Relationship Id="rId5" Type="http://schemas.openxmlformats.org/officeDocument/2006/relationships/image" Target="../media/image16.png"/><Relationship Id="rId15" Type="http://schemas.openxmlformats.org/officeDocument/2006/relationships/image" Target="../media/image22.png"/><Relationship Id="rId23" Type="http://schemas.openxmlformats.org/officeDocument/2006/relationships/image" Target="../media/image27.png"/><Relationship Id="rId28" Type="http://schemas.openxmlformats.org/officeDocument/2006/relationships/slide" Target="slide31.xml"/><Relationship Id="rId10" Type="http://schemas.openxmlformats.org/officeDocument/2006/relationships/image" Target="../media/image21.png"/><Relationship Id="rId19" Type="http://schemas.openxmlformats.org/officeDocument/2006/relationships/image" Target="../media/image25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slide" Target="slide3.xml"/><Relationship Id="rId22" Type="http://schemas.openxmlformats.org/officeDocument/2006/relationships/slide" Target="slide22.xml"/><Relationship Id="rId27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png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" Type="http://schemas.openxmlformats.org/officeDocument/2006/relationships/image" Target="../media/image13.png"/><Relationship Id="rId21" Type="http://schemas.openxmlformats.org/officeDocument/2006/relationships/slide" Target="slide22.xml"/><Relationship Id="rId7" Type="http://schemas.openxmlformats.org/officeDocument/2006/relationships/image" Target="../media/image17.png"/><Relationship Id="rId12" Type="http://schemas.openxmlformats.org/officeDocument/2006/relationships/slide" Target="slide3.xml"/><Relationship Id="rId17" Type="http://schemas.openxmlformats.org/officeDocument/2006/relationships/slide" Target="slide14.xml"/><Relationship Id="rId25" Type="http://schemas.openxmlformats.org/officeDocument/2006/relationships/slide" Target="slide29.xml"/><Relationship Id="rId2" Type="http://schemas.openxmlformats.org/officeDocument/2006/relationships/image" Target="../media/image2.png"/><Relationship Id="rId16" Type="http://schemas.openxmlformats.org/officeDocument/2006/relationships/image" Target="../media/image24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28.png"/><Relationship Id="rId5" Type="http://schemas.openxmlformats.org/officeDocument/2006/relationships/image" Target="../media/image15.png"/><Relationship Id="rId15" Type="http://schemas.openxmlformats.org/officeDocument/2006/relationships/image" Target="../media/image23.png"/><Relationship Id="rId23" Type="http://schemas.openxmlformats.org/officeDocument/2006/relationships/slide" Target="slide26.xml"/><Relationship Id="rId28" Type="http://schemas.openxmlformats.org/officeDocument/2006/relationships/image" Target="../media/image30.png"/><Relationship Id="rId10" Type="http://schemas.openxmlformats.org/officeDocument/2006/relationships/image" Target="../media/image20.png"/><Relationship Id="rId19" Type="http://schemas.openxmlformats.org/officeDocument/2006/relationships/slide" Target="slide17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slide" Target="slide5.xml"/><Relationship Id="rId22" Type="http://schemas.openxmlformats.org/officeDocument/2006/relationships/image" Target="../media/image27.png"/><Relationship Id="rId27" Type="http://schemas.openxmlformats.org/officeDocument/2006/relationships/slide" Target="slide3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slide" Target="slide3.xml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" Type="http://schemas.openxmlformats.org/officeDocument/2006/relationships/image" Target="../media/image13.png"/><Relationship Id="rId21" Type="http://schemas.openxmlformats.org/officeDocument/2006/relationships/slide" Target="slide22.xml"/><Relationship Id="rId7" Type="http://schemas.openxmlformats.org/officeDocument/2006/relationships/image" Target="../media/image17.png"/><Relationship Id="rId12" Type="http://schemas.openxmlformats.org/officeDocument/2006/relationships/image" Target="../media/image24.png"/><Relationship Id="rId17" Type="http://schemas.openxmlformats.org/officeDocument/2006/relationships/slide" Target="slide14.xml"/><Relationship Id="rId25" Type="http://schemas.openxmlformats.org/officeDocument/2006/relationships/slide" Target="slide29.xml"/><Relationship Id="rId2" Type="http://schemas.openxmlformats.org/officeDocument/2006/relationships/image" Target="../media/image38.png"/><Relationship Id="rId16" Type="http://schemas.openxmlformats.org/officeDocument/2006/relationships/image" Target="../media/image23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28.png"/><Relationship Id="rId5" Type="http://schemas.openxmlformats.org/officeDocument/2006/relationships/image" Target="../media/image15.png"/><Relationship Id="rId15" Type="http://schemas.openxmlformats.org/officeDocument/2006/relationships/slide" Target="slide5.xml"/><Relationship Id="rId23" Type="http://schemas.openxmlformats.org/officeDocument/2006/relationships/slide" Target="slide26.xml"/><Relationship Id="rId28" Type="http://schemas.openxmlformats.org/officeDocument/2006/relationships/image" Target="../media/image30.png"/><Relationship Id="rId10" Type="http://schemas.openxmlformats.org/officeDocument/2006/relationships/image" Target="../media/image20.png"/><Relationship Id="rId19" Type="http://schemas.openxmlformats.org/officeDocument/2006/relationships/slide" Target="slide17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2.png"/><Relationship Id="rId22" Type="http://schemas.openxmlformats.org/officeDocument/2006/relationships/image" Target="../media/image27.png"/><Relationship Id="rId27" Type="http://schemas.openxmlformats.org/officeDocument/2006/relationships/slide" Target="slide3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slide" Target="slide3.xml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" Type="http://schemas.openxmlformats.org/officeDocument/2006/relationships/image" Target="../media/image13.png"/><Relationship Id="rId21" Type="http://schemas.openxmlformats.org/officeDocument/2006/relationships/slide" Target="slide22.xml"/><Relationship Id="rId7" Type="http://schemas.openxmlformats.org/officeDocument/2006/relationships/image" Target="../media/image17.png"/><Relationship Id="rId12" Type="http://schemas.openxmlformats.org/officeDocument/2006/relationships/image" Target="../media/image24.png"/><Relationship Id="rId17" Type="http://schemas.openxmlformats.org/officeDocument/2006/relationships/slide" Target="slide14.xml"/><Relationship Id="rId25" Type="http://schemas.openxmlformats.org/officeDocument/2006/relationships/slide" Target="slide29.xml"/><Relationship Id="rId2" Type="http://schemas.openxmlformats.org/officeDocument/2006/relationships/image" Target="../media/image38.png"/><Relationship Id="rId16" Type="http://schemas.openxmlformats.org/officeDocument/2006/relationships/image" Target="../media/image23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28.png"/><Relationship Id="rId5" Type="http://schemas.openxmlformats.org/officeDocument/2006/relationships/image" Target="../media/image15.png"/><Relationship Id="rId15" Type="http://schemas.openxmlformats.org/officeDocument/2006/relationships/slide" Target="slide5.xml"/><Relationship Id="rId23" Type="http://schemas.openxmlformats.org/officeDocument/2006/relationships/slide" Target="slide26.xml"/><Relationship Id="rId28" Type="http://schemas.openxmlformats.org/officeDocument/2006/relationships/image" Target="../media/image30.png"/><Relationship Id="rId10" Type="http://schemas.openxmlformats.org/officeDocument/2006/relationships/image" Target="../media/image20.png"/><Relationship Id="rId19" Type="http://schemas.openxmlformats.org/officeDocument/2006/relationships/slide" Target="slide17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2.png"/><Relationship Id="rId22" Type="http://schemas.openxmlformats.org/officeDocument/2006/relationships/image" Target="../media/image27.png"/><Relationship Id="rId27" Type="http://schemas.openxmlformats.org/officeDocument/2006/relationships/slide" Target="slide3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png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" Type="http://schemas.openxmlformats.org/officeDocument/2006/relationships/image" Target="../media/image13.png"/><Relationship Id="rId21" Type="http://schemas.openxmlformats.org/officeDocument/2006/relationships/slide" Target="slide22.xml"/><Relationship Id="rId7" Type="http://schemas.openxmlformats.org/officeDocument/2006/relationships/image" Target="../media/image17.png"/><Relationship Id="rId12" Type="http://schemas.openxmlformats.org/officeDocument/2006/relationships/slide" Target="slide3.xml"/><Relationship Id="rId17" Type="http://schemas.openxmlformats.org/officeDocument/2006/relationships/image" Target="../media/image24.png"/><Relationship Id="rId25" Type="http://schemas.openxmlformats.org/officeDocument/2006/relationships/slide" Target="slide29.xml"/><Relationship Id="rId2" Type="http://schemas.openxmlformats.org/officeDocument/2006/relationships/image" Target="../media/image2.png"/><Relationship Id="rId16" Type="http://schemas.openxmlformats.org/officeDocument/2006/relationships/slide" Target="slide11.xml"/><Relationship Id="rId20" Type="http://schemas.openxmlformats.org/officeDocument/2006/relationships/image" Target="../media/image26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28.png"/><Relationship Id="rId5" Type="http://schemas.openxmlformats.org/officeDocument/2006/relationships/image" Target="../media/image15.png"/><Relationship Id="rId15" Type="http://schemas.openxmlformats.org/officeDocument/2006/relationships/image" Target="../media/image23.png"/><Relationship Id="rId23" Type="http://schemas.openxmlformats.org/officeDocument/2006/relationships/slide" Target="slide26.xml"/><Relationship Id="rId28" Type="http://schemas.openxmlformats.org/officeDocument/2006/relationships/image" Target="../media/image30.png"/><Relationship Id="rId10" Type="http://schemas.openxmlformats.org/officeDocument/2006/relationships/image" Target="../media/image20.png"/><Relationship Id="rId19" Type="http://schemas.openxmlformats.org/officeDocument/2006/relationships/slide" Target="slide17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slide" Target="slide5.xml"/><Relationship Id="rId22" Type="http://schemas.openxmlformats.org/officeDocument/2006/relationships/image" Target="../media/image27.png"/><Relationship Id="rId27" Type="http://schemas.openxmlformats.org/officeDocument/2006/relationships/slide" Target="slide31.xml"/><Relationship Id="rId30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slide" Target="slide3.xml"/><Relationship Id="rId18" Type="http://schemas.openxmlformats.org/officeDocument/2006/relationships/image" Target="../media/image24.png"/><Relationship Id="rId26" Type="http://schemas.openxmlformats.org/officeDocument/2006/relationships/image" Target="../media/image29.png"/><Relationship Id="rId3" Type="http://schemas.openxmlformats.org/officeDocument/2006/relationships/image" Target="../media/image13.png"/><Relationship Id="rId21" Type="http://schemas.openxmlformats.org/officeDocument/2006/relationships/slide" Target="slide22.xml"/><Relationship Id="rId7" Type="http://schemas.openxmlformats.org/officeDocument/2006/relationships/image" Target="../media/image17.png"/><Relationship Id="rId12" Type="http://schemas.openxmlformats.org/officeDocument/2006/relationships/image" Target="../media/image25.png"/><Relationship Id="rId17" Type="http://schemas.openxmlformats.org/officeDocument/2006/relationships/slide" Target="slide11.xml"/><Relationship Id="rId25" Type="http://schemas.openxmlformats.org/officeDocument/2006/relationships/slide" Target="slide29.xml"/><Relationship Id="rId2" Type="http://schemas.openxmlformats.org/officeDocument/2006/relationships/image" Target="../media/image39.png"/><Relationship Id="rId16" Type="http://schemas.openxmlformats.org/officeDocument/2006/relationships/image" Target="../media/image23.png"/><Relationship Id="rId20" Type="http://schemas.openxmlformats.org/officeDocument/2006/relationships/image" Target="../media/image26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28.png"/><Relationship Id="rId5" Type="http://schemas.openxmlformats.org/officeDocument/2006/relationships/image" Target="../media/image15.png"/><Relationship Id="rId15" Type="http://schemas.openxmlformats.org/officeDocument/2006/relationships/slide" Target="slide5.xml"/><Relationship Id="rId23" Type="http://schemas.openxmlformats.org/officeDocument/2006/relationships/slide" Target="slide26.xml"/><Relationship Id="rId28" Type="http://schemas.openxmlformats.org/officeDocument/2006/relationships/image" Target="../media/image30.png"/><Relationship Id="rId10" Type="http://schemas.openxmlformats.org/officeDocument/2006/relationships/image" Target="../media/image20.png"/><Relationship Id="rId19" Type="http://schemas.openxmlformats.org/officeDocument/2006/relationships/slide" Target="slide17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2.png"/><Relationship Id="rId22" Type="http://schemas.openxmlformats.org/officeDocument/2006/relationships/image" Target="../media/image27.png"/><Relationship Id="rId27" Type="http://schemas.openxmlformats.org/officeDocument/2006/relationships/slide" Target="slide31.xml"/><Relationship Id="rId30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3.xml"/><Relationship Id="rId18" Type="http://schemas.openxmlformats.org/officeDocument/2006/relationships/image" Target="../media/image24.png"/><Relationship Id="rId26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slide" Target="slide22.xml"/><Relationship Id="rId7" Type="http://schemas.openxmlformats.org/officeDocument/2006/relationships/image" Target="../media/image18.png"/><Relationship Id="rId12" Type="http://schemas.openxmlformats.org/officeDocument/2006/relationships/image" Target="../media/image41.png"/><Relationship Id="rId17" Type="http://schemas.openxmlformats.org/officeDocument/2006/relationships/slide" Target="slide11.xml"/><Relationship Id="rId25" Type="http://schemas.openxmlformats.org/officeDocument/2006/relationships/slide" Target="slide29.xml"/><Relationship Id="rId2" Type="http://schemas.openxmlformats.org/officeDocument/2006/relationships/image" Target="../media/image13.png"/><Relationship Id="rId16" Type="http://schemas.openxmlformats.org/officeDocument/2006/relationships/image" Target="../media/image23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5.png"/><Relationship Id="rId24" Type="http://schemas.openxmlformats.org/officeDocument/2006/relationships/image" Target="../media/image28.png"/><Relationship Id="rId5" Type="http://schemas.openxmlformats.org/officeDocument/2006/relationships/image" Target="../media/image16.png"/><Relationship Id="rId15" Type="http://schemas.openxmlformats.org/officeDocument/2006/relationships/slide" Target="slide5.xml"/><Relationship Id="rId23" Type="http://schemas.openxmlformats.org/officeDocument/2006/relationships/slide" Target="slide26.xml"/><Relationship Id="rId28" Type="http://schemas.openxmlformats.org/officeDocument/2006/relationships/image" Target="../media/image30.png"/><Relationship Id="rId10" Type="http://schemas.openxmlformats.org/officeDocument/2006/relationships/image" Target="../media/image21.png"/><Relationship Id="rId19" Type="http://schemas.openxmlformats.org/officeDocument/2006/relationships/slide" Target="slide17.xml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2.png"/><Relationship Id="rId22" Type="http://schemas.openxmlformats.org/officeDocument/2006/relationships/image" Target="../media/image27.png"/><Relationship Id="rId27" Type="http://schemas.openxmlformats.org/officeDocument/2006/relationships/slide" Target="slide3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18" Type="http://schemas.openxmlformats.org/officeDocument/2006/relationships/image" Target="../media/image28.png"/><Relationship Id="rId26" Type="http://schemas.openxmlformats.org/officeDocument/2006/relationships/image" Target="../media/image23.png"/><Relationship Id="rId3" Type="http://schemas.openxmlformats.org/officeDocument/2006/relationships/image" Target="../media/image13.png"/><Relationship Id="rId21" Type="http://schemas.openxmlformats.org/officeDocument/2006/relationships/slide" Target="slide31.xml"/><Relationship Id="rId7" Type="http://schemas.openxmlformats.org/officeDocument/2006/relationships/image" Target="../media/image17.png"/><Relationship Id="rId12" Type="http://schemas.openxmlformats.org/officeDocument/2006/relationships/slide" Target="slide14.xml"/><Relationship Id="rId17" Type="http://schemas.openxmlformats.org/officeDocument/2006/relationships/slide" Target="slide26.xml"/><Relationship Id="rId25" Type="http://schemas.openxmlformats.org/officeDocument/2006/relationships/slide" Target="slide5.xml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22.png"/><Relationship Id="rId5" Type="http://schemas.openxmlformats.org/officeDocument/2006/relationships/image" Target="../media/image15.png"/><Relationship Id="rId15" Type="http://schemas.openxmlformats.org/officeDocument/2006/relationships/slide" Target="slide22.xml"/><Relationship Id="rId23" Type="http://schemas.openxmlformats.org/officeDocument/2006/relationships/slide" Target="slide3.xml"/><Relationship Id="rId28" Type="http://schemas.openxmlformats.org/officeDocument/2006/relationships/image" Target="../media/image24.png"/><Relationship Id="rId10" Type="http://schemas.openxmlformats.org/officeDocument/2006/relationships/image" Target="../media/image20.png"/><Relationship Id="rId19" Type="http://schemas.openxmlformats.org/officeDocument/2006/relationships/slide" Target="slide29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6.png"/><Relationship Id="rId22" Type="http://schemas.openxmlformats.org/officeDocument/2006/relationships/image" Target="../media/image30.png"/><Relationship Id="rId27" Type="http://schemas.openxmlformats.org/officeDocument/2006/relationships/slide" Target="slide1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5.png"/><Relationship Id="rId18" Type="http://schemas.openxmlformats.org/officeDocument/2006/relationships/slide" Target="slide29.xml"/><Relationship Id="rId26" Type="http://schemas.openxmlformats.org/officeDocument/2006/relationships/slide" Target="slide11.xml"/><Relationship Id="rId3" Type="http://schemas.openxmlformats.org/officeDocument/2006/relationships/image" Target="../media/image14.png"/><Relationship Id="rId21" Type="http://schemas.openxmlformats.org/officeDocument/2006/relationships/image" Target="../media/image30.png"/><Relationship Id="rId7" Type="http://schemas.openxmlformats.org/officeDocument/2006/relationships/image" Target="../media/image18.png"/><Relationship Id="rId12" Type="http://schemas.openxmlformats.org/officeDocument/2006/relationships/slide" Target="slide14.xml"/><Relationship Id="rId17" Type="http://schemas.openxmlformats.org/officeDocument/2006/relationships/image" Target="../media/image28.png"/><Relationship Id="rId25" Type="http://schemas.openxmlformats.org/officeDocument/2006/relationships/image" Target="../media/image23.png"/><Relationship Id="rId2" Type="http://schemas.openxmlformats.org/officeDocument/2006/relationships/image" Target="../media/image13.png"/><Relationship Id="rId16" Type="http://schemas.openxmlformats.org/officeDocument/2006/relationships/slide" Target="slide26.xml"/><Relationship Id="rId20" Type="http://schemas.openxmlformats.org/officeDocument/2006/relationships/slide" Target="slide31.xml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6.png"/><Relationship Id="rId24" Type="http://schemas.openxmlformats.org/officeDocument/2006/relationships/slide" Target="slide5.xml"/><Relationship Id="rId5" Type="http://schemas.openxmlformats.org/officeDocument/2006/relationships/image" Target="../media/image16.png"/><Relationship Id="rId15" Type="http://schemas.openxmlformats.org/officeDocument/2006/relationships/image" Target="../media/image27.png"/><Relationship Id="rId23" Type="http://schemas.openxmlformats.org/officeDocument/2006/relationships/image" Target="../media/image22.png"/><Relationship Id="rId28" Type="http://schemas.openxmlformats.org/officeDocument/2006/relationships/image" Target="../media/image42.png"/><Relationship Id="rId10" Type="http://schemas.openxmlformats.org/officeDocument/2006/relationships/image" Target="../media/image21.png"/><Relationship Id="rId19" Type="http://schemas.openxmlformats.org/officeDocument/2006/relationships/image" Target="../media/image29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slide" Target="slide22.xml"/><Relationship Id="rId22" Type="http://schemas.openxmlformats.org/officeDocument/2006/relationships/slide" Target="slide3.xml"/><Relationship Id="rId27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26" Type="http://schemas.openxmlformats.org/officeDocument/2006/relationships/slide" Target="slide26.xml"/><Relationship Id="rId39" Type="http://schemas.openxmlformats.org/officeDocument/2006/relationships/image" Target="../media/image45.png"/><Relationship Id="rId3" Type="http://schemas.openxmlformats.org/officeDocument/2006/relationships/image" Target="../media/image14.png"/><Relationship Id="rId21" Type="http://schemas.openxmlformats.org/officeDocument/2006/relationships/image" Target="../media/image390.png"/><Relationship Id="rId34" Type="http://schemas.openxmlformats.org/officeDocument/2006/relationships/slide" Target="slide5.xml"/><Relationship Id="rId7" Type="http://schemas.openxmlformats.org/officeDocument/2006/relationships/image" Target="../media/image18.png"/><Relationship Id="rId12" Type="http://schemas.openxmlformats.org/officeDocument/2006/relationships/image" Target="../media/image43.png"/><Relationship Id="rId25" Type="http://schemas.openxmlformats.org/officeDocument/2006/relationships/image" Target="../media/image27.png"/><Relationship Id="rId33" Type="http://schemas.openxmlformats.org/officeDocument/2006/relationships/image" Target="../media/image22.png"/><Relationship Id="rId38" Type="http://schemas.openxmlformats.org/officeDocument/2006/relationships/image" Target="../media/image44.png"/><Relationship Id="rId2" Type="http://schemas.openxmlformats.org/officeDocument/2006/relationships/image" Target="../media/image13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6.png"/><Relationship Id="rId24" Type="http://schemas.openxmlformats.org/officeDocument/2006/relationships/slide" Target="slide22.xml"/><Relationship Id="rId32" Type="http://schemas.openxmlformats.org/officeDocument/2006/relationships/slide" Target="slide3.xml"/><Relationship Id="rId37" Type="http://schemas.openxmlformats.org/officeDocument/2006/relationships/image" Target="../media/image24.png"/><Relationship Id="rId40" Type="http://schemas.openxmlformats.org/officeDocument/2006/relationships/image" Target="../media/image46.png"/><Relationship Id="rId5" Type="http://schemas.openxmlformats.org/officeDocument/2006/relationships/image" Target="../media/image16.png"/><Relationship Id="rId23" Type="http://schemas.openxmlformats.org/officeDocument/2006/relationships/image" Target="../media/image25.png"/><Relationship Id="rId28" Type="http://schemas.openxmlformats.org/officeDocument/2006/relationships/slide" Target="slide29.xml"/><Relationship Id="rId36" Type="http://schemas.openxmlformats.org/officeDocument/2006/relationships/slide" Target="slide11.xml"/><Relationship Id="rId10" Type="http://schemas.openxmlformats.org/officeDocument/2006/relationships/image" Target="../media/image21.png"/><Relationship Id="rId31" Type="http://schemas.openxmlformats.org/officeDocument/2006/relationships/image" Target="../media/image30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22" Type="http://schemas.openxmlformats.org/officeDocument/2006/relationships/slide" Target="slide14.xml"/><Relationship Id="rId27" Type="http://schemas.openxmlformats.org/officeDocument/2006/relationships/image" Target="../media/image28.png"/><Relationship Id="rId30" Type="http://schemas.openxmlformats.org/officeDocument/2006/relationships/slide" Target="slide31.xml"/><Relationship Id="rId35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5.png"/><Relationship Id="rId18" Type="http://schemas.openxmlformats.org/officeDocument/2006/relationships/image" Target="../media/image27.png"/><Relationship Id="rId26" Type="http://schemas.openxmlformats.org/officeDocument/2006/relationships/image" Target="../media/image22.png"/><Relationship Id="rId3" Type="http://schemas.openxmlformats.org/officeDocument/2006/relationships/image" Target="../media/image14.png"/><Relationship Id="rId21" Type="http://schemas.openxmlformats.org/officeDocument/2006/relationships/slide" Target="slide29.xml"/><Relationship Id="rId7" Type="http://schemas.openxmlformats.org/officeDocument/2006/relationships/image" Target="../media/image18.png"/><Relationship Id="rId12" Type="http://schemas.openxmlformats.org/officeDocument/2006/relationships/image" Target="../media/image44.png"/><Relationship Id="rId17" Type="http://schemas.openxmlformats.org/officeDocument/2006/relationships/slide" Target="slide22.xml"/><Relationship Id="rId25" Type="http://schemas.openxmlformats.org/officeDocument/2006/relationships/slide" Target="slide3.xml"/><Relationship Id="rId2" Type="http://schemas.openxmlformats.org/officeDocument/2006/relationships/image" Target="../media/image13.png"/><Relationship Id="rId16" Type="http://schemas.openxmlformats.org/officeDocument/2006/relationships/image" Target="../media/image25.png"/><Relationship Id="rId20" Type="http://schemas.openxmlformats.org/officeDocument/2006/relationships/image" Target="../media/image28.png"/><Relationship Id="rId29" Type="http://schemas.openxmlformats.org/officeDocument/2006/relationships/slide" Target="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6.png"/><Relationship Id="rId24" Type="http://schemas.openxmlformats.org/officeDocument/2006/relationships/image" Target="../media/image30.png"/><Relationship Id="rId5" Type="http://schemas.openxmlformats.org/officeDocument/2006/relationships/image" Target="../media/image16.png"/><Relationship Id="rId15" Type="http://schemas.openxmlformats.org/officeDocument/2006/relationships/slide" Target="slide14.xml"/><Relationship Id="rId23" Type="http://schemas.openxmlformats.org/officeDocument/2006/relationships/slide" Target="slide31.xml"/><Relationship Id="rId28" Type="http://schemas.openxmlformats.org/officeDocument/2006/relationships/image" Target="../media/image23.png"/><Relationship Id="rId10" Type="http://schemas.openxmlformats.org/officeDocument/2006/relationships/image" Target="../media/image21.png"/><Relationship Id="rId19" Type="http://schemas.openxmlformats.org/officeDocument/2006/relationships/slide" Target="slide26.xml"/><Relationship Id="rId31" Type="http://schemas.openxmlformats.org/officeDocument/2006/relationships/image" Target="../media/image47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46.png"/><Relationship Id="rId22" Type="http://schemas.openxmlformats.org/officeDocument/2006/relationships/image" Target="../media/image29.png"/><Relationship Id="rId27" Type="http://schemas.openxmlformats.org/officeDocument/2006/relationships/slide" Target="slide5.xml"/><Relationship Id="rId30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14.xml"/><Relationship Id="rId18" Type="http://schemas.openxmlformats.org/officeDocument/2006/relationships/image" Target="../media/image28.png"/><Relationship Id="rId26" Type="http://schemas.openxmlformats.org/officeDocument/2006/relationships/image" Target="../media/image23.png"/><Relationship Id="rId3" Type="http://schemas.openxmlformats.org/officeDocument/2006/relationships/image" Target="../media/image14.png"/><Relationship Id="rId21" Type="http://schemas.openxmlformats.org/officeDocument/2006/relationships/slide" Target="slide31.xml"/><Relationship Id="rId7" Type="http://schemas.openxmlformats.org/officeDocument/2006/relationships/image" Target="../media/image18.png"/><Relationship Id="rId12" Type="http://schemas.openxmlformats.org/officeDocument/2006/relationships/image" Target="../media/image47.png"/><Relationship Id="rId17" Type="http://schemas.openxmlformats.org/officeDocument/2006/relationships/slide" Target="slide26.xml"/><Relationship Id="rId25" Type="http://schemas.openxmlformats.org/officeDocument/2006/relationships/slide" Target="slide5.xml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6.png"/><Relationship Id="rId24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slide" Target="slide22.xml"/><Relationship Id="rId23" Type="http://schemas.openxmlformats.org/officeDocument/2006/relationships/slide" Target="slide3.xml"/><Relationship Id="rId28" Type="http://schemas.openxmlformats.org/officeDocument/2006/relationships/image" Target="../media/image24.png"/><Relationship Id="rId10" Type="http://schemas.openxmlformats.org/officeDocument/2006/relationships/image" Target="../media/image21.png"/><Relationship Id="rId19" Type="http://schemas.openxmlformats.org/officeDocument/2006/relationships/slide" Target="slide29.xml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0.png"/><Relationship Id="rId27" Type="http://schemas.openxmlformats.org/officeDocument/2006/relationships/slide" Target="slide1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7.png"/><Relationship Id="rId18" Type="http://schemas.openxmlformats.org/officeDocument/2006/relationships/slide" Target="slide5.xml"/><Relationship Id="rId26" Type="http://schemas.openxmlformats.org/officeDocument/2006/relationships/slide" Target="slide31.xml"/><Relationship Id="rId3" Type="http://schemas.openxmlformats.org/officeDocument/2006/relationships/image" Target="../media/image14.png"/><Relationship Id="rId21" Type="http://schemas.openxmlformats.org/officeDocument/2006/relationships/image" Target="../media/image24.png"/><Relationship Id="rId7" Type="http://schemas.openxmlformats.org/officeDocument/2006/relationships/image" Target="../media/image18.png"/><Relationship Id="rId12" Type="http://schemas.openxmlformats.org/officeDocument/2006/relationships/image" Target="../media/image26.png"/><Relationship Id="rId17" Type="http://schemas.openxmlformats.org/officeDocument/2006/relationships/image" Target="../media/image22.png"/><Relationship Id="rId25" Type="http://schemas.openxmlformats.org/officeDocument/2006/relationships/image" Target="../media/image29.png"/><Relationship Id="rId2" Type="http://schemas.openxmlformats.org/officeDocument/2006/relationships/image" Target="../media/image13.png"/><Relationship Id="rId16" Type="http://schemas.openxmlformats.org/officeDocument/2006/relationships/slide" Target="slide3.xml"/><Relationship Id="rId20" Type="http://schemas.openxmlformats.org/officeDocument/2006/relationships/slide" Target="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slide" Target="slide17.xml"/><Relationship Id="rId24" Type="http://schemas.openxmlformats.org/officeDocument/2006/relationships/slide" Target="slide29.xml"/><Relationship Id="rId5" Type="http://schemas.openxmlformats.org/officeDocument/2006/relationships/image" Target="../media/image16.png"/><Relationship Id="rId15" Type="http://schemas.openxmlformats.org/officeDocument/2006/relationships/image" Target="../media/image25.png"/><Relationship Id="rId23" Type="http://schemas.openxmlformats.org/officeDocument/2006/relationships/image" Target="../media/image28.png"/><Relationship Id="rId28" Type="http://schemas.openxmlformats.org/officeDocument/2006/relationships/image" Target="../media/image2.png"/><Relationship Id="rId10" Type="http://schemas.openxmlformats.org/officeDocument/2006/relationships/image" Target="../media/image21.png"/><Relationship Id="rId19" Type="http://schemas.openxmlformats.org/officeDocument/2006/relationships/image" Target="../media/image23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slide" Target="slide14.xml"/><Relationship Id="rId22" Type="http://schemas.openxmlformats.org/officeDocument/2006/relationships/slide" Target="slide26.xml"/><Relationship Id="rId27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6.png"/><Relationship Id="rId18" Type="http://schemas.openxmlformats.org/officeDocument/2006/relationships/slide" Target="slide5.xml"/><Relationship Id="rId26" Type="http://schemas.openxmlformats.org/officeDocument/2006/relationships/slide" Target="slide31.xml"/><Relationship Id="rId3" Type="http://schemas.openxmlformats.org/officeDocument/2006/relationships/image" Target="../media/image14.png"/><Relationship Id="rId21" Type="http://schemas.openxmlformats.org/officeDocument/2006/relationships/image" Target="../media/image24.png"/><Relationship Id="rId7" Type="http://schemas.openxmlformats.org/officeDocument/2006/relationships/image" Target="../media/image18.png"/><Relationship Id="rId12" Type="http://schemas.openxmlformats.org/officeDocument/2006/relationships/slide" Target="slide17.xml"/><Relationship Id="rId17" Type="http://schemas.openxmlformats.org/officeDocument/2006/relationships/image" Target="../media/image22.png"/><Relationship Id="rId25" Type="http://schemas.openxmlformats.org/officeDocument/2006/relationships/image" Target="../media/image29.png"/><Relationship Id="rId2" Type="http://schemas.openxmlformats.org/officeDocument/2006/relationships/image" Target="../media/image13.png"/><Relationship Id="rId16" Type="http://schemas.openxmlformats.org/officeDocument/2006/relationships/slide" Target="slide3.xml"/><Relationship Id="rId20" Type="http://schemas.openxmlformats.org/officeDocument/2006/relationships/slide" Target="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7.png"/><Relationship Id="rId24" Type="http://schemas.openxmlformats.org/officeDocument/2006/relationships/slide" Target="slide29.xml"/><Relationship Id="rId5" Type="http://schemas.openxmlformats.org/officeDocument/2006/relationships/image" Target="../media/image16.png"/><Relationship Id="rId15" Type="http://schemas.openxmlformats.org/officeDocument/2006/relationships/image" Target="../media/image25.png"/><Relationship Id="rId23" Type="http://schemas.openxmlformats.org/officeDocument/2006/relationships/image" Target="../media/image28.png"/><Relationship Id="rId28" Type="http://schemas.openxmlformats.org/officeDocument/2006/relationships/image" Target="../media/image48.png"/><Relationship Id="rId10" Type="http://schemas.openxmlformats.org/officeDocument/2006/relationships/image" Target="../media/image21.png"/><Relationship Id="rId19" Type="http://schemas.openxmlformats.org/officeDocument/2006/relationships/image" Target="../media/image23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slide" Target="slide14.xml"/><Relationship Id="rId22" Type="http://schemas.openxmlformats.org/officeDocument/2006/relationships/slide" Target="slide26.xml"/><Relationship Id="rId27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17.xml"/><Relationship Id="rId18" Type="http://schemas.openxmlformats.org/officeDocument/2006/relationships/image" Target="../media/image22.png"/><Relationship Id="rId26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slide" Target="slide11.xml"/><Relationship Id="rId7" Type="http://schemas.openxmlformats.org/officeDocument/2006/relationships/image" Target="../media/image18.png"/><Relationship Id="rId12" Type="http://schemas.openxmlformats.org/officeDocument/2006/relationships/image" Target="../media/image48.png"/><Relationship Id="rId17" Type="http://schemas.openxmlformats.org/officeDocument/2006/relationships/slide" Target="slide3.xml"/><Relationship Id="rId25" Type="http://schemas.openxmlformats.org/officeDocument/2006/relationships/slide" Target="slide29.xml"/><Relationship Id="rId2" Type="http://schemas.openxmlformats.org/officeDocument/2006/relationships/image" Target="../media/image13.png"/><Relationship Id="rId16" Type="http://schemas.openxmlformats.org/officeDocument/2006/relationships/image" Target="../media/image25.png"/><Relationship Id="rId20" Type="http://schemas.openxmlformats.org/officeDocument/2006/relationships/image" Target="../media/image23.pn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7.png"/><Relationship Id="rId24" Type="http://schemas.openxmlformats.org/officeDocument/2006/relationships/image" Target="../media/image28.png"/><Relationship Id="rId5" Type="http://schemas.openxmlformats.org/officeDocument/2006/relationships/image" Target="../media/image16.png"/><Relationship Id="rId15" Type="http://schemas.openxmlformats.org/officeDocument/2006/relationships/slide" Target="slide14.xml"/><Relationship Id="rId23" Type="http://schemas.openxmlformats.org/officeDocument/2006/relationships/slide" Target="slide26.xml"/><Relationship Id="rId28" Type="http://schemas.openxmlformats.org/officeDocument/2006/relationships/image" Target="../media/image30.png"/><Relationship Id="rId10" Type="http://schemas.openxmlformats.org/officeDocument/2006/relationships/image" Target="../media/image21.png"/><Relationship Id="rId19" Type="http://schemas.openxmlformats.org/officeDocument/2006/relationships/slide" Target="slide5.xml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6.png"/><Relationship Id="rId22" Type="http://schemas.openxmlformats.org/officeDocument/2006/relationships/image" Target="../media/image24.png"/><Relationship Id="rId27" Type="http://schemas.openxmlformats.org/officeDocument/2006/relationships/slide" Target="slide3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17.xml"/><Relationship Id="rId18" Type="http://schemas.openxmlformats.org/officeDocument/2006/relationships/image" Target="../media/image22.png"/><Relationship Id="rId26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slide" Target="slide11.xml"/><Relationship Id="rId7" Type="http://schemas.openxmlformats.org/officeDocument/2006/relationships/image" Target="../media/image18.png"/><Relationship Id="rId12" Type="http://schemas.openxmlformats.org/officeDocument/2006/relationships/image" Target="../media/image49.png"/><Relationship Id="rId17" Type="http://schemas.openxmlformats.org/officeDocument/2006/relationships/slide" Target="slide3.xml"/><Relationship Id="rId25" Type="http://schemas.openxmlformats.org/officeDocument/2006/relationships/slide" Target="slide29.xml"/><Relationship Id="rId2" Type="http://schemas.openxmlformats.org/officeDocument/2006/relationships/image" Target="../media/image13.png"/><Relationship Id="rId16" Type="http://schemas.openxmlformats.org/officeDocument/2006/relationships/image" Target="../media/image25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7.png"/><Relationship Id="rId24" Type="http://schemas.openxmlformats.org/officeDocument/2006/relationships/image" Target="../media/image28.png"/><Relationship Id="rId5" Type="http://schemas.openxmlformats.org/officeDocument/2006/relationships/image" Target="../media/image16.png"/><Relationship Id="rId15" Type="http://schemas.openxmlformats.org/officeDocument/2006/relationships/slide" Target="slide14.xml"/><Relationship Id="rId23" Type="http://schemas.openxmlformats.org/officeDocument/2006/relationships/slide" Target="slide26.xml"/><Relationship Id="rId28" Type="http://schemas.openxmlformats.org/officeDocument/2006/relationships/image" Target="../media/image30.png"/><Relationship Id="rId10" Type="http://schemas.openxmlformats.org/officeDocument/2006/relationships/image" Target="../media/image21.png"/><Relationship Id="rId19" Type="http://schemas.openxmlformats.org/officeDocument/2006/relationships/slide" Target="slide5.xml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6.png"/><Relationship Id="rId22" Type="http://schemas.openxmlformats.org/officeDocument/2006/relationships/image" Target="../media/image24.png"/><Relationship Id="rId27" Type="http://schemas.openxmlformats.org/officeDocument/2006/relationships/slide" Target="slide3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7.png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" Type="http://schemas.openxmlformats.org/officeDocument/2006/relationships/image" Target="../media/image13.png"/><Relationship Id="rId21" Type="http://schemas.openxmlformats.org/officeDocument/2006/relationships/slide" Target="slide5.xml"/><Relationship Id="rId7" Type="http://schemas.openxmlformats.org/officeDocument/2006/relationships/image" Target="../media/image17.png"/><Relationship Id="rId12" Type="http://schemas.openxmlformats.org/officeDocument/2006/relationships/slide" Target="slide22.xml"/><Relationship Id="rId17" Type="http://schemas.openxmlformats.org/officeDocument/2006/relationships/slide" Target="slide14.xml"/><Relationship Id="rId25" Type="http://schemas.openxmlformats.org/officeDocument/2006/relationships/slide" Target="slide29.xml"/><Relationship Id="rId2" Type="http://schemas.openxmlformats.org/officeDocument/2006/relationships/image" Target="../media/image2.png"/><Relationship Id="rId16" Type="http://schemas.openxmlformats.org/officeDocument/2006/relationships/image" Target="../media/image26.png"/><Relationship Id="rId20" Type="http://schemas.openxmlformats.org/officeDocument/2006/relationships/image" Target="../media/image22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24.png"/><Relationship Id="rId5" Type="http://schemas.openxmlformats.org/officeDocument/2006/relationships/image" Target="../media/image15.png"/><Relationship Id="rId15" Type="http://schemas.openxmlformats.org/officeDocument/2006/relationships/slide" Target="slide17.xml"/><Relationship Id="rId23" Type="http://schemas.openxmlformats.org/officeDocument/2006/relationships/slide" Target="slide11.xml"/><Relationship Id="rId28" Type="http://schemas.openxmlformats.org/officeDocument/2006/relationships/image" Target="../media/image30.png"/><Relationship Id="rId10" Type="http://schemas.openxmlformats.org/officeDocument/2006/relationships/image" Target="../media/image20.png"/><Relationship Id="rId19" Type="http://schemas.openxmlformats.org/officeDocument/2006/relationships/slide" Target="slide3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8.png"/><Relationship Id="rId22" Type="http://schemas.openxmlformats.org/officeDocument/2006/relationships/image" Target="../media/image23.png"/><Relationship Id="rId27" Type="http://schemas.openxmlformats.org/officeDocument/2006/relationships/slide" Target="slide3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slide" Target="slide22.xml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" Type="http://schemas.openxmlformats.org/officeDocument/2006/relationships/image" Target="../media/image14.png"/><Relationship Id="rId21" Type="http://schemas.openxmlformats.org/officeDocument/2006/relationships/slide" Target="slide5.xml"/><Relationship Id="rId7" Type="http://schemas.openxmlformats.org/officeDocument/2006/relationships/image" Target="../media/image18.png"/><Relationship Id="rId12" Type="http://schemas.openxmlformats.org/officeDocument/2006/relationships/image" Target="../media/image50.png"/><Relationship Id="rId17" Type="http://schemas.openxmlformats.org/officeDocument/2006/relationships/slide" Target="slide14.xml"/><Relationship Id="rId25" Type="http://schemas.openxmlformats.org/officeDocument/2006/relationships/slide" Target="slide29.xml"/><Relationship Id="rId2" Type="http://schemas.openxmlformats.org/officeDocument/2006/relationships/image" Target="../media/image13.png"/><Relationship Id="rId16" Type="http://schemas.openxmlformats.org/officeDocument/2006/relationships/image" Target="../media/image26.png"/><Relationship Id="rId20" Type="http://schemas.openxmlformats.org/officeDocument/2006/relationships/image" Target="../media/image22.pn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8.png"/><Relationship Id="rId24" Type="http://schemas.openxmlformats.org/officeDocument/2006/relationships/image" Target="../media/image24.png"/><Relationship Id="rId5" Type="http://schemas.openxmlformats.org/officeDocument/2006/relationships/image" Target="../media/image16.png"/><Relationship Id="rId15" Type="http://schemas.openxmlformats.org/officeDocument/2006/relationships/slide" Target="slide17.xml"/><Relationship Id="rId23" Type="http://schemas.openxmlformats.org/officeDocument/2006/relationships/slide" Target="slide11.xml"/><Relationship Id="rId28" Type="http://schemas.openxmlformats.org/officeDocument/2006/relationships/image" Target="../media/image30.png"/><Relationship Id="rId10" Type="http://schemas.openxmlformats.org/officeDocument/2006/relationships/image" Target="../media/image21.png"/><Relationship Id="rId19" Type="http://schemas.openxmlformats.org/officeDocument/2006/relationships/slide" Target="slide3.xml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7.png"/><Relationship Id="rId22" Type="http://schemas.openxmlformats.org/officeDocument/2006/relationships/image" Target="../media/image23.png"/><Relationship Id="rId27" Type="http://schemas.openxmlformats.org/officeDocument/2006/relationships/slide" Target="slide31.xml"/><Relationship Id="rId30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52.png"/><Relationship Id="rId18" Type="http://schemas.openxmlformats.org/officeDocument/2006/relationships/slide" Target="slide14.xml"/><Relationship Id="rId26" Type="http://schemas.openxmlformats.org/officeDocument/2006/relationships/slide" Target="slide29.xml"/><Relationship Id="rId3" Type="http://schemas.openxmlformats.org/officeDocument/2006/relationships/image" Target="../media/image14.png"/><Relationship Id="rId21" Type="http://schemas.openxmlformats.org/officeDocument/2006/relationships/image" Target="../media/image22.png"/><Relationship Id="rId7" Type="http://schemas.openxmlformats.org/officeDocument/2006/relationships/image" Target="../media/image18.png"/><Relationship Id="rId12" Type="http://schemas.openxmlformats.org/officeDocument/2006/relationships/image" Target="../media/image51.png"/><Relationship Id="rId17" Type="http://schemas.openxmlformats.org/officeDocument/2006/relationships/image" Target="../media/image26.png"/><Relationship Id="rId25" Type="http://schemas.openxmlformats.org/officeDocument/2006/relationships/image" Target="../media/image24.png"/><Relationship Id="rId2" Type="http://schemas.openxmlformats.org/officeDocument/2006/relationships/image" Target="../media/image13.png"/><Relationship Id="rId16" Type="http://schemas.openxmlformats.org/officeDocument/2006/relationships/slide" Target="slide17.xml"/><Relationship Id="rId20" Type="http://schemas.openxmlformats.org/officeDocument/2006/relationships/slide" Target="slide3.xml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8.png"/><Relationship Id="rId24" Type="http://schemas.openxmlformats.org/officeDocument/2006/relationships/slide" Target="slide11.xml"/><Relationship Id="rId5" Type="http://schemas.openxmlformats.org/officeDocument/2006/relationships/image" Target="../media/image16.png"/><Relationship Id="rId15" Type="http://schemas.openxmlformats.org/officeDocument/2006/relationships/image" Target="../media/image27.png"/><Relationship Id="rId23" Type="http://schemas.openxmlformats.org/officeDocument/2006/relationships/image" Target="../media/image23.png"/><Relationship Id="rId28" Type="http://schemas.openxmlformats.org/officeDocument/2006/relationships/slide" Target="slide31.xml"/><Relationship Id="rId10" Type="http://schemas.openxmlformats.org/officeDocument/2006/relationships/image" Target="../media/image21.png"/><Relationship Id="rId19" Type="http://schemas.openxmlformats.org/officeDocument/2006/relationships/image" Target="../media/image25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slide" Target="slide22.xml"/><Relationship Id="rId22" Type="http://schemas.openxmlformats.org/officeDocument/2006/relationships/slide" Target="slide5.xml"/><Relationship Id="rId27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8.png"/><Relationship Id="rId18" Type="http://schemas.openxmlformats.org/officeDocument/2006/relationships/image" Target="../media/image26.png"/><Relationship Id="rId26" Type="http://schemas.openxmlformats.org/officeDocument/2006/relationships/image" Target="../media/image24.png"/><Relationship Id="rId3" Type="http://schemas.openxmlformats.org/officeDocument/2006/relationships/image" Target="../media/image13.png"/><Relationship Id="rId21" Type="http://schemas.openxmlformats.org/officeDocument/2006/relationships/slide" Target="slide3.xml"/><Relationship Id="rId7" Type="http://schemas.openxmlformats.org/officeDocument/2006/relationships/image" Target="../media/image17.png"/><Relationship Id="rId12" Type="http://schemas.openxmlformats.org/officeDocument/2006/relationships/slide" Target="slide26.xml"/><Relationship Id="rId17" Type="http://schemas.openxmlformats.org/officeDocument/2006/relationships/slide" Target="slide17.xml"/><Relationship Id="rId25" Type="http://schemas.openxmlformats.org/officeDocument/2006/relationships/slide" Target="slide11.xml"/><Relationship Id="rId2" Type="http://schemas.openxmlformats.org/officeDocument/2006/relationships/image" Target="../media/image2.png"/><Relationship Id="rId16" Type="http://schemas.openxmlformats.org/officeDocument/2006/relationships/image" Target="../media/image27.png"/><Relationship Id="rId20" Type="http://schemas.openxmlformats.org/officeDocument/2006/relationships/image" Target="../media/image25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23.png"/><Relationship Id="rId5" Type="http://schemas.openxmlformats.org/officeDocument/2006/relationships/image" Target="../media/image15.png"/><Relationship Id="rId15" Type="http://schemas.openxmlformats.org/officeDocument/2006/relationships/slide" Target="slide22.xml"/><Relationship Id="rId23" Type="http://schemas.openxmlformats.org/officeDocument/2006/relationships/slide" Target="slide5.xml"/><Relationship Id="rId28" Type="http://schemas.openxmlformats.org/officeDocument/2006/relationships/image" Target="../media/image30.png"/><Relationship Id="rId10" Type="http://schemas.openxmlformats.org/officeDocument/2006/relationships/image" Target="../media/image20.png"/><Relationship Id="rId19" Type="http://schemas.openxmlformats.org/officeDocument/2006/relationships/slide" Target="slide14.xml"/><Relationship Id="rId31" Type="http://schemas.openxmlformats.org/officeDocument/2006/relationships/image" Target="../media/image5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9.png"/><Relationship Id="rId22" Type="http://schemas.openxmlformats.org/officeDocument/2006/relationships/image" Target="../media/image22.png"/><Relationship Id="rId27" Type="http://schemas.openxmlformats.org/officeDocument/2006/relationships/slide" Target="slide31.xml"/><Relationship Id="rId30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8.png"/><Relationship Id="rId18" Type="http://schemas.openxmlformats.org/officeDocument/2006/relationships/slide" Target="slide14.xml"/><Relationship Id="rId26" Type="http://schemas.openxmlformats.org/officeDocument/2006/relationships/slide" Target="slide31.xml"/><Relationship Id="rId3" Type="http://schemas.openxmlformats.org/officeDocument/2006/relationships/image" Target="../media/image14.png"/><Relationship Id="rId21" Type="http://schemas.openxmlformats.org/officeDocument/2006/relationships/image" Target="../media/image22.png"/><Relationship Id="rId7" Type="http://schemas.openxmlformats.org/officeDocument/2006/relationships/image" Target="../media/image18.png"/><Relationship Id="rId12" Type="http://schemas.openxmlformats.org/officeDocument/2006/relationships/slide" Target="slide26.xml"/><Relationship Id="rId17" Type="http://schemas.openxmlformats.org/officeDocument/2006/relationships/image" Target="../media/image26.png"/><Relationship Id="rId25" Type="http://schemas.openxmlformats.org/officeDocument/2006/relationships/image" Target="../media/image24.png"/><Relationship Id="rId2" Type="http://schemas.openxmlformats.org/officeDocument/2006/relationships/image" Target="../media/image13.png"/><Relationship Id="rId16" Type="http://schemas.openxmlformats.org/officeDocument/2006/relationships/slide" Target="slide17.xml"/><Relationship Id="rId20" Type="http://schemas.openxmlformats.org/officeDocument/2006/relationships/slide" Target="slide3.xml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9.png"/><Relationship Id="rId24" Type="http://schemas.openxmlformats.org/officeDocument/2006/relationships/slide" Target="slide11.xml"/><Relationship Id="rId5" Type="http://schemas.openxmlformats.org/officeDocument/2006/relationships/image" Target="../media/image16.png"/><Relationship Id="rId15" Type="http://schemas.openxmlformats.org/officeDocument/2006/relationships/image" Target="../media/image27.png"/><Relationship Id="rId23" Type="http://schemas.openxmlformats.org/officeDocument/2006/relationships/image" Target="../media/image23.png"/><Relationship Id="rId28" Type="http://schemas.openxmlformats.org/officeDocument/2006/relationships/image" Target="../media/image39.png"/><Relationship Id="rId10" Type="http://schemas.openxmlformats.org/officeDocument/2006/relationships/image" Target="../media/image21.png"/><Relationship Id="rId19" Type="http://schemas.openxmlformats.org/officeDocument/2006/relationships/image" Target="../media/image25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slide" Target="slide22.xml"/><Relationship Id="rId22" Type="http://schemas.openxmlformats.org/officeDocument/2006/relationships/slide" Target="slide5.xml"/><Relationship Id="rId27" Type="http://schemas.openxmlformats.org/officeDocument/2006/relationships/image" Target="../media/image30.png"/><Relationship Id="rId30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8.png"/><Relationship Id="rId18" Type="http://schemas.openxmlformats.org/officeDocument/2006/relationships/slide" Target="slide14.xml"/><Relationship Id="rId26" Type="http://schemas.openxmlformats.org/officeDocument/2006/relationships/slide" Target="slide29.xml"/><Relationship Id="rId39" Type="http://schemas.openxmlformats.org/officeDocument/2006/relationships/image" Target="../media/image58.png"/><Relationship Id="rId3" Type="http://schemas.openxmlformats.org/officeDocument/2006/relationships/image" Target="../media/image13.png"/><Relationship Id="rId21" Type="http://schemas.openxmlformats.org/officeDocument/2006/relationships/image" Target="../media/image22.png"/><Relationship Id="rId34" Type="http://schemas.openxmlformats.org/officeDocument/2006/relationships/hyperlink" Target="https://www.r-project.org/" TargetMode="External"/><Relationship Id="rId7" Type="http://schemas.openxmlformats.org/officeDocument/2006/relationships/image" Target="../media/image17.png"/><Relationship Id="rId12" Type="http://schemas.openxmlformats.org/officeDocument/2006/relationships/slide" Target="slide26.xml"/><Relationship Id="rId17" Type="http://schemas.openxmlformats.org/officeDocument/2006/relationships/image" Target="../media/image26.png"/><Relationship Id="rId25" Type="http://schemas.openxmlformats.org/officeDocument/2006/relationships/image" Target="../media/image24.png"/><Relationship Id="rId33" Type="http://schemas.openxmlformats.org/officeDocument/2006/relationships/hyperlink" Target="https://www.kaggle.com/datasets/ryanluong1/valorant-champion-tour-2021-2023-data" TargetMode="External"/><Relationship Id="rId38" Type="http://schemas.openxmlformats.org/officeDocument/2006/relationships/hyperlink" Target="https://doi.org/bjw536" TargetMode="External"/><Relationship Id="rId2" Type="http://schemas.openxmlformats.org/officeDocument/2006/relationships/image" Target="../media/image20.png"/><Relationship Id="rId16" Type="http://schemas.openxmlformats.org/officeDocument/2006/relationships/slide" Target="slide17.xml"/><Relationship Id="rId20" Type="http://schemas.openxmlformats.org/officeDocument/2006/relationships/slide" Target="slide3.xml"/><Relationship Id="rId29" Type="http://schemas.openxmlformats.org/officeDocument/2006/relationships/hyperlink" Target="https://doi.org/10.32614/CRAN.package.boot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0.png"/><Relationship Id="rId24" Type="http://schemas.openxmlformats.org/officeDocument/2006/relationships/slide" Target="slide11.xml"/><Relationship Id="rId32" Type="http://schemas.openxmlformats.org/officeDocument/2006/relationships/hyperlink" Target="https://doi.org/10.18637/jss.v028.i05" TargetMode="External"/><Relationship Id="rId37" Type="http://schemas.openxmlformats.org/officeDocument/2006/relationships/hyperlink" Target="https://doi.org/10.21105/joss.01686" TargetMode="External"/><Relationship Id="rId5" Type="http://schemas.openxmlformats.org/officeDocument/2006/relationships/image" Target="../media/image15.png"/><Relationship Id="rId15" Type="http://schemas.openxmlformats.org/officeDocument/2006/relationships/image" Target="../media/image27.png"/><Relationship Id="rId23" Type="http://schemas.openxmlformats.org/officeDocument/2006/relationships/image" Target="../media/image23.png"/><Relationship Id="rId28" Type="http://schemas.openxmlformats.org/officeDocument/2006/relationships/image" Target="../media/image2.png"/><Relationship Id="rId36" Type="http://schemas.openxmlformats.org/officeDocument/2006/relationships/hyperlink" Target="https://doi.org/10.32614/CRAN.package.broom" TargetMode="External"/><Relationship Id="rId10" Type="http://schemas.openxmlformats.org/officeDocument/2006/relationships/image" Target="../media/image21.png"/><Relationship Id="rId19" Type="http://schemas.openxmlformats.org/officeDocument/2006/relationships/image" Target="../media/image25.png"/><Relationship Id="rId31" Type="http://schemas.openxmlformats.org/officeDocument/2006/relationships/hyperlink" Target="https://doi.org/10.18637/jss.v033.i01" TargetMode="External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slide" Target="slide22.xml"/><Relationship Id="rId22" Type="http://schemas.openxmlformats.org/officeDocument/2006/relationships/slide" Target="slide5.xml"/><Relationship Id="rId27" Type="http://schemas.openxmlformats.org/officeDocument/2006/relationships/image" Target="../media/image29.png"/><Relationship Id="rId30" Type="http://schemas.openxmlformats.org/officeDocument/2006/relationships/hyperlink" Target="https://www.john-fox.ca/Companion/" TargetMode="External"/><Relationship Id="rId35" Type="http://schemas.openxmlformats.org/officeDocument/2006/relationships/hyperlink" Target="https://doi.org/10.1186/1471-2105-12-77" TargetMode="Externa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hyperlink" Target="https://www.john-fox.ca/Companion/" TargetMode="External"/><Relationship Id="rId18" Type="http://schemas.openxmlformats.org/officeDocument/2006/relationships/hyperlink" Target="https://doi.org/10.1186/1471-2105-12-77" TargetMode="External"/><Relationship Id="rId26" Type="http://schemas.openxmlformats.org/officeDocument/2006/relationships/slide" Target="slide22.xml"/><Relationship Id="rId3" Type="http://schemas.openxmlformats.org/officeDocument/2006/relationships/image" Target="../media/image13.png"/><Relationship Id="rId21" Type="http://schemas.openxmlformats.org/officeDocument/2006/relationships/hyperlink" Target="https://doi.org/bjw536" TargetMode="External"/><Relationship Id="rId34" Type="http://schemas.openxmlformats.org/officeDocument/2006/relationships/slide" Target="slide5.xml"/><Relationship Id="rId7" Type="http://schemas.openxmlformats.org/officeDocument/2006/relationships/image" Target="../media/image17.png"/><Relationship Id="rId12" Type="http://schemas.openxmlformats.org/officeDocument/2006/relationships/hyperlink" Target="https://doi.org/10.32614/CRAN.package.boot" TargetMode="External"/><Relationship Id="rId17" Type="http://schemas.openxmlformats.org/officeDocument/2006/relationships/hyperlink" Target="https://www.r-project.org/" TargetMode="External"/><Relationship Id="rId25" Type="http://schemas.openxmlformats.org/officeDocument/2006/relationships/image" Target="../media/image28.png"/><Relationship Id="rId33" Type="http://schemas.openxmlformats.org/officeDocument/2006/relationships/image" Target="../media/image22.png"/><Relationship Id="rId38" Type="http://schemas.openxmlformats.org/officeDocument/2006/relationships/image" Target="../media/image58.png"/><Relationship Id="rId2" Type="http://schemas.openxmlformats.org/officeDocument/2006/relationships/image" Target="../media/image20.png"/><Relationship Id="rId16" Type="http://schemas.openxmlformats.org/officeDocument/2006/relationships/hyperlink" Target="https://www.kaggle.com/datasets/ryanluong1/valorant-champion-tour-2021-2023-data" TargetMode="External"/><Relationship Id="rId20" Type="http://schemas.openxmlformats.org/officeDocument/2006/relationships/hyperlink" Target="https://doi.org/10.21105/joss.01686" TargetMode="External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0.png"/><Relationship Id="rId24" Type="http://schemas.openxmlformats.org/officeDocument/2006/relationships/slide" Target="slide26.xml"/><Relationship Id="rId32" Type="http://schemas.openxmlformats.org/officeDocument/2006/relationships/slide" Target="slide3.xml"/><Relationship Id="rId37" Type="http://schemas.openxmlformats.org/officeDocument/2006/relationships/image" Target="../media/image24.png"/><Relationship Id="rId5" Type="http://schemas.openxmlformats.org/officeDocument/2006/relationships/image" Target="../media/image15.png"/><Relationship Id="rId15" Type="http://schemas.openxmlformats.org/officeDocument/2006/relationships/hyperlink" Target="https://doi.org/10.18637/jss.v028.i05" TargetMode="External"/><Relationship Id="rId23" Type="http://schemas.openxmlformats.org/officeDocument/2006/relationships/image" Target="../media/image29.png"/><Relationship Id="rId28" Type="http://schemas.openxmlformats.org/officeDocument/2006/relationships/slide" Target="slide17.xml"/><Relationship Id="rId36" Type="http://schemas.openxmlformats.org/officeDocument/2006/relationships/slide" Target="slide11.xml"/><Relationship Id="rId10" Type="http://schemas.openxmlformats.org/officeDocument/2006/relationships/image" Target="../media/image21.png"/><Relationship Id="rId19" Type="http://schemas.openxmlformats.org/officeDocument/2006/relationships/hyperlink" Target="https://doi.org/10.32614/CRAN.package.broom" TargetMode="External"/><Relationship Id="rId31" Type="http://schemas.openxmlformats.org/officeDocument/2006/relationships/image" Target="../media/image2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hyperlink" Target="https://doi.org/10.18637/jss.v033.i01" TargetMode="External"/><Relationship Id="rId22" Type="http://schemas.openxmlformats.org/officeDocument/2006/relationships/slide" Target="slide29.xml"/><Relationship Id="rId27" Type="http://schemas.openxmlformats.org/officeDocument/2006/relationships/image" Target="../media/image27.png"/><Relationship Id="rId30" Type="http://schemas.openxmlformats.org/officeDocument/2006/relationships/slide" Target="slide14.xml"/><Relationship Id="rId35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iangolo rettangolo 1">
            <a:extLst>
              <a:ext uri="{FF2B5EF4-FFF2-40B4-BE49-F238E27FC236}">
                <a16:creationId xmlns:a16="http://schemas.microsoft.com/office/drawing/2014/main" id="{AEA207C2-5669-7A24-EB85-954BC3ACFBC9}"/>
              </a:ext>
            </a:extLst>
          </p:cNvPr>
          <p:cNvSpPr>
            <a:spLocks/>
          </p:cNvSpPr>
          <p:nvPr/>
        </p:nvSpPr>
        <p:spPr>
          <a:xfrm flipH="1">
            <a:off x="4181460" y="-428626"/>
            <a:ext cx="8048625" cy="10429873"/>
          </a:xfrm>
          <a:prstGeom prst="rtTriangle">
            <a:avLst/>
          </a:prstGeom>
          <a:solidFill>
            <a:srgbClr val="FF4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Immagine 7" descr="Immagine che contiene testo, Carattere, schermata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AA9F7460-593C-C9AF-D470-E0C5D0438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" y="1567262"/>
            <a:ext cx="7720296" cy="3723473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CC7B99F8-C24D-4A29-3F0F-D6FD9F85AA76}"/>
              </a:ext>
            </a:extLst>
          </p:cNvPr>
          <p:cNvPicPr/>
          <p:nvPr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9574" y="0"/>
            <a:ext cx="9086849" cy="7063929"/>
          </a:xfrm>
          <a:prstGeom prst="rect">
            <a:avLst/>
          </a:prstGeom>
          <a:noFill/>
          <a:effectLst>
            <a:glow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magine 5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64AB1284-CF77-4EAB-9261-85C790771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7974" y="1424599"/>
            <a:ext cx="4205551" cy="400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3A88C-E57E-D233-1E60-5C626EEA2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D1205543-1F31-8A0C-DBF0-C48D7F64570E}"/>
              </a:ext>
            </a:extLst>
          </p:cNvPr>
          <p:cNvPicPr/>
          <p:nvPr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9574" y="0"/>
            <a:ext cx="9086849" cy="7063929"/>
          </a:xfrm>
          <a:prstGeom prst="rect">
            <a:avLst/>
          </a:prstGeom>
          <a:noFill/>
          <a:effectLst>
            <a:glow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C1CF5D29-AA1D-793F-A5E0-CC24871C08C2}"/>
              </a:ext>
            </a:extLst>
          </p:cNvPr>
          <p:cNvSpPr>
            <a:spLocks/>
          </p:cNvSpPr>
          <p:nvPr/>
        </p:nvSpPr>
        <p:spPr>
          <a:xfrm flipH="1">
            <a:off x="4181460" y="-428626"/>
            <a:ext cx="8048625" cy="10429873"/>
          </a:xfrm>
          <a:prstGeom prst="rtTriangle">
            <a:avLst/>
          </a:prstGeom>
          <a:solidFill>
            <a:srgbClr val="FF4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582D9BE-60A9-D803-3678-A54547ECAD06}"/>
              </a:ext>
            </a:extLst>
          </p:cNvPr>
          <p:cNvSpPr txBox="1"/>
          <p:nvPr/>
        </p:nvSpPr>
        <p:spPr>
          <a:xfrm>
            <a:off x="3945411" y="116860"/>
            <a:ext cx="4301177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6000" b="1" dirty="0">
                <a:solidFill>
                  <a:schemeClr val="bg1"/>
                </a:solidFill>
                <a:effectLst>
                  <a:glow rad="88900">
                    <a:srgbClr val="FF0000">
                      <a:alpha val="40000"/>
                    </a:srgbClr>
                  </a:glow>
                  <a:outerShdw blurRad="38100" dist="50800" sx="1000" sy="1000" algn="ctr" rotWithShape="0">
                    <a:schemeClr val="tx2"/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Sommario</a:t>
            </a:r>
          </a:p>
        </p:txBody>
      </p:sp>
      <p:pic>
        <p:nvPicPr>
          <p:cNvPr id="14" name="Immagine 13" descr="Immagine che contiene Elementi grafici, design, ingranaggio&#10;&#10;Il contenuto generato dall'IA potrebbe non essere corretto.">
            <a:hlinkClick r:id="rId3" action="ppaction://hlinksldjump"/>
            <a:extLst>
              <a:ext uri="{FF2B5EF4-FFF2-40B4-BE49-F238E27FC236}">
                <a16:creationId xmlns:a16="http://schemas.microsoft.com/office/drawing/2014/main" id="{01ADFE9F-76B0-417C-62B2-5F09F6A208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5543" y="3096680"/>
            <a:ext cx="1711416" cy="14801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Immagine 19" descr="Immagine che contiene schermata, testo, Elementi grafici, design&#10;&#10;Il contenuto generato dall'IA potrebbe non essere corretto.">
            <a:hlinkClick r:id="rId5" action="ppaction://hlinksldjump"/>
            <a:extLst>
              <a:ext uri="{FF2B5EF4-FFF2-40B4-BE49-F238E27FC236}">
                <a16:creationId xmlns:a16="http://schemas.microsoft.com/office/drawing/2014/main" id="{01F8A220-8117-33B3-2192-2D26BA9FBC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421" r="5534"/>
          <a:stretch>
            <a:fillRect/>
          </a:stretch>
        </p:blipFill>
        <p:spPr>
          <a:xfrm>
            <a:off x="3315543" y="4885676"/>
            <a:ext cx="1710437" cy="146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Immagine 21" descr="Immagine che contiene schermata, Carattere, Elementi grafici, logo&#10;&#10;Il contenuto generato dall'IA potrebbe non essere corretto.">
            <a:hlinkClick r:id="rId7" action="ppaction://hlinksldjump"/>
            <a:extLst>
              <a:ext uri="{FF2B5EF4-FFF2-40B4-BE49-F238E27FC236}">
                <a16:creationId xmlns:a16="http://schemas.microsoft.com/office/drawing/2014/main" id="{DC7D7D43-6162-0444-F3B6-5B26C742A7C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788" r="6886"/>
          <a:stretch>
            <a:fillRect/>
          </a:stretch>
        </p:blipFill>
        <p:spPr>
          <a:xfrm>
            <a:off x="5352722" y="4885676"/>
            <a:ext cx="1711416" cy="146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4" name="Immagine 23" descr="Immagine che contiene testo, schermata, Elementi grafici, Carattere&#10;&#10;Il contenuto generato dall'IA potrebbe non essere corretto.">
            <a:hlinkClick r:id="rId9" action="ppaction://hlinksldjump"/>
            <a:extLst>
              <a:ext uri="{FF2B5EF4-FFF2-40B4-BE49-F238E27FC236}">
                <a16:creationId xmlns:a16="http://schemas.microsoft.com/office/drawing/2014/main" id="{5B1E8E90-84A8-68A2-A352-14D7CF3A72B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851" r="7141"/>
          <a:stretch>
            <a:fillRect/>
          </a:stretch>
        </p:blipFill>
        <p:spPr>
          <a:xfrm>
            <a:off x="7390880" y="4885676"/>
            <a:ext cx="1711416" cy="146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Immagine 24" descr="Immagine che contiene Carattere, testo, Elementi grafici, grafica&#10;&#10;Il contenuto generato dall'IA potrebbe non essere corretto.">
            <a:hlinkClick r:id="rId11" action="ppaction://hlinksldjump"/>
            <a:extLst>
              <a:ext uri="{FF2B5EF4-FFF2-40B4-BE49-F238E27FC236}">
                <a16:creationId xmlns:a16="http://schemas.microsoft.com/office/drawing/2014/main" id="{18201211-62BC-ED7B-1472-F7B474F6B8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15543" y="1307683"/>
            <a:ext cx="1711416" cy="14801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6" name="Immagine 25" descr="Immagine che contiene testo, schermata, Carattere, logo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FC42574F-6486-F016-6E01-5F745DFE950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64999" y="1307684"/>
            <a:ext cx="1686862" cy="14801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7" name="Immagine 26" descr="Immagine che contiene schermata, Elementi grafici, Policromia, testo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201EDC50-2D96-CC98-FC94-7EDCFD69D6E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47464" y="1307684"/>
            <a:ext cx="1686862" cy="14801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8" name="Immagine 27" descr="Immagine che contiene testo, design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73D0BB56-2C29-ED0E-1841-94770319718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52722" y="3097142"/>
            <a:ext cx="1711416" cy="14801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9" name="Immagine 28" descr="Immagine che contiene test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5FBC692B-E0F2-13B3-1449-05D08165B5E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65347" y="3096679"/>
            <a:ext cx="1686862" cy="14801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61" name="Gruppo 60">
            <a:extLst>
              <a:ext uri="{FF2B5EF4-FFF2-40B4-BE49-F238E27FC236}">
                <a16:creationId xmlns:a16="http://schemas.microsoft.com/office/drawing/2014/main" id="{3FF12092-20E8-68BB-1E50-C2D2C99A3595}"/>
              </a:ext>
            </a:extLst>
          </p:cNvPr>
          <p:cNvGrpSpPr/>
          <p:nvPr/>
        </p:nvGrpSpPr>
        <p:grpSpPr>
          <a:xfrm>
            <a:off x="1039070" y="2846305"/>
            <a:ext cx="1170601" cy="1162959"/>
            <a:chOff x="1015454" y="2788540"/>
            <a:chExt cx="1170601" cy="1162959"/>
          </a:xfrm>
        </p:grpSpPr>
        <p:sp>
          <p:nvSpPr>
            <p:cNvPr id="31" name="Connettore 30">
              <a:extLst>
                <a:ext uri="{FF2B5EF4-FFF2-40B4-BE49-F238E27FC236}">
                  <a16:creationId xmlns:a16="http://schemas.microsoft.com/office/drawing/2014/main" id="{3F5313F3-8F88-5DF1-A0BC-4D18838868CC}"/>
                </a:ext>
              </a:extLst>
            </p:cNvPr>
            <p:cNvSpPr/>
            <p:nvPr/>
          </p:nvSpPr>
          <p:spPr>
            <a:xfrm>
              <a:off x="1015454" y="2788540"/>
              <a:ext cx="306924" cy="306924"/>
            </a:xfrm>
            <a:prstGeom prst="flowChartConnector">
              <a:avLst/>
            </a:prstGeom>
            <a:solidFill>
              <a:srgbClr val="FF4655"/>
            </a:solidFill>
            <a:ln>
              <a:solidFill>
                <a:srgbClr val="C13A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2" name="Connettore 31">
              <a:extLst>
                <a:ext uri="{FF2B5EF4-FFF2-40B4-BE49-F238E27FC236}">
                  <a16:creationId xmlns:a16="http://schemas.microsoft.com/office/drawing/2014/main" id="{A6CDD09D-4464-1305-ED6D-32BC0FEBBC95}"/>
                </a:ext>
              </a:extLst>
            </p:cNvPr>
            <p:cNvSpPr/>
            <p:nvPr/>
          </p:nvSpPr>
          <p:spPr>
            <a:xfrm>
              <a:off x="1447293" y="2789755"/>
              <a:ext cx="306924" cy="306924"/>
            </a:xfrm>
            <a:prstGeom prst="flowChartConnector">
              <a:avLst/>
            </a:prstGeom>
            <a:solidFill>
              <a:srgbClr val="FF4655"/>
            </a:solidFill>
            <a:ln>
              <a:solidFill>
                <a:srgbClr val="C13A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3" name="Connettore 32">
              <a:extLst>
                <a:ext uri="{FF2B5EF4-FFF2-40B4-BE49-F238E27FC236}">
                  <a16:creationId xmlns:a16="http://schemas.microsoft.com/office/drawing/2014/main" id="{69555429-D48B-E33F-0C9F-939EEBCC0058}"/>
                </a:ext>
              </a:extLst>
            </p:cNvPr>
            <p:cNvSpPr/>
            <p:nvPr/>
          </p:nvSpPr>
          <p:spPr>
            <a:xfrm>
              <a:off x="1879131" y="2788540"/>
              <a:ext cx="306924" cy="306924"/>
            </a:xfrm>
            <a:prstGeom prst="flowChartConnector">
              <a:avLst/>
            </a:prstGeom>
            <a:solidFill>
              <a:srgbClr val="FF4655"/>
            </a:solidFill>
            <a:ln>
              <a:solidFill>
                <a:srgbClr val="C13A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4" name="Connettore 33">
              <a:extLst>
                <a:ext uri="{FF2B5EF4-FFF2-40B4-BE49-F238E27FC236}">
                  <a16:creationId xmlns:a16="http://schemas.microsoft.com/office/drawing/2014/main" id="{9353DD6D-B361-F384-E43D-87C5369DB4FA}"/>
                </a:ext>
              </a:extLst>
            </p:cNvPr>
            <p:cNvSpPr/>
            <p:nvPr/>
          </p:nvSpPr>
          <p:spPr>
            <a:xfrm>
              <a:off x="1015454" y="3215342"/>
              <a:ext cx="306924" cy="306924"/>
            </a:xfrm>
            <a:prstGeom prst="flowChartConnector">
              <a:avLst/>
            </a:prstGeom>
            <a:solidFill>
              <a:srgbClr val="FF4655"/>
            </a:solidFill>
            <a:ln>
              <a:solidFill>
                <a:srgbClr val="C13A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5" name="Connettore 34">
              <a:extLst>
                <a:ext uri="{FF2B5EF4-FFF2-40B4-BE49-F238E27FC236}">
                  <a16:creationId xmlns:a16="http://schemas.microsoft.com/office/drawing/2014/main" id="{642F6778-2641-7FFE-AD9F-E8EFD8CCC7F8}"/>
                </a:ext>
              </a:extLst>
            </p:cNvPr>
            <p:cNvSpPr/>
            <p:nvPr/>
          </p:nvSpPr>
          <p:spPr>
            <a:xfrm>
              <a:off x="1447293" y="3216557"/>
              <a:ext cx="306924" cy="306924"/>
            </a:xfrm>
            <a:prstGeom prst="flowChartConnector">
              <a:avLst/>
            </a:prstGeom>
            <a:solidFill>
              <a:srgbClr val="FF4655"/>
            </a:solidFill>
            <a:ln>
              <a:solidFill>
                <a:srgbClr val="C13A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6" name="Connettore 35">
              <a:extLst>
                <a:ext uri="{FF2B5EF4-FFF2-40B4-BE49-F238E27FC236}">
                  <a16:creationId xmlns:a16="http://schemas.microsoft.com/office/drawing/2014/main" id="{57E4F7F9-55B9-BD55-974C-AC6F6851D121}"/>
                </a:ext>
              </a:extLst>
            </p:cNvPr>
            <p:cNvSpPr/>
            <p:nvPr/>
          </p:nvSpPr>
          <p:spPr>
            <a:xfrm>
              <a:off x="1879131" y="3215342"/>
              <a:ext cx="306924" cy="306924"/>
            </a:xfrm>
            <a:prstGeom prst="flowChartConnector">
              <a:avLst/>
            </a:prstGeom>
            <a:solidFill>
              <a:srgbClr val="FF4655"/>
            </a:solidFill>
            <a:ln>
              <a:solidFill>
                <a:srgbClr val="C13A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7" name="Connettore 36">
              <a:extLst>
                <a:ext uri="{FF2B5EF4-FFF2-40B4-BE49-F238E27FC236}">
                  <a16:creationId xmlns:a16="http://schemas.microsoft.com/office/drawing/2014/main" id="{C66330F7-5A6A-FC66-8796-38A7F2E43544}"/>
                </a:ext>
              </a:extLst>
            </p:cNvPr>
            <p:cNvSpPr/>
            <p:nvPr/>
          </p:nvSpPr>
          <p:spPr>
            <a:xfrm>
              <a:off x="1015454" y="3643360"/>
              <a:ext cx="306924" cy="306924"/>
            </a:xfrm>
            <a:prstGeom prst="flowChartConnector">
              <a:avLst/>
            </a:prstGeom>
            <a:solidFill>
              <a:srgbClr val="FF4655"/>
            </a:solidFill>
            <a:ln>
              <a:solidFill>
                <a:srgbClr val="C13A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8" name="Connettore 37">
              <a:extLst>
                <a:ext uri="{FF2B5EF4-FFF2-40B4-BE49-F238E27FC236}">
                  <a16:creationId xmlns:a16="http://schemas.microsoft.com/office/drawing/2014/main" id="{F6C0C3C3-289B-4384-4A9D-5C2AA7C93791}"/>
                </a:ext>
              </a:extLst>
            </p:cNvPr>
            <p:cNvSpPr/>
            <p:nvPr/>
          </p:nvSpPr>
          <p:spPr>
            <a:xfrm>
              <a:off x="1447293" y="3644575"/>
              <a:ext cx="306924" cy="306924"/>
            </a:xfrm>
            <a:prstGeom prst="flowChartConnector">
              <a:avLst/>
            </a:prstGeom>
            <a:solidFill>
              <a:srgbClr val="FF4655"/>
            </a:solidFill>
            <a:ln>
              <a:solidFill>
                <a:srgbClr val="C13A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9" name="Connettore 38">
              <a:extLst>
                <a:ext uri="{FF2B5EF4-FFF2-40B4-BE49-F238E27FC236}">
                  <a16:creationId xmlns:a16="http://schemas.microsoft.com/office/drawing/2014/main" id="{197AB05E-DB56-97E0-88A3-802D1E47BDC5}"/>
                </a:ext>
              </a:extLst>
            </p:cNvPr>
            <p:cNvSpPr/>
            <p:nvPr/>
          </p:nvSpPr>
          <p:spPr>
            <a:xfrm>
              <a:off x="1879131" y="3643360"/>
              <a:ext cx="306924" cy="306924"/>
            </a:xfrm>
            <a:prstGeom prst="flowChartConnector">
              <a:avLst/>
            </a:prstGeom>
            <a:solidFill>
              <a:srgbClr val="FF4655"/>
            </a:solidFill>
            <a:ln>
              <a:solidFill>
                <a:srgbClr val="C13A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D3B89EE2-AA12-5C0A-4A07-41DCB134BA83}"/>
              </a:ext>
            </a:extLst>
          </p:cNvPr>
          <p:cNvGrpSpPr/>
          <p:nvPr/>
        </p:nvGrpSpPr>
        <p:grpSpPr>
          <a:xfrm>
            <a:off x="10158081" y="2846305"/>
            <a:ext cx="1170601" cy="1162959"/>
            <a:chOff x="10406558" y="2786610"/>
            <a:chExt cx="1170601" cy="1162959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CD90E76D-CCAD-343E-174D-A9BD92AD70C0}"/>
                </a:ext>
              </a:extLst>
            </p:cNvPr>
            <p:cNvSpPr/>
            <p:nvPr/>
          </p:nvSpPr>
          <p:spPr>
            <a:xfrm>
              <a:off x="10406558" y="2786610"/>
              <a:ext cx="306924" cy="306924"/>
            </a:xfrm>
            <a:prstGeom prst="flowChartConnector">
              <a:avLst/>
            </a:prstGeom>
            <a:solidFill>
              <a:srgbClr val="1C252E"/>
            </a:solidFill>
            <a:ln>
              <a:solidFill>
                <a:srgbClr val="0F19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207BE333-54CB-2F9C-A4BE-391161D458AF}"/>
                </a:ext>
              </a:extLst>
            </p:cNvPr>
            <p:cNvSpPr/>
            <p:nvPr/>
          </p:nvSpPr>
          <p:spPr>
            <a:xfrm>
              <a:off x="10838397" y="2787825"/>
              <a:ext cx="306924" cy="306924"/>
            </a:xfrm>
            <a:prstGeom prst="flowChartConnector">
              <a:avLst/>
            </a:prstGeom>
            <a:solidFill>
              <a:srgbClr val="1C252E"/>
            </a:solidFill>
            <a:ln>
              <a:solidFill>
                <a:srgbClr val="0F19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3" name="Connettore 52">
              <a:extLst>
                <a:ext uri="{FF2B5EF4-FFF2-40B4-BE49-F238E27FC236}">
                  <a16:creationId xmlns:a16="http://schemas.microsoft.com/office/drawing/2014/main" id="{B8B7CA16-261B-CEE3-6DB6-4BC6D4973E4C}"/>
                </a:ext>
              </a:extLst>
            </p:cNvPr>
            <p:cNvSpPr/>
            <p:nvPr/>
          </p:nvSpPr>
          <p:spPr>
            <a:xfrm>
              <a:off x="11270235" y="2786610"/>
              <a:ext cx="306924" cy="306924"/>
            </a:xfrm>
            <a:prstGeom prst="flowChartConnector">
              <a:avLst/>
            </a:prstGeom>
            <a:solidFill>
              <a:srgbClr val="1C252E"/>
            </a:solidFill>
            <a:ln>
              <a:solidFill>
                <a:srgbClr val="0F19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7F981839-FC32-9FEA-7765-4C39BB3390C3}"/>
                </a:ext>
              </a:extLst>
            </p:cNvPr>
            <p:cNvSpPr/>
            <p:nvPr/>
          </p:nvSpPr>
          <p:spPr>
            <a:xfrm>
              <a:off x="10406558" y="3213412"/>
              <a:ext cx="306924" cy="306924"/>
            </a:xfrm>
            <a:prstGeom prst="flowChartConnector">
              <a:avLst/>
            </a:prstGeom>
            <a:solidFill>
              <a:srgbClr val="1C252E"/>
            </a:solidFill>
            <a:ln>
              <a:solidFill>
                <a:srgbClr val="0F19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FF82B43D-0941-4D2E-3B4C-03AB4F280CFD}"/>
                </a:ext>
              </a:extLst>
            </p:cNvPr>
            <p:cNvSpPr/>
            <p:nvPr/>
          </p:nvSpPr>
          <p:spPr>
            <a:xfrm>
              <a:off x="10838397" y="3214627"/>
              <a:ext cx="306924" cy="306924"/>
            </a:xfrm>
            <a:prstGeom prst="flowChartConnector">
              <a:avLst/>
            </a:prstGeom>
            <a:solidFill>
              <a:srgbClr val="1C252E"/>
            </a:solidFill>
            <a:ln>
              <a:solidFill>
                <a:srgbClr val="0F19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DE0DCEFD-BA9F-2933-5499-94FEDB517ED5}"/>
                </a:ext>
              </a:extLst>
            </p:cNvPr>
            <p:cNvSpPr/>
            <p:nvPr/>
          </p:nvSpPr>
          <p:spPr>
            <a:xfrm>
              <a:off x="11270235" y="3213412"/>
              <a:ext cx="306924" cy="306924"/>
            </a:xfrm>
            <a:prstGeom prst="flowChartConnector">
              <a:avLst/>
            </a:prstGeom>
            <a:solidFill>
              <a:srgbClr val="1C252E"/>
            </a:solidFill>
            <a:ln>
              <a:solidFill>
                <a:srgbClr val="0F19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A8EE6980-AF5F-380F-AEB3-8F923F4FA96C}"/>
                </a:ext>
              </a:extLst>
            </p:cNvPr>
            <p:cNvSpPr/>
            <p:nvPr/>
          </p:nvSpPr>
          <p:spPr>
            <a:xfrm>
              <a:off x="10406558" y="3641430"/>
              <a:ext cx="306924" cy="306924"/>
            </a:xfrm>
            <a:prstGeom prst="flowChartConnector">
              <a:avLst/>
            </a:prstGeom>
            <a:solidFill>
              <a:srgbClr val="1C252E"/>
            </a:solidFill>
            <a:ln>
              <a:solidFill>
                <a:srgbClr val="0F19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1F454A42-46FE-A803-7A87-5935DA0E68DD}"/>
                </a:ext>
              </a:extLst>
            </p:cNvPr>
            <p:cNvSpPr/>
            <p:nvPr/>
          </p:nvSpPr>
          <p:spPr>
            <a:xfrm>
              <a:off x="10838397" y="3642645"/>
              <a:ext cx="306924" cy="306924"/>
            </a:xfrm>
            <a:prstGeom prst="flowChartConnector">
              <a:avLst/>
            </a:prstGeom>
            <a:solidFill>
              <a:srgbClr val="1C252E"/>
            </a:solidFill>
            <a:ln>
              <a:solidFill>
                <a:srgbClr val="0F19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9" name="Connettore 58">
              <a:extLst>
                <a:ext uri="{FF2B5EF4-FFF2-40B4-BE49-F238E27FC236}">
                  <a16:creationId xmlns:a16="http://schemas.microsoft.com/office/drawing/2014/main" id="{990C7CAC-6E0E-738A-BA79-7E245B8FB89B}"/>
                </a:ext>
              </a:extLst>
            </p:cNvPr>
            <p:cNvSpPr/>
            <p:nvPr/>
          </p:nvSpPr>
          <p:spPr>
            <a:xfrm>
              <a:off x="11270235" y="3641430"/>
              <a:ext cx="306924" cy="306924"/>
            </a:xfrm>
            <a:prstGeom prst="flowChartConnector">
              <a:avLst/>
            </a:prstGeom>
            <a:solidFill>
              <a:srgbClr val="1C252E"/>
            </a:solidFill>
            <a:ln>
              <a:solidFill>
                <a:srgbClr val="0F19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1151164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A05B0F-9DFA-9083-16B6-DEE28D37B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BA2DC32-77B1-889A-D41A-459E7B7100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21" y="958237"/>
            <a:ext cx="7770881" cy="6105692"/>
          </a:xfrm>
          <a:prstGeom prst="rect">
            <a:avLst/>
          </a:prstGeom>
          <a:noFill/>
          <a:effectLst>
            <a:glow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8" name="Gruppo 67">
            <a:extLst>
              <a:ext uri="{FF2B5EF4-FFF2-40B4-BE49-F238E27FC236}">
                <a16:creationId xmlns:a16="http://schemas.microsoft.com/office/drawing/2014/main" id="{2F055815-6DA2-D0C4-D37C-F1FF28B12A18}"/>
              </a:ext>
            </a:extLst>
          </p:cNvPr>
          <p:cNvGrpSpPr/>
          <p:nvPr/>
        </p:nvGrpSpPr>
        <p:grpSpPr>
          <a:xfrm>
            <a:off x="658262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E321E5F0-F4EB-190B-E918-07BF0726C41C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1015777A-2ECC-C2B0-D368-FD6617FF9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DA5220FA-2DD7-B94D-CDF2-B79488543331}"/>
              </a:ext>
            </a:extLst>
          </p:cNvPr>
          <p:cNvGrpSpPr/>
          <p:nvPr/>
        </p:nvGrpSpPr>
        <p:grpSpPr>
          <a:xfrm>
            <a:off x="-666837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B53EB5DA-5073-72E1-8E15-B6295509860A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AFE143E9-0C9A-1B9A-5534-37D6DC9BA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6C6644E5-CB8D-A53D-A5D9-5904ED7813E5}"/>
              </a:ext>
            </a:extLst>
          </p:cNvPr>
          <p:cNvGrpSpPr/>
          <p:nvPr/>
        </p:nvGrpSpPr>
        <p:grpSpPr>
          <a:xfrm>
            <a:off x="-694716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F75B96C8-9470-3738-EFB5-0B5BF15415C1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1014C924-8C37-5F67-A515-87B96B16A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85F8376D-5BF4-EFF0-C5E0-A3A5E957BDB8}"/>
              </a:ext>
            </a:extLst>
          </p:cNvPr>
          <p:cNvGrpSpPr/>
          <p:nvPr/>
        </p:nvGrpSpPr>
        <p:grpSpPr>
          <a:xfrm>
            <a:off x="-676624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A3B12113-80FC-4004-2FB3-51C6E7331AE2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01E2184C-B5F0-9318-2C00-77E9B5D96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353FE377-7B55-FC19-3B5E-517BF02EFD22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50398308-12A3-DB3F-21B8-40D2285B3F6E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124A5A2E-0150-45B5-C44A-67256B58C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6B3A69BE-2188-77D4-8C29-EF96FD7845C4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F6B92D28-CB4A-6F2F-16D6-3E6AF81D9BD8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6883E298-3E6D-62BC-62C4-2F6F78C60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0DD8424F-6AF8-8EC0-06C3-60435DD95A30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3E39D624-66CE-8BCF-547F-B0FFFAC3CED8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366AAD74-A6F7-3D02-31B2-88BF6B5CB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35177829-4606-B4FF-CBDE-49DEDD919094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EE568FF2-7161-0F92-4E7E-45E2449C458D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C70F1BCE-0C46-5676-747D-F915405FD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BF33A4A7-2559-B689-E0DB-6D33AB3FD7F9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984E6869-B783-A13D-41B0-BF7BA395B6E3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678F1653-4D77-56EF-D4F3-744913A0F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E29E5327-ECB5-FDAA-0B79-2CB80CE10A05}"/>
              </a:ext>
            </a:extLst>
          </p:cNvPr>
          <p:cNvSpPr/>
          <p:nvPr/>
        </p:nvSpPr>
        <p:spPr>
          <a:xfrm rot="10800000">
            <a:off x="2838" y="-877013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sp>
        <p:nvSpPr>
          <p:cNvPr id="4" name="Triangolo rettangolo 3">
            <a:extLst>
              <a:ext uri="{FF2B5EF4-FFF2-40B4-BE49-F238E27FC236}">
                <a16:creationId xmlns:a16="http://schemas.microsoft.com/office/drawing/2014/main" id="{1C833CB8-41ED-2A70-1FB4-4598D80CFB45}"/>
              </a:ext>
            </a:extLst>
          </p:cNvPr>
          <p:cNvSpPr>
            <a:spLocks/>
          </p:cNvSpPr>
          <p:nvPr/>
        </p:nvSpPr>
        <p:spPr>
          <a:xfrm flipH="1">
            <a:off x="4829167" y="-1933575"/>
            <a:ext cx="8048625" cy="11934824"/>
          </a:xfrm>
          <a:prstGeom prst="rtTriangle">
            <a:avLst/>
          </a:prstGeom>
          <a:solidFill>
            <a:srgbClr val="FF4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Immagine 13" descr="Immagine che contiene cerchio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4CA5F62D-4AED-ED5C-3294-48BD2BE36596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18" name="Immagine 17" descr="Immagine che contiene schermata, design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68418FF0-4AD2-14E4-CF36-DD27521B9717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22" name="Immagine 21" descr="Immagine che contiene schermata, Rettangolo, design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00B27423-EDAA-D837-060A-2F59B648657D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26" name="Immagine 25" descr="Immagine che contiene ingranaggio, oggetti in metallo, cerchio, ruota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3053D160-52E7-23D5-ECBE-F3C759B2CAFF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30" name="Immagine 29" descr="Immagine che contiene bianco, Utensile da cucina, bianco e nero, monocromatic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665BB0E1-FA2B-21CB-0253-857B432BA66F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34" name="Immagine 33" descr="Immagine che contiene arte, bianco e ner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A40AF5EF-891E-57AC-27AF-65FF64B01BC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38" name="Immagine 37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383B8C87-7B70-D32E-326E-770A65051EC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42" name="Immagine 41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1BE0FAD2-4C83-8A9A-1F5F-684D4F45808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46" name="Immagine 45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B834C4AF-C7D7-DA85-E698-CBFAF22A4CF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1FFE4521-E197-8A73-B960-D3342BDF0322}"/>
              </a:ext>
            </a:extLst>
          </p:cNvPr>
          <p:cNvSpPr txBox="1"/>
          <p:nvPr/>
        </p:nvSpPr>
        <p:spPr>
          <a:xfrm>
            <a:off x="3244943" y="1905506"/>
            <a:ext cx="6631253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96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Obiettivo</a:t>
            </a:r>
          </a:p>
          <a:p>
            <a:pPr algn="ctr"/>
            <a:r>
              <a:rPr lang="it-IT" sz="96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dell’analisi</a:t>
            </a:r>
          </a:p>
        </p:txBody>
      </p:sp>
      <p:sp>
        <p:nvSpPr>
          <p:cNvPr id="48" name="Figura a mano libera: forma 47">
            <a:extLst>
              <a:ext uri="{FF2B5EF4-FFF2-40B4-BE49-F238E27FC236}">
                <a16:creationId xmlns:a16="http://schemas.microsoft.com/office/drawing/2014/main" id="{DBBF6910-498B-6A4A-8AD3-3ACE05ECA018}"/>
              </a:ext>
            </a:extLst>
          </p:cNvPr>
          <p:cNvSpPr/>
          <p:nvPr/>
        </p:nvSpPr>
        <p:spPr>
          <a:xfrm rot="10800000">
            <a:off x="-7825" y="-877013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53" name="Immagine 52" descr="Immagine che contiene schermata, design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1D9D732A-1033-8940-47EA-EB78442036F5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21" y="976611"/>
            <a:ext cx="460283" cy="424648"/>
          </a:xfrm>
          <a:prstGeom prst="rect">
            <a:avLst/>
          </a:prstGeom>
        </p:spPr>
      </p:pic>
      <p:pic>
        <p:nvPicPr>
          <p:cNvPr id="59" name="Immagine 58" descr="Immagine che contiene schermata, Rettangolo, design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1F3E0357-BF9B-E0A5-D0F2-24ED38576D3C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83" y="1726737"/>
            <a:ext cx="521042" cy="433257"/>
          </a:xfrm>
          <a:prstGeom prst="rect">
            <a:avLst/>
          </a:prstGeom>
        </p:spPr>
      </p:pic>
      <p:pic>
        <p:nvPicPr>
          <p:cNvPr id="69" name="Immagine 68" descr="Immagine che contiene ingranaggio, oggetti in metallo, cerchio, ruota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9AD5D7B6-2461-FA11-A597-1F86EC391A13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47" y="2345928"/>
            <a:ext cx="622942" cy="600826"/>
          </a:xfrm>
          <a:prstGeom prst="rect">
            <a:avLst/>
          </a:prstGeom>
        </p:spPr>
      </p:pic>
      <p:pic>
        <p:nvPicPr>
          <p:cNvPr id="70" name="Immagine 69" descr="Immagine che contiene bianco, Utensile da cucina, bianco e nero, monocromatic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FB3A7EFC-D7C0-50C4-6DFD-E4F74D81A41F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87" y="3064823"/>
            <a:ext cx="532695" cy="536003"/>
          </a:xfrm>
          <a:prstGeom prst="rect">
            <a:avLst/>
          </a:prstGeom>
        </p:spPr>
      </p:pic>
      <p:pic>
        <p:nvPicPr>
          <p:cNvPr id="71" name="Immagine 70" descr="Immagine che contiene arte, bianco e ner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0E346A1A-198D-BF83-C437-6AEBEA92940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85" y="3843199"/>
            <a:ext cx="569712" cy="505216"/>
          </a:xfrm>
          <a:prstGeom prst="rect">
            <a:avLst/>
          </a:prstGeom>
        </p:spPr>
      </p:pic>
      <p:pic>
        <p:nvPicPr>
          <p:cNvPr id="72" name="Immagine 71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18742279-0179-B88D-66F6-9D9F2349ADE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87" y="4590324"/>
            <a:ext cx="510664" cy="484251"/>
          </a:xfrm>
          <a:prstGeom prst="rect">
            <a:avLst/>
          </a:prstGeom>
        </p:spPr>
      </p:pic>
      <p:pic>
        <p:nvPicPr>
          <p:cNvPr id="73" name="Immagine 72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0FD3CC29-799A-4036-6604-2E600D31407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29" y="5252845"/>
            <a:ext cx="534779" cy="538229"/>
          </a:xfrm>
          <a:prstGeom prst="rect">
            <a:avLst/>
          </a:prstGeom>
        </p:spPr>
      </p:pic>
      <p:pic>
        <p:nvPicPr>
          <p:cNvPr id="74" name="Immagine 73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F2E2124E-74A2-3BCD-A3BB-B6535DDE1B8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83" y="6016715"/>
            <a:ext cx="493517" cy="450064"/>
          </a:xfrm>
          <a:prstGeom prst="rect">
            <a:avLst/>
          </a:prstGeom>
        </p:spPr>
      </p:pic>
      <p:sp>
        <p:nvSpPr>
          <p:cNvPr id="3" name="Rettangolo con angoli in alto arrotondati 2">
            <a:extLst>
              <a:ext uri="{FF2B5EF4-FFF2-40B4-BE49-F238E27FC236}">
                <a16:creationId xmlns:a16="http://schemas.microsoft.com/office/drawing/2014/main" id="{F6D2B962-935A-06C2-35B1-92FF515A9BC2}"/>
              </a:ext>
            </a:extLst>
          </p:cNvPr>
          <p:cNvSpPr/>
          <p:nvPr/>
        </p:nvSpPr>
        <p:spPr>
          <a:xfrm flipV="1">
            <a:off x="2287750" y="-5209355"/>
            <a:ext cx="8547100" cy="4860925"/>
          </a:xfrm>
          <a:prstGeom prst="round2SameRect">
            <a:avLst/>
          </a:prstGeom>
          <a:solidFill>
            <a:srgbClr val="FF4655"/>
          </a:solidFill>
          <a:ln w="25400">
            <a:solidFill>
              <a:srgbClr val="C00000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2C2FFEA-E1AE-E868-950B-295999B3360A}"/>
              </a:ext>
            </a:extLst>
          </p:cNvPr>
          <p:cNvSpPr txBox="1"/>
          <p:nvPr/>
        </p:nvSpPr>
        <p:spPr>
          <a:xfrm>
            <a:off x="2297275" y="-4169237"/>
            <a:ext cx="842100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5400" b="1" dirty="0">
                <a:solidFill>
                  <a:srgbClr val="1E3144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Talento individuale</a:t>
            </a:r>
          </a:p>
        </p:txBody>
      </p:sp>
      <p:pic>
        <p:nvPicPr>
          <p:cNvPr id="8" name="Immagine 7" descr="Immagine che contiene schermata, Elementi grafici, simbolo, linea&#10;&#10;Il contenuto generato dall'IA potrebbe non essere corretto.">
            <a:extLst>
              <a:ext uri="{FF2B5EF4-FFF2-40B4-BE49-F238E27FC236}">
                <a16:creationId xmlns:a16="http://schemas.microsoft.com/office/drawing/2014/main" id="{09351705-84EE-E8A7-5490-7C6FC570C3E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775" y="-3245907"/>
            <a:ext cx="1562100" cy="1562100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68CAE4E-AB6C-BAA9-2D53-2D27D95F3CC1}"/>
              </a:ext>
            </a:extLst>
          </p:cNvPr>
          <p:cNvSpPr txBox="1"/>
          <p:nvPr/>
        </p:nvSpPr>
        <p:spPr>
          <a:xfrm>
            <a:off x="3057062" y="-1500701"/>
            <a:ext cx="708752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5400" b="1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Solidità del collettivo 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37BB67-6AE8-48D1-AB21-43D8BA4E3DCD}"/>
              </a:ext>
            </a:extLst>
          </p:cNvPr>
          <p:cNvSpPr txBox="1"/>
          <p:nvPr/>
        </p:nvSpPr>
        <p:spPr>
          <a:xfrm>
            <a:off x="2317750" y="7562422"/>
            <a:ext cx="8547100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❓ Domanda di ricerca❓</a:t>
            </a:r>
          </a:p>
          <a:p>
            <a:pPr algn="ctr"/>
            <a:r>
              <a:rPr lang="it-IT" sz="2200" dirty="0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Cosa predice meglio la vittoria? Il «</a:t>
            </a:r>
            <a:r>
              <a:rPr lang="it-IT" sz="2200" i="1" dirty="0" err="1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carry</a:t>
            </a:r>
            <a:r>
              <a:rPr lang="it-IT" sz="2200" dirty="0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» di un singolo fuoriclasse o la solidità di un team ben coeso?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CDCD4646-B29C-8D94-726F-217D103D6C0B}"/>
              </a:ext>
            </a:extLst>
          </p:cNvPr>
          <p:cNvSpPr/>
          <p:nvPr/>
        </p:nvSpPr>
        <p:spPr>
          <a:xfrm>
            <a:off x="1951200" y="7315200"/>
            <a:ext cx="9258300" cy="1742379"/>
          </a:xfrm>
          <a:prstGeom prst="ellipse">
            <a:avLst/>
          </a:prstGeom>
          <a:noFill/>
          <a:ln w="28575">
            <a:solidFill>
              <a:srgbClr val="C13A4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931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D9A24D-9869-0720-2381-B9C0834D1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con angoli in alto arrotondati 14">
            <a:extLst>
              <a:ext uri="{FF2B5EF4-FFF2-40B4-BE49-F238E27FC236}">
                <a16:creationId xmlns:a16="http://schemas.microsoft.com/office/drawing/2014/main" id="{6DBE462A-1851-AD2A-B1E2-F52DCC6B060F}"/>
              </a:ext>
            </a:extLst>
          </p:cNvPr>
          <p:cNvSpPr/>
          <p:nvPr/>
        </p:nvSpPr>
        <p:spPr>
          <a:xfrm flipV="1">
            <a:off x="2287750" y="-684980"/>
            <a:ext cx="8547100" cy="4860925"/>
          </a:xfrm>
          <a:prstGeom prst="round2SameRect">
            <a:avLst/>
          </a:prstGeom>
          <a:solidFill>
            <a:srgbClr val="FF4655"/>
          </a:solidFill>
          <a:ln w="25400">
            <a:solidFill>
              <a:srgbClr val="C00000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D10FC6C5-8105-8484-CE84-8D7993EF1BE3}"/>
              </a:ext>
            </a:extLst>
          </p:cNvPr>
          <p:cNvGrpSpPr/>
          <p:nvPr/>
        </p:nvGrpSpPr>
        <p:grpSpPr>
          <a:xfrm>
            <a:off x="658262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7F811EA5-A0F2-CC53-BC40-EB105541BAC3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8E0933FF-A1CB-B293-E654-D260DA206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D4B26AC3-484D-24E7-4757-44299A4103E6}"/>
              </a:ext>
            </a:extLst>
          </p:cNvPr>
          <p:cNvGrpSpPr/>
          <p:nvPr/>
        </p:nvGrpSpPr>
        <p:grpSpPr>
          <a:xfrm>
            <a:off x="-666837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FA59089A-C102-EF50-4EB2-817A841FFFAC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5A7C4163-A769-2CCF-EF08-BE56C5CB7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44872D79-E40C-6C88-86B5-099B30D3C623}"/>
              </a:ext>
            </a:extLst>
          </p:cNvPr>
          <p:cNvGrpSpPr/>
          <p:nvPr/>
        </p:nvGrpSpPr>
        <p:grpSpPr>
          <a:xfrm>
            <a:off x="-694716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6E6F825E-737C-D22C-50E3-9346F63A46FC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4E695A2C-79BF-DFDF-BAD1-E67641BCE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05EC8849-A743-4555-E258-251B3A325D87}"/>
              </a:ext>
            </a:extLst>
          </p:cNvPr>
          <p:cNvGrpSpPr/>
          <p:nvPr/>
        </p:nvGrpSpPr>
        <p:grpSpPr>
          <a:xfrm>
            <a:off x="-676624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B00258DA-A0EF-1F72-C2C0-951610AAFDD3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BA393E59-A646-8242-C98A-C6D23E5D4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D4276942-2225-5D90-9E3C-635334D26577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3F4B96AB-88EF-6BF4-113C-EEE2B3B89F36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1736D41D-43F5-F990-69F7-0043197C07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5ED4E277-EB44-5277-13B3-03776F656BDA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10191950-1C83-AFF0-6C6E-FE327E37F929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F5782DFF-21F6-FA35-21F6-6C8F9A9A83F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2D18A336-3BFA-3386-5BC8-4201214952CD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A669ED22-FB86-FDF9-6FBF-23F439F93FCB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FDA1B1E5-B914-3663-D84D-DCA83D987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C428E06C-85E6-A9E4-3187-37E5D4140CD1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9A1A1C65-290F-6D5D-0DC1-FC84690CF622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DC37DD37-395A-56AB-1ACA-95C6A5448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4BDEDE11-6160-E5EE-26FC-E1A85D2A19E1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A8468375-81F8-D7CD-C815-8BF8E287ADAF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7FF16A39-8A56-46E4-D840-8AFF3F929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55C4A24A-2038-BB2D-8835-A06C9B3B3680}"/>
              </a:ext>
            </a:extLst>
          </p:cNvPr>
          <p:cNvSpPr/>
          <p:nvPr/>
        </p:nvSpPr>
        <p:spPr>
          <a:xfrm rot="10800000">
            <a:off x="2838" y="-877013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4" name="Immagine 13" descr="Immagine che contiene cerchio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FF5CCAE8-F95F-836B-BFC1-CD2BE174728C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197D56B-F888-FC59-6DCB-3BAD39A1B441}"/>
              </a:ext>
            </a:extLst>
          </p:cNvPr>
          <p:cNvSpPr txBox="1"/>
          <p:nvPr/>
        </p:nvSpPr>
        <p:spPr>
          <a:xfrm>
            <a:off x="2297275" y="355138"/>
            <a:ext cx="842100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5400" b="1" dirty="0">
                <a:solidFill>
                  <a:srgbClr val="1E3144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Talento individuale</a:t>
            </a:r>
          </a:p>
        </p:txBody>
      </p:sp>
      <p:pic>
        <p:nvPicPr>
          <p:cNvPr id="9" name="Immagine 8" descr="Immagine che contiene schermata, Elementi grafici, simbolo, linea&#10;&#10;Il contenuto generato dall'IA potrebbe non essere corretto.">
            <a:extLst>
              <a:ext uri="{FF2B5EF4-FFF2-40B4-BE49-F238E27FC236}">
                <a16:creationId xmlns:a16="http://schemas.microsoft.com/office/drawing/2014/main" id="{533F9B91-79BB-0766-986F-944EF90C5B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775" y="1278468"/>
            <a:ext cx="1562100" cy="156210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1B51056-BA78-0A6C-9F57-A3ECB0C65E35}"/>
              </a:ext>
            </a:extLst>
          </p:cNvPr>
          <p:cNvSpPr txBox="1"/>
          <p:nvPr/>
        </p:nvSpPr>
        <p:spPr>
          <a:xfrm>
            <a:off x="3057062" y="3023674"/>
            <a:ext cx="7087526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5400" b="1" dirty="0">
                <a:solidFill>
                  <a:schemeClr val="bg1"/>
                </a:solidFill>
                <a:effectLst>
                  <a:glow rad="1016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Solidità del collettivo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D53C3A5-B06F-FD2D-3942-CBD02331C84B}"/>
              </a:ext>
            </a:extLst>
          </p:cNvPr>
          <p:cNvSpPr txBox="1"/>
          <p:nvPr/>
        </p:nvSpPr>
        <p:spPr>
          <a:xfrm>
            <a:off x="2317750" y="4971622"/>
            <a:ext cx="8547100" cy="11387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❓ Domanda di ricerca❓</a:t>
            </a:r>
          </a:p>
          <a:p>
            <a:pPr algn="ctr"/>
            <a:r>
              <a:rPr lang="it-IT" sz="2200" dirty="0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Cosa predice meglio la vittoria? Il «</a:t>
            </a:r>
            <a:r>
              <a:rPr lang="it-IT" sz="2200" i="1" dirty="0" err="1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carry</a:t>
            </a:r>
            <a:r>
              <a:rPr lang="it-IT" sz="2200" dirty="0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» di un singolo fuoriclasse o la solidità di un team ben coeso?</a:t>
            </a:r>
          </a:p>
        </p:txBody>
      </p:sp>
      <p:pic>
        <p:nvPicPr>
          <p:cNvPr id="39" name="Immagine 38" descr="Immagine che contiene ingranaggio, oggetti in metallo, cerchio, ruota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A74E08FD-8C18-D46A-7B8A-C9F607D12D9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47" y="2345928"/>
            <a:ext cx="622942" cy="600826"/>
          </a:xfrm>
          <a:prstGeom prst="rect">
            <a:avLst/>
          </a:prstGeom>
        </p:spPr>
      </p:pic>
      <p:pic>
        <p:nvPicPr>
          <p:cNvPr id="41" name="Immagine 40" descr="Immagine che contiene bianco, Utensile da cucina, bianco e nero, monocromatico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9CD6CB28-3A94-4A28-A053-8110D0D2F069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87" y="3064823"/>
            <a:ext cx="532695" cy="536003"/>
          </a:xfrm>
          <a:prstGeom prst="rect">
            <a:avLst/>
          </a:prstGeom>
        </p:spPr>
      </p:pic>
      <p:pic>
        <p:nvPicPr>
          <p:cNvPr id="43" name="Immagine 42" descr="Immagine che contiene arte, bianco e nero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8A58E331-90DB-47BE-7F50-5F0A417871F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85" y="3843199"/>
            <a:ext cx="569712" cy="505216"/>
          </a:xfrm>
          <a:prstGeom prst="rect">
            <a:avLst/>
          </a:prstGeom>
        </p:spPr>
      </p:pic>
      <p:pic>
        <p:nvPicPr>
          <p:cNvPr id="45" name="Immagine 44" descr="Immagine che contiene design, linea, bianco, Rettangol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CB060A5B-72B6-2DA8-4BFF-20CCFBFA860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87" y="4590324"/>
            <a:ext cx="510664" cy="484251"/>
          </a:xfrm>
          <a:prstGeom prst="rect">
            <a:avLst/>
          </a:prstGeom>
        </p:spPr>
      </p:pic>
      <p:pic>
        <p:nvPicPr>
          <p:cNvPr id="47" name="Immagine 46" descr="Immagine che contiene triangol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2908E229-2DDE-1B80-7440-E122E1E888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29" y="5252845"/>
            <a:ext cx="534779" cy="538229"/>
          </a:xfrm>
          <a:prstGeom prst="rect">
            <a:avLst/>
          </a:prstGeom>
        </p:spPr>
      </p:pic>
      <p:pic>
        <p:nvPicPr>
          <p:cNvPr id="48" name="Immagine 47" descr="Immagine che contiene schermata, design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79A04C80-237F-D1D8-0CDF-2379366AFC6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83" y="6016715"/>
            <a:ext cx="493517" cy="450064"/>
          </a:xfrm>
          <a:prstGeom prst="rect">
            <a:avLst/>
          </a:prstGeom>
        </p:spPr>
      </p:pic>
      <p:pic>
        <p:nvPicPr>
          <p:cNvPr id="53" name="Immagine 52" descr="Immagine che contiene schermata, design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1ACAADD4-129B-BEC0-12E4-9C003F6FFB46}"/>
              </a:ext>
            </a:extLst>
          </p:cNvPr>
          <p:cNvPicPr>
            <a:picLocks noChangeAspect="1"/>
          </p:cNvPicPr>
          <p:nvPr/>
        </p:nvPicPr>
        <p:blipFill>
          <a:blip r:embed="rId2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21" y="976611"/>
            <a:ext cx="460283" cy="424648"/>
          </a:xfrm>
          <a:prstGeom prst="rect">
            <a:avLst/>
          </a:prstGeom>
        </p:spPr>
      </p:pic>
      <p:pic>
        <p:nvPicPr>
          <p:cNvPr id="59" name="Immagine 58" descr="Immagine che contiene schermata, Rettangolo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288B53EB-83AA-E1C3-E163-235E517D6AA4}"/>
              </a:ext>
            </a:extLst>
          </p:cNvPr>
          <p:cNvPicPr>
            <a:picLocks noChangeAspect="1"/>
          </p:cNvPicPr>
          <p:nvPr/>
        </p:nvPicPr>
        <p:blipFill>
          <a:blip r:embed="rId2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83" y="1726737"/>
            <a:ext cx="521042" cy="433257"/>
          </a:xfrm>
          <a:prstGeom prst="rect">
            <a:avLst/>
          </a:prstGeom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BDA41F8F-E406-1EFD-D2B1-ECD94A3720ED}"/>
              </a:ext>
            </a:extLst>
          </p:cNvPr>
          <p:cNvSpPr/>
          <p:nvPr/>
        </p:nvSpPr>
        <p:spPr>
          <a:xfrm>
            <a:off x="1951200" y="4724400"/>
            <a:ext cx="9258300" cy="1742379"/>
          </a:xfrm>
          <a:prstGeom prst="ellipse">
            <a:avLst/>
          </a:prstGeom>
          <a:noFill/>
          <a:ln w="28575">
            <a:solidFill>
              <a:srgbClr val="C13A4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8002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626C6-1F16-E957-94A3-3865A6A26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E342CEF6-0168-8964-6AFA-93EF9C961F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21" y="958237"/>
            <a:ext cx="7770881" cy="6105692"/>
          </a:xfrm>
          <a:prstGeom prst="rect">
            <a:avLst/>
          </a:prstGeom>
          <a:noFill/>
          <a:effectLst>
            <a:glow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angolo rettangolo 2">
            <a:extLst>
              <a:ext uri="{FF2B5EF4-FFF2-40B4-BE49-F238E27FC236}">
                <a16:creationId xmlns:a16="http://schemas.microsoft.com/office/drawing/2014/main" id="{A8B78C1C-76FE-79FA-6A9A-7276FEEE31C2}"/>
              </a:ext>
            </a:extLst>
          </p:cNvPr>
          <p:cNvSpPr>
            <a:spLocks/>
          </p:cNvSpPr>
          <p:nvPr/>
        </p:nvSpPr>
        <p:spPr>
          <a:xfrm flipH="1">
            <a:off x="4829167" y="-1933575"/>
            <a:ext cx="8048625" cy="11934824"/>
          </a:xfrm>
          <a:prstGeom prst="rtTriangle">
            <a:avLst/>
          </a:prstGeom>
          <a:solidFill>
            <a:srgbClr val="FF4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28F3159F-4D47-6FD2-D293-4CF84901DFE0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6E31E320-AF99-82CA-0D27-F77E8AFC9A92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06737AA9-78B5-6884-8DC0-455ED8E900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76C93E2E-04FD-2C6B-A1DD-6527C167214E}"/>
              </a:ext>
            </a:extLst>
          </p:cNvPr>
          <p:cNvGrpSpPr/>
          <p:nvPr/>
        </p:nvGrpSpPr>
        <p:grpSpPr>
          <a:xfrm>
            <a:off x="638088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F905F55E-DF64-89E7-01AA-09EC9BF21F8E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3702E377-B4AC-3E31-B357-8A3C4B797C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22B1A65F-95D5-6609-4546-7283372004CD}"/>
              </a:ext>
            </a:extLst>
          </p:cNvPr>
          <p:cNvGrpSpPr/>
          <p:nvPr/>
        </p:nvGrpSpPr>
        <p:grpSpPr>
          <a:xfrm>
            <a:off x="-694716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843FF276-607B-013A-2501-C73A84CF5164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DCCE548B-51D8-EF5A-EBE2-E5A9C59DE0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FD6F0190-84A9-436D-8F4E-47F1769229B5}"/>
              </a:ext>
            </a:extLst>
          </p:cNvPr>
          <p:cNvGrpSpPr/>
          <p:nvPr/>
        </p:nvGrpSpPr>
        <p:grpSpPr>
          <a:xfrm>
            <a:off x="-676624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BADEC80E-1847-4029-22BC-1896F275A4E4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8FED7220-81D2-DA40-2E90-E67E4C774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CA017A38-B6C2-0ED2-2536-3C046F3519E1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F887C562-D0CC-59A0-0D75-117EA98C4831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80F81254-C54E-D592-354F-EB555BE59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D93BCA60-CE03-6266-BDEE-8E5D4193F75D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18107328-FD40-C93B-223F-D396ABB72DEF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29BD957E-70BD-4107-C6EF-49A0571C6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863D25E3-4121-9DFB-8261-226C038BAD9A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43E1CDB1-D3AF-1CE7-73DB-6BA2C53B7013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D91D666F-CA0B-A026-7490-A6EF4090D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14FDC015-9831-AE48-E937-9BD63B038A0E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C5487CCD-4CE7-BD95-9AFC-25232D4D5B75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85A2F7D8-5756-FAB0-A831-4E26FC41A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4F5B6139-71F6-DCC3-C0B1-BF9EA46C48AD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B0B7C7A9-F452-250E-5534-B086099E8AB0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9ECBB681-8150-16AA-3BE4-F55E0C274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E3666AD0-8A52-BC83-275E-A482DDF0648F}"/>
              </a:ext>
            </a:extLst>
          </p:cNvPr>
          <p:cNvSpPr/>
          <p:nvPr/>
        </p:nvSpPr>
        <p:spPr>
          <a:xfrm rot="10800000">
            <a:off x="2838" y="-803670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4" name="Immagine 13" descr="Immagine che contiene cerchio, bianco e nero&#10;&#10;Il contenuto generato dall'IA potrebbe non essere corretto.">
            <a:hlinkClick r:id="rId12" action="ppaction://hlinksldjump"/>
            <a:extLst>
              <a:ext uri="{FF2B5EF4-FFF2-40B4-BE49-F238E27FC236}">
                <a16:creationId xmlns:a16="http://schemas.microsoft.com/office/drawing/2014/main" id="{24421896-5040-14FA-91E5-D6109DFE721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18" name="Immagine 17" descr="Immagine che contiene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2CD74518-62BB-614B-372C-D5126507887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22" name="Immagine 21" descr="Immagine che contiene schermata, Rettangolo, design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BDCF8EEC-730C-B787-489B-D48DDF5CDE9C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26" name="Immagine 25" descr="Immagine che contiene ingranaggio, oggetti in metallo, cerchio, ruota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CDE5DADD-7351-84E3-7EC8-E9400B87648D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30" name="Immagine 29" descr="Immagine che contiene bianco, Utensile da cucina, bianco e nero, monocromatic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866F6D04-2559-94E1-4FB1-F665ADB5DCE2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34" name="Immagine 33" descr="Immagine che contiene arte, bianco e ner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052D9AD5-BE2F-4DD8-C44F-E8DEF72F615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38" name="Immagine 37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A3FC6356-5A7F-13AA-9ABE-2CDF0F23D01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42" name="Immagine 41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414C6C62-2AE4-F267-5947-6E946BBBB02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46" name="Immagine 45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022DC669-639E-45B7-F8E5-6934E1184C0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7F50111-AC28-1441-4AF4-B03B1F86C26B}"/>
              </a:ext>
            </a:extLst>
          </p:cNvPr>
          <p:cNvSpPr txBox="1"/>
          <p:nvPr/>
        </p:nvSpPr>
        <p:spPr>
          <a:xfrm>
            <a:off x="2505075" y="1905506"/>
            <a:ext cx="8172450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96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Preparazione dei dati</a:t>
            </a:r>
          </a:p>
        </p:txBody>
      </p:sp>
      <p:sp>
        <p:nvSpPr>
          <p:cNvPr id="4" name="Elaborazione alternativa 3">
            <a:extLst>
              <a:ext uri="{FF2B5EF4-FFF2-40B4-BE49-F238E27FC236}">
                <a16:creationId xmlns:a16="http://schemas.microsoft.com/office/drawing/2014/main" id="{27B113AD-5409-4B3B-F15A-09CCBB8E33A3}"/>
              </a:ext>
            </a:extLst>
          </p:cNvPr>
          <p:cNvSpPr/>
          <p:nvPr/>
        </p:nvSpPr>
        <p:spPr>
          <a:xfrm>
            <a:off x="13818425" y="2145853"/>
            <a:ext cx="8800985" cy="3376642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CD600FF-1AE4-9146-62D0-5E5AB5817564}"/>
              </a:ext>
            </a:extLst>
          </p:cNvPr>
          <p:cNvSpPr txBox="1"/>
          <p:nvPr/>
        </p:nvSpPr>
        <p:spPr>
          <a:xfrm>
            <a:off x="13908913" y="2512359"/>
            <a:ext cx="9172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🕝 </a:t>
            </a:r>
            <a:r>
              <a:rPr lang="it-IT" sz="3200" b="1" dirty="0">
                <a:solidFill>
                  <a:srgbClr val="1E3144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Contesto:</a:t>
            </a:r>
            <a:r>
              <a:rPr lang="it-IT" sz="3200" b="1" dirty="0">
                <a:solidFill>
                  <a:schemeClr val="bg1"/>
                </a:solidFill>
                <a:effectLst>
                  <a:glow rad="381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3200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Valorant</a:t>
            </a:r>
            <a:r>
              <a:rPr lang="it-IT" sz="3200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Champions Tour </a:t>
            </a:r>
            <a:r>
              <a:rPr lang="it-IT" sz="3600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2024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8B275EC-4914-7663-1FF4-79C01A77BE73}"/>
              </a:ext>
            </a:extLst>
          </p:cNvPr>
          <p:cNvSpPr txBox="1"/>
          <p:nvPr/>
        </p:nvSpPr>
        <p:spPr>
          <a:xfrm>
            <a:off x="13908913" y="3452054"/>
            <a:ext cx="91725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👀 </a:t>
            </a:r>
            <a:r>
              <a:rPr lang="it-IT" sz="3200" b="1" dirty="0">
                <a:solidFill>
                  <a:srgbClr val="1E3144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Numero di osservazioni: </a:t>
            </a:r>
            <a:r>
              <a:rPr lang="it-IT" sz="4000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36.310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2B9E824-9037-0720-6836-ECDE89A34214}"/>
              </a:ext>
            </a:extLst>
          </p:cNvPr>
          <p:cNvSpPr txBox="1"/>
          <p:nvPr/>
        </p:nvSpPr>
        <p:spPr>
          <a:xfrm>
            <a:off x="13908913" y="4480913"/>
            <a:ext cx="91725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🗂️ </a:t>
            </a:r>
            <a:r>
              <a:rPr lang="it-IT" sz="3200" b="1" dirty="0">
                <a:solidFill>
                  <a:srgbClr val="1E3144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Numero di variabili: </a:t>
            </a:r>
            <a:r>
              <a:rPr lang="it-IT" sz="4000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69746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44D317-88C9-EE9C-F82D-1557DCE04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aborazione alternativa 10">
            <a:extLst>
              <a:ext uri="{FF2B5EF4-FFF2-40B4-BE49-F238E27FC236}">
                <a16:creationId xmlns:a16="http://schemas.microsoft.com/office/drawing/2014/main" id="{05B38E77-9454-F317-1452-9A38344407A5}"/>
              </a:ext>
            </a:extLst>
          </p:cNvPr>
          <p:cNvSpPr/>
          <p:nvPr/>
        </p:nvSpPr>
        <p:spPr>
          <a:xfrm>
            <a:off x="2210318" y="2145853"/>
            <a:ext cx="8800985" cy="3376642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4A43A9B6-48B8-C497-28EF-0D668BF1DC6B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0411614B-FA31-C104-F441-968B83F4F23E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3897D182-0A19-DB40-CC4C-EB165D8F0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727741F2-8942-4676-9339-BBDDE64C7402}"/>
              </a:ext>
            </a:extLst>
          </p:cNvPr>
          <p:cNvGrpSpPr/>
          <p:nvPr/>
        </p:nvGrpSpPr>
        <p:grpSpPr>
          <a:xfrm>
            <a:off x="638088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DE7ECCD4-E91B-E369-0CDE-4B4626D835C9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8D611C03-0310-BC99-3DEF-362C98E5C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9724B26B-D3D3-E686-EE09-0B56E043E58A}"/>
              </a:ext>
            </a:extLst>
          </p:cNvPr>
          <p:cNvGrpSpPr/>
          <p:nvPr/>
        </p:nvGrpSpPr>
        <p:grpSpPr>
          <a:xfrm>
            <a:off x="-694716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9DE35CFA-9485-E4BD-540C-A85936DCFD6B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58915689-9DF5-6BFA-82EA-9EA87612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E39D89B7-19A0-AD98-5E70-43B0734735E9}"/>
              </a:ext>
            </a:extLst>
          </p:cNvPr>
          <p:cNvGrpSpPr/>
          <p:nvPr/>
        </p:nvGrpSpPr>
        <p:grpSpPr>
          <a:xfrm>
            <a:off x="-676624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65A872D5-A5C1-DC03-7DF6-25E960DFD43C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7699D4A0-1418-F296-278C-7DE69A09C3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9DC58171-0FD9-3333-C314-4E1159C248C5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56CA10EB-8225-1C58-C884-6186840A0470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24820017-13A7-A965-3538-8E318FAB8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A3D60793-C3AF-B165-8993-89D1A35D48BB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BC3423A7-5F58-4D5C-7B99-4896DE089683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E490443A-AB13-FBDD-7FD5-0EF7002A7D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6F167713-E2ED-0D92-C0AB-6A644793A3C5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C37C7B91-0B19-F8F5-E55D-E4B2809C1B55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B778FA74-919C-A963-B470-7EC6C0496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98F6DB2F-0680-7E5E-A56B-3F050D616EF4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C6DC3CBB-EBBE-B687-2E3C-012A64CA3B85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1178F711-F2EE-49A5-489D-9CA22861F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2F24F048-57FE-BAB8-1656-7E269CB3D743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80A1CEC7-26EE-8FFF-8F5F-6BD875ADB1E3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91743331-D77C-EB0F-9CD7-82C5F9A08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049B52D0-3C15-08C8-EAC4-004EA5FCD37B}"/>
              </a:ext>
            </a:extLst>
          </p:cNvPr>
          <p:cNvSpPr/>
          <p:nvPr/>
        </p:nvSpPr>
        <p:spPr>
          <a:xfrm rot="10800000">
            <a:off x="2838" y="-803670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8" name="Immagine 17" descr="Immagine che contiene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34F3D489-2244-6F02-5401-4FD5AC2518E9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A6EBAE5-78A5-C9BE-6F69-B2BB9414F80E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Presentazione del dataset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C63E468-5BE9-385B-EF51-61A99458F47C}"/>
              </a:ext>
            </a:extLst>
          </p:cNvPr>
          <p:cNvSpPr txBox="1"/>
          <p:nvPr/>
        </p:nvSpPr>
        <p:spPr>
          <a:xfrm>
            <a:off x="2300806" y="2512359"/>
            <a:ext cx="9172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🕝 </a:t>
            </a:r>
            <a:r>
              <a:rPr lang="it-IT" sz="3200" b="1" dirty="0">
                <a:solidFill>
                  <a:srgbClr val="1E3144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Contesto:</a:t>
            </a:r>
            <a:r>
              <a:rPr lang="it-IT" sz="3200" b="1" dirty="0">
                <a:solidFill>
                  <a:schemeClr val="bg1"/>
                </a:solidFill>
                <a:effectLst>
                  <a:glow rad="381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3200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Valorant</a:t>
            </a:r>
            <a:r>
              <a:rPr lang="it-IT" sz="3200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Champions Tour </a:t>
            </a:r>
            <a:r>
              <a:rPr lang="it-IT" sz="3600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2024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76FDCCF-A11E-2202-FDB8-DA635C1FED75}"/>
              </a:ext>
            </a:extLst>
          </p:cNvPr>
          <p:cNvSpPr txBox="1"/>
          <p:nvPr/>
        </p:nvSpPr>
        <p:spPr>
          <a:xfrm>
            <a:off x="2300806" y="3452054"/>
            <a:ext cx="91725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👀 </a:t>
            </a:r>
            <a:r>
              <a:rPr lang="it-IT" sz="3200" b="1" dirty="0">
                <a:solidFill>
                  <a:srgbClr val="1E3144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Numero di osservazioni: </a:t>
            </a:r>
            <a:r>
              <a:rPr lang="it-IT" sz="4000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36.310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11FFDA2-735F-59FF-7FB7-F468B0005362}"/>
              </a:ext>
            </a:extLst>
          </p:cNvPr>
          <p:cNvSpPr txBox="1"/>
          <p:nvPr/>
        </p:nvSpPr>
        <p:spPr>
          <a:xfrm>
            <a:off x="2300806" y="4480913"/>
            <a:ext cx="91725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effectLst>
                  <a:glow rad="254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🗂️ </a:t>
            </a:r>
            <a:r>
              <a:rPr lang="it-IT" sz="3200" b="1" dirty="0">
                <a:solidFill>
                  <a:srgbClr val="1E3144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Numero di variabili: </a:t>
            </a:r>
            <a:r>
              <a:rPr lang="it-IT" sz="4000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39</a:t>
            </a:r>
          </a:p>
        </p:txBody>
      </p:sp>
      <p:pic>
        <p:nvPicPr>
          <p:cNvPr id="4" name="Immagine 3" descr="Immagine che contiene cerchio, bianco e nero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4FAE50DF-BA28-C7A1-C3DB-079A928B590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7" name="Immagine 6" descr="Immagine che contiene schermata, Rettangolo, design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6F7DC96A-8ED1-C125-3876-4256EFE08683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13" name="Immagine 12" descr="Immagine che contiene ingranaggio, oggetti in metallo, cerchio, ruota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B378D375-272F-8B87-C5C8-88779148EED9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15" name="Immagine 14" descr="Immagine che contiene bianco, Utensile da cucina, bianco e nero, monocromatic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7568F50A-A00E-66EB-EE3B-A54A906692A0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17" name="Immagine 16" descr="Immagine che contiene arte, bianco e ner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E3ACE0A5-8186-35C9-81BA-93BBA3CCAA8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19" name="Immagine 18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E6914C40-715E-98D4-CCCB-D6AC4EF4427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21" name="Immagine 20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9EFF001D-1103-A1C3-2A5A-17F751C7987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23" name="Immagine 22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DAADEAD1-E216-A66E-4E6A-73F07BD6AE2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2" name="Immagine 1" descr="Immagine che contiene cerchio, sfera, Policromia, schermata&#10;&#10;Il contenuto generato dall'IA potrebbe non essere corretto.">
            <a:extLst>
              <a:ext uri="{FF2B5EF4-FFF2-40B4-BE49-F238E27FC236}">
                <a16:creationId xmlns:a16="http://schemas.microsoft.com/office/drawing/2014/main" id="{8403B132-B97A-7B1F-E368-AE89FD53956A}"/>
              </a:ext>
            </a:extLst>
          </p:cNvPr>
          <p:cNvPicPr>
            <a:picLocks noChangeAspect="1"/>
          </p:cNvPicPr>
          <p:nvPr/>
        </p:nvPicPr>
        <p:blipFill>
          <a:blip r:embed="rId29">
            <a:alphaModFix amt="19000"/>
          </a:blip>
          <a:stretch>
            <a:fillRect/>
          </a:stretch>
        </p:blipFill>
        <p:spPr>
          <a:xfrm>
            <a:off x="-6158897" y="1955801"/>
            <a:ext cx="5129671" cy="4186130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pic>
        <p:nvPicPr>
          <p:cNvPr id="3" name="Immagine 2" descr="Immagine che contiene cerchio&#10;&#10;Il contenuto generato dall'IA potrebbe non essere corretto.">
            <a:extLst>
              <a:ext uri="{FF2B5EF4-FFF2-40B4-BE49-F238E27FC236}">
                <a16:creationId xmlns:a16="http://schemas.microsoft.com/office/drawing/2014/main" id="{2FC3EAED-E5B2-E0C1-46E5-9BD2D585EE0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89345" y="2299694"/>
            <a:ext cx="2776821" cy="2776821"/>
          </a:xfrm>
          <a:prstGeom prst="rect">
            <a:avLst/>
          </a:prstGeom>
        </p:spPr>
      </p:pic>
      <p:cxnSp>
        <p:nvCxnSpPr>
          <p:cNvPr id="14" name="!!Tu">
            <a:extLst>
              <a:ext uri="{FF2B5EF4-FFF2-40B4-BE49-F238E27FC236}">
                <a16:creationId xmlns:a16="http://schemas.microsoft.com/office/drawing/2014/main" id="{58B3EAAC-E310-19DB-AA77-712733C63417}"/>
              </a:ext>
            </a:extLst>
          </p:cNvPr>
          <p:cNvCxnSpPr>
            <a:cxnSpLocks/>
          </p:cNvCxnSpPr>
          <p:nvPr/>
        </p:nvCxnSpPr>
        <p:spPr>
          <a:xfrm>
            <a:off x="-5190982" y="3771211"/>
            <a:ext cx="3171492" cy="11833"/>
          </a:xfrm>
          <a:prstGeom prst="straightConnector1">
            <a:avLst/>
          </a:prstGeom>
          <a:ln w="25400"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8868759-EFB4-8419-F191-25B000CDF924}"/>
              </a:ext>
            </a:extLst>
          </p:cNvPr>
          <p:cNvSpPr txBox="1"/>
          <p:nvPr/>
        </p:nvSpPr>
        <p:spPr>
          <a:xfrm>
            <a:off x="-8114946" y="5159206"/>
            <a:ext cx="3368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36.310</a:t>
            </a:r>
            <a:r>
              <a:rPr lang="it-IT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osservazioni</a:t>
            </a:r>
          </a:p>
        </p:txBody>
      </p:sp>
    </p:spTree>
    <p:extLst>
      <p:ext uri="{BB962C8B-B14F-4D97-AF65-F5344CB8AC3E}">
        <p14:creationId xmlns:p14="http://schemas.microsoft.com/office/powerpoint/2010/main" val="821958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32315B-B0C4-DBB1-2DB6-57AC15838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 descr="Immagine che contiene cerchio, sfera, Policromia, schermata&#10;&#10;Il contenuto generato dall'IA potrebbe non essere corretto.">
            <a:extLst>
              <a:ext uri="{FF2B5EF4-FFF2-40B4-BE49-F238E27FC236}">
                <a16:creationId xmlns:a16="http://schemas.microsoft.com/office/drawing/2014/main" id="{3E3E6028-FB2F-3109-52D0-931FE63BC48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3212728" y="1955801"/>
            <a:ext cx="5129671" cy="4186130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grpSp>
        <p:nvGrpSpPr>
          <p:cNvPr id="68" name="Gruppo 67">
            <a:extLst>
              <a:ext uri="{FF2B5EF4-FFF2-40B4-BE49-F238E27FC236}">
                <a16:creationId xmlns:a16="http://schemas.microsoft.com/office/drawing/2014/main" id="{C94B31E0-8D88-B308-D518-5B5D35D1F581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4213BE8F-2A78-45B0-F105-523E80A43D1A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6F574575-102E-8ACB-584C-17FB694EB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BC703F4A-00C9-3E2D-070F-9BF196496934}"/>
              </a:ext>
            </a:extLst>
          </p:cNvPr>
          <p:cNvGrpSpPr/>
          <p:nvPr/>
        </p:nvGrpSpPr>
        <p:grpSpPr>
          <a:xfrm>
            <a:off x="638088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5796E8DE-AFB8-F726-10AD-FEEF9EB1FD33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25A32751-00D1-095A-FAC5-952C03F08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22D4E500-DDDE-B832-5352-26FC45E0DD6B}"/>
              </a:ext>
            </a:extLst>
          </p:cNvPr>
          <p:cNvGrpSpPr/>
          <p:nvPr/>
        </p:nvGrpSpPr>
        <p:grpSpPr>
          <a:xfrm>
            <a:off x="-694716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E45EA457-5806-0E5D-E9AB-0D3760D1850F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24B5E443-958D-AC68-B2F4-4400CA036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AC1C9DEB-854C-03B9-4973-664EB9289C88}"/>
              </a:ext>
            </a:extLst>
          </p:cNvPr>
          <p:cNvGrpSpPr/>
          <p:nvPr/>
        </p:nvGrpSpPr>
        <p:grpSpPr>
          <a:xfrm>
            <a:off x="-676624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0E824AD3-22FC-EC4B-A677-2F0AF03216D5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9A2E2414-7E9D-0C6F-9242-6557ECD9C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E27EE43C-C4F9-B0E4-E9EA-F26D4033AEB2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4EBDA80E-2169-ED59-63F1-AD03C390159E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2FB4B02C-E590-3C4C-2B94-6551588DA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DFF72EBF-89FE-FA8E-CF96-5CE1BB781DA7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EA49E28C-06F9-6BC2-CD75-4213B801886F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DE8AE437-724D-AD67-9286-93C817999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F3E4701B-B833-70C7-C077-288F982269E5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0779F1DE-DD30-9B78-BBDB-344C51C4C002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7A59CE2E-6304-7DC3-63F2-6AF0F51F5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DEBA1AE6-6BA0-CA3F-BD1B-8AD6FE11CB3A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9F583B2C-9945-1026-6BD9-0D6FDCE032B3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3C5E8A1D-8C31-F6BA-DABD-19344F1B76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F2178FAD-5021-AA00-C77A-106169EC1F64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9CA209AB-F34D-565E-B314-57AC5A98CB36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BA03ABC6-8F74-D25C-BEC3-C6A1BF610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F89A921A-FA40-DED4-7A4C-3CDF14CE3A6E}"/>
              </a:ext>
            </a:extLst>
          </p:cNvPr>
          <p:cNvSpPr/>
          <p:nvPr/>
        </p:nvSpPr>
        <p:spPr>
          <a:xfrm rot="10800000">
            <a:off x="2838" y="-803670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8" name="Immagine 17" descr="Immagine che contiene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DFDC777A-59EF-44AD-A0D3-E1531658DB8E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6499180-EB8D-A4C5-C876-154803F1BBC9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 err="1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Missing</a:t>
            </a:r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5000" b="1" dirty="0" err="1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values</a:t>
            </a:r>
            <a:endParaRPr lang="it-IT" sz="5000" b="1" dirty="0">
              <a:solidFill>
                <a:schemeClr val="bg1"/>
              </a:solidFill>
              <a:effectLst>
                <a:glow rad="101600">
                  <a:srgbClr val="FF0000">
                    <a:alpha val="40000"/>
                  </a:srgb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3" name="Immagine 42" descr="Immagine che contiene cerchio&#10;&#10;Il contenuto generato dall'IA potrebbe non essere corretto.">
            <a:extLst>
              <a:ext uri="{FF2B5EF4-FFF2-40B4-BE49-F238E27FC236}">
                <a16:creationId xmlns:a16="http://schemas.microsoft.com/office/drawing/2014/main" id="{0256D8F4-823C-B2D1-DDBF-B5175BEF11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280" y="2299694"/>
            <a:ext cx="2776821" cy="2776821"/>
          </a:xfrm>
          <a:prstGeom prst="rect">
            <a:avLst/>
          </a:prstGeom>
        </p:spPr>
      </p:pic>
      <p:cxnSp>
        <p:nvCxnSpPr>
          <p:cNvPr id="47" name="!!Tu">
            <a:extLst>
              <a:ext uri="{FF2B5EF4-FFF2-40B4-BE49-F238E27FC236}">
                <a16:creationId xmlns:a16="http://schemas.microsoft.com/office/drawing/2014/main" id="{9AFB4579-D824-87A0-9CD7-694555A3D733}"/>
              </a:ext>
            </a:extLst>
          </p:cNvPr>
          <p:cNvCxnSpPr>
            <a:cxnSpLocks/>
          </p:cNvCxnSpPr>
          <p:nvPr/>
        </p:nvCxnSpPr>
        <p:spPr>
          <a:xfrm>
            <a:off x="4180643" y="3771211"/>
            <a:ext cx="3171492" cy="11833"/>
          </a:xfrm>
          <a:prstGeom prst="straightConnector1">
            <a:avLst/>
          </a:prstGeom>
          <a:ln w="25400"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Elaborazione alternativa 71">
            <a:extLst>
              <a:ext uri="{FF2B5EF4-FFF2-40B4-BE49-F238E27FC236}">
                <a16:creationId xmlns:a16="http://schemas.microsoft.com/office/drawing/2014/main" id="{E46EAD76-2792-446E-6249-B369B656E394}"/>
              </a:ext>
            </a:extLst>
          </p:cNvPr>
          <p:cNvSpPr/>
          <p:nvPr/>
        </p:nvSpPr>
        <p:spPr>
          <a:xfrm>
            <a:off x="7782873" y="1955801"/>
            <a:ext cx="3807633" cy="3630820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3EFE602A-DC39-1748-AD2A-2A9C918B7F24}"/>
              </a:ext>
            </a:extLst>
          </p:cNvPr>
          <p:cNvSpPr txBox="1"/>
          <p:nvPr/>
        </p:nvSpPr>
        <p:spPr>
          <a:xfrm>
            <a:off x="8304299" y="2140465"/>
            <a:ext cx="3286207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34</a:t>
            </a:r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dati mancanti </a:t>
            </a:r>
            <a:r>
              <a:rPr lang="it-IT" sz="28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(0.00094 %)</a:t>
            </a:r>
          </a:p>
          <a:p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Giocatori AFK o bug di sessione (nessuna </a:t>
            </a:r>
            <a:r>
              <a:rPr lang="it-IT" sz="24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kill</a:t>
            </a:r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registrata).</a:t>
            </a:r>
          </a:p>
          <a:p>
            <a:endParaRPr lang="it-IT" sz="24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24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Listwise</a:t>
            </a:r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24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deletion</a:t>
            </a:r>
            <a:endParaRPr lang="it-IT" sz="2400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1A827681-5A00-7395-DCB7-7124928118A6}"/>
              </a:ext>
            </a:extLst>
          </p:cNvPr>
          <p:cNvSpPr txBox="1"/>
          <p:nvPr/>
        </p:nvSpPr>
        <p:spPr>
          <a:xfrm>
            <a:off x="1256679" y="5159206"/>
            <a:ext cx="3368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36.310</a:t>
            </a:r>
            <a:r>
              <a:rPr lang="it-IT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osservazioni</a:t>
            </a:r>
          </a:p>
        </p:txBody>
      </p:sp>
      <p:sp>
        <p:nvSpPr>
          <p:cNvPr id="78" name="Connettore 77">
            <a:extLst>
              <a:ext uri="{FF2B5EF4-FFF2-40B4-BE49-F238E27FC236}">
                <a16:creationId xmlns:a16="http://schemas.microsoft.com/office/drawing/2014/main" id="{29AB4C96-AEC9-9229-FB63-4AA05FEA1A3D}"/>
              </a:ext>
            </a:extLst>
          </p:cNvPr>
          <p:cNvSpPr/>
          <p:nvPr/>
        </p:nvSpPr>
        <p:spPr>
          <a:xfrm>
            <a:off x="8090299" y="2404704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Connettore 78">
            <a:extLst>
              <a:ext uri="{FF2B5EF4-FFF2-40B4-BE49-F238E27FC236}">
                <a16:creationId xmlns:a16="http://schemas.microsoft.com/office/drawing/2014/main" id="{506F1E14-D2BC-13D3-E28F-FCE86DC80D93}"/>
              </a:ext>
            </a:extLst>
          </p:cNvPr>
          <p:cNvSpPr/>
          <p:nvPr/>
        </p:nvSpPr>
        <p:spPr>
          <a:xfrm>
            <a:off x="8090299" y="3597392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0" name="Connettore 79">
            <a:extLst>
              <a:ext uri="{FF2B5EF4-FFF2-40B4-BE49-F238E27FC236}">
                <a16:creationId xmlns:a16="http://schemas.microsoft.com/office/drawing/2014/main" id="{48D630F9-9C19-92A8-B2A8-3D9CDCA02F9C}"/>
              </a:ext>
            </a:extLst>
          </p:cNvPr>
          <p:cNvSpPr/>
          <p:nvPr/>
        </p:nvSpPr>
        <p:spPr>
          <a:xfrm>
            <a:off x="8090299" y="5073630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 descr="Immagine che contiene cerchio, bianco e nero&#10;&#10;Il contenuto generato dall'IA potrebbe non essere corretto.">
            <a:hlinkClick r:id="rId14" action="ppaction://hlinksldjump"/>
            <a:extLst>
              <a:ext uri="{FF2B5EF4-FFF2-40B4-BE49-F238E27FC236}">
                <a16:creationId xmlns:a16="http://schemas.microsoft.com/office/drawing/2014/main" id="{5E282749-5451-B604-7D27-63A5C4D4DB7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4" name="Immagine 3" descr="Immagine che contiene schermata, Rettangolo, design&#10;&#10;Il contenuto generato dall'IA potrebbe non essere corretto.">
            <a:hlinkClick r:id="rId16" action="ppaction://hlinksldjump"/>
            <a:extLst>
              <a:ext uri="{FF2B5EF4-FFF2-40B4-BE49-F238E27FC236}">
                <a16:creationId xmlns:a16="http://schemas.microsoft.com/office/drawing/2014/main" id="{308911CF-DD9A-9A1F-1F5E-594A0E872CB0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7" name="Immagine 6" descr="Immagine che contiene ingranaggio, oggetti in metallo, cerchio, ruota&#10;&#10;Il contenuto generato dall'IA potrebbe non essere corretto.">
            <a:hlinkClick r:id="rId18" action="ppaction://hlinksldjump"/>
            <a:extLst>
              <a:ext uri="{FF2B5EF4-FFF2-40B4-BE49-F238E27FC236}">
                <a16:creationId xmlns:a16="http://schemas.microsoft.com/office/drawing/2014/main" id="{3F18BF74-E86F-0EEE-4E9A-3FD29DB551F0}"/>
              </a:ext>
            </a:extLst>
          </p:cNvPr>
          <p:cNvPicPr>
            <a:picLocks noChangeAspect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8" name="Immagine 7" descr="Immagine che contiene bianco, Utensile da cucina, bianco e nero, monocromatico&#10;&#10;Il contenuto generato dall'IA potrebbe non essere corretto.">
            <a:hlinkClick r:id="rId20" action="ppaction://hlinksldjump"/>
            <a:extLst>
              <a:ext uri="{FF2B5EF4-FFF2-40B4-BE49-F238E27FC236}">
                <a16:creationId xmlns:a16="http://schemas.microsoft.com/office/drawing/2014/main" id="{20521187-C3A8-DE5E-A23C-9D6E7126CF9D}"/>
              </a:ext>
            </a:extLst>
          </p:cNvPr>
          <p:cNvPicPr>
            <a:picLocks noChangeAspect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9" name="Immagine 8" descr="Immagine che contiene arte, bianco e nero&#10;&#10;Il contenuto generato dall'IA potrebbe non essere corretto.">
            <a:hlinkClick r:id="rId22" action="ppaction://hlinksldjump"/>
            <a:extLst>
              <a:ext uri="{FF2B5EF4-FFF2-40B4-BE49-F238E27FC236}">
                <a16:creationId xmlns:a16="http://schemas.microsoft.com/office/drawing/2014/main" id="{9B22220A-D776-8CE4-1E52-D8EB30BEE9F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10" name="Immagine 9" descr="Immagine che contiene design, linea, bianco, Rettangolo&#10;&#10;Il contenuto generato dall'IA potrebbe non essere corretto.">
            <a:hlinkClick r:id="rId24" action="ppaction://hlinksldjump"/>
            <a:extLst>
              <a:ext uri="{FF2B5EF4-FFF2-40B4-BE49-F238E27FC236}">
                <a16:creationId xmlns:a16="http://schemas.microsoft.com/office/drawing/2014/main" id="{36E1591F-4496-4FAD-EE56-33474649841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11" name="Immagine 10" descr="Immagine che contiene triangolo&#10;&#10;Il contenuto generato dall'IA potrebbe non essere corretto.">
            <a:hlinkClick r:id="rId26" action="ppaction://hlinksldjump"/>
            <a:extLst>
              <a:ext uri="{FF2B5EF4-FFF2-40B4-BE49-F238E27FC236}">
                <a16:creationId xmlns:a16="http://schemas.microsoft.com/office/drawing/2014/main" id="{4CFD3C17-CC38-B44B-FAF1-84CF3AB6AE1F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3" name="Immagine 12" descr="Immagine che contiene schermata, design&#10;&#10;Il contenuto generato dall'IA potrebbe non essere corretto.">
            <a:hlinkClick r:id="rId28" action="ppaction://hlinksldjump"/>
            <a:extLst>
              <a:ext uri="{FF2B5EF4-FFF2-40B4-BE49-F238E27FC236}">
                <a16:creationId xmlns:a16="http://schemas.microsoft.com/office/drawing/2014/main" id="{6FCD9ACE-8335-553C-2F21-978C2763657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sp>
        <p:nvSpPr>
          <p:cNvPr id="19" name="Rettangolo con angoli in alto arrotondati 18">
            <a:extLst>
              <a:ext uri="{FF2B5EF4-FFF2-40B4-BE49-F238E27FC236}">
                <a16:creationId xmlns:a16="http://schemas.microsoft.com/office/drawing/2014/main" id="{A204D816-6401-108A-02EC-C62204724E41}"/>
              </a:ext>
            </a:extLst>
          </p:cNvPr>
          <p:cNvSpPr/>
          <p:nvPr/>
        </p:nvSpPr>
        <p:spPr>
          <a:xfrm>
            <a:off x="3799001" y="7216650"/>
            <a:ext cx="5608949" cy="1365121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A499989-EA6E-F877-9A9F-50B45D7B488B}"/>
              </a:ext>
            </a:extLst>
          </p:cNvPr>
          <p:cNvSpPr txBox="1"/>
          <p:nvPr/>
        </p:nvSpPr>
        <p:spPr>
          <a:xfrm>
            <a:off x="3812614" y="7330540"/>
            <a:ext cx="55171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💡 L’intento di questa operazione è stato rimuovere i primi DUPLICATI informativi</a:t>
            </a:r>
          </a:p>
        </p:txBody>
      </p:sp>
    </p:spTree>
    <p:extLst>
      <p:ext uri="{BB962C8B-B14F-4D97-AF65-F5344CB8AC3E}">
        <p14:creationId xmlns:p14="http://schemas.microsoft.com/office/powerpoint/2010/main" val="202980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5BC7A-7014-3FBB-EDE6-3B036F58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3E41285C-7F7B-6D1C-560F-43963A8ACA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5085092" y="2226043"/>
            <a:ext cx="4284857" cy="3495804"/>
          </a:xfrm>
          <a:prstGeom prst="rect">
            <a:avLst/>
          </a:prstGeom>
        </p:spPr>
      </p:pic>
      <p:sp>
        <p:nvSpPr>
          <p:cNvPr id="74" name="bellaElaborazione alternativa 73">
            <a:extLst>
              <a:ext uri="{FF2B5EF4-FFF2-40B4-BE49-F238E27FC236}">
                <a16:creationId xmlns:a16="http://schemas.microsoft.com/office/drawing/2014/main" id="{50D0BB22-C516-E0A3-98D7-97CC8C861227}"/>
              </a:ext>
            </a:extLst>
          </p:cNvPr>
          <p:cNvSpPr>
            <a:spLocks/>
          </p:cNvSpPr>
          <p:nvPr/>
        </p:nvSpPr>
        <p:spPr>
          <a:xfrm>
            <a:off x="1569071" y="2413295"/>
            <a:ext cx="4024919" cy="261203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6C416905-FA8B-FEEB-1364-53F4D224D9DB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D7D0EEDE-B470-76A7-251E-10D73ACF72BB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22F202E1-B18E-FEA3-9548-FA06749EA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8E608773-956C-2D0E-7A27-B0D6FA0F9603}"/>
              </a:ext>
            </a:extLst>
          </p:cNvPr>
          <p:cNvGrpSpPr/>
          <p:nvPr/>
        </p:nvGrpSpPr>
        <p:grpSpPr>
          <a:xfrm>
            <a:off x="638088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8589827E-BB82-2046-DB89-4F02953E9EDF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FA3A90D8-4B3E-D430-FB88-78DD6B7AC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9A1450C1-D071-12DE-6279-DE5F642F6006}"/>
              </a:ext>
            </a:extLst>
          </p:cNvPr>
          <p:cNvGrpSpPr/>
          <p:nvPr/>
        </p:nvGrpSpPr>
        <p:grpSpPr>
          <a:xfrm>
            <a:off x="-694716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BAD9782C-AB6C-00B6-B43E-9674C04543FC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8DB0867E-C221-AA18-57A2-2DAF04516B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18C84D79-66B9-F055-4C0A-4C0FBC4104C4}"/>
              </a:ext>
            </a:extLst>
          </p:cNvPr>
          <p:cNvGrpSpPr/>
          <p:nvPr/>
        </p:nvGrpSpPr>
        <p:grpSpPr>
          <a:xfrm>
            <a:off x="-676624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1B333510-2CC1-1E90-474D-42ED2CB17A5F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9A1D2745-3617-75FE-30BA-44E5F5B3B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20DA1EAA-2320-0084-EA3B-E44C657FF910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4C33A178-B892-43DD-C64E-DE65AA38AEC1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95D7C824-6EDD-7A87-000F-7004A6CA7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1153DDA6-B247-4FEC-53F1-D69647718FEC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AE835D49-BBB3-B74E-27F9-F5BBDFFC187D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4D6B85EA-8557-7CD2-2386-FD7ECADE0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89EA0ADD-1FB2-8423-6D33-FCC2FE6A3F27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8D5C8ABA-31A6-DF5F-4076-358FD82E0E68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4D9C5B7F-902E-DA49-DA32-FF62E3E74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36479952-2590-F699-FDD6-A62B8EFD048B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B12378CD-23AC-A3ED-B63D-961200CC9B77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89854A16-AD09-0448-00C3-144A48F3EE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EAC6399C-163D-587B-F8BF-1F27EDF01F23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349BE8B4-3587-D6DB-9A50-C6F8298E8EA0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7181AF19-7F88-FB88-B0C8-4054AB2EB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9418252A-AC57-1923-0B6D-A1E19AE1B538}"/>
              </a:ext>
            </a:extLst>
          </p:cNvPr>
          <p:cNvSpPr/>
          <p:nvPr/>
        </p:nvSpPr>
        <p:spPr>
          <a:xfrm rot="10800000">
            <a:off x="2838" y="-803670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8" name="Immagine 17" descr="Immagine che contiene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9DF1EBF2-9EEA-5CE9-23BD-4CE0E1490B43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E1DC275-BB54-20A4-3D9D-282A920FD08C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Filtro delle osservazioni</a:t>
            </a:r>
          </a:p>
        </p:txBody>
      </p:sp>
      <p:pic>
        <p:nvPicPr>
          <p:cNvPr id="29" name="Immagine 28" descr="Immagine che contiene cerchio&#10;&#10;Il contenuto generato dall'IA potrebbe non essere corretto.">
            <a:extLst>
              <a:ext uri="{FF2B5EF4-FFF2-40B4-BE49-F238E27FC236}">
                <a16:creationId xmlns:a16="http://schemas.microsoft.com/office/drawing/2014/main" id="{F808DE31-5608-BE11-26FE-7156C8EF881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794" y="2266422"/>
            <a:ext cx="2776821" cy="2776821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E83CB155-765B-BC61-4244-98351A457FFD}"/>
              </a:ext>
            </a:extLst>
          </p:cNvPr>
          <p:cNvSpPr txBox="1"/>
          <p:nvPr/>
        </p:nvSpPr>
        <p:spPr>
          <a:xfrm>
            <a:off x="1995479" y="2625477"/>
            <a:ext cx="391674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Filtro su «Side»:</a:t>
            </a:r>
          </a:p>
          <a:p>
            <a:r>
              <a:rPr lang="it-IT" sz="28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Both</a:t>
            </a:r>
            <a:endParaRPr lang="it-IT" sz="28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28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r>
              <a:rPr lang="it-IT" sz="28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Filtro su «</a:t>
            </a:r>
            <a:r>
              <a:rPr lang="it-IT" sz="28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Kill.Type</a:t>
            </a:r>
            <a:r>
              <a:rPr lang="it-IT" sz="28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»: </a:t>
            </a:r>
            <a:r>
              <a:rPr lang="it-IT" sz="28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All</a:t>
            </a:r>
            <a:r>
              <a:rPr lang="it-IT" sz="28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Kills</a:t>
            </a:r>
          </a:p>
          <a:p>
            <a:endParaRPr lang="it-IT" sz="28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39" name="!!Tu">
            <a:extLst>
              <a:ext uri="{FF2B5EF4-FFF2-40B4-BE49-F238E27FC236}">
                <a16:creationId xmlns:a16="http://schemas.microsoft.com/office/drawing/2014/main" id="{A054AB58-8E9C-5353-6CDB-95AB51BF0EBC}"/>
              </a:ext>
            </a:extLst>
          </p:cNvPr>
          <p:cNvCxnSpPr>
            <a:cxnSpLocks/>
          </p:cNvCxnSpPr>
          <p:nvPr/>
        </p:nvCxnSpPr>
        <p:spPr>
          <a:xfrm flipV="1">
            <a:off x="5949109" y="3773404"/>
            <a:ext cx="2887685" cy="9640"/>
          </a:xfrm>
          <a:prstGeom prst="straightConnector1">
            <a:avLst/>
          </a:prstGeom>
          <a:ln w="25400"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!!Rettangolo con angoli in alto arrotondati 71">
            <a:extLst>
              <a:ext uri="{FF2B5EF4-FFF2-40B4-BE49-F238E27FC236}">
                <a16:creationId xmlns:a16="http://schemas.microsoft.com/office/drawing/2014/main" id="{C30C20A1-CB2F-B4F7-81EF-BAA43C363216}"/>
              </a:ext>
            </a:extLst>
          </p:cNvPr>
          <p:cNvSpPr/>
          <p:nvPr/>
        </p:nvSpPr>
        <p:spPr>
          <a:xfrm>
            <a:off x="3799001" y="5878738"/>
            <a:ext cx="5608949" cy="1365121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!!CasellaDiTesto 72">
            <a:extLst>
              <a:ext uri="{FF2B5EF4-FFF2-40B4-BE49-F238E27FC236}">
                <a16:creationId xmlns:a16="http://schemas.microsoft.com/office/drawing/2014/main" id="{5FAA2129-F6E0-FDC3-7E1C-F73256149CE8}"/>
              </a:ext>
            </a:extLst>
          </p:cNvPr>
          <p:cNvSpPr txBox="1"/>
          <p:nvPr/>
        </p:nvSpPr>
        <p:spPr>
          <a:xfrm>
            <a:off x="3812614" y="5992628"/>
            <a:ext cx="55171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💡 L’intento di questa operazione è stato rimuovere i primi DUPLICATI informativi</a:t>
            </a:r>
          </a:p>
        </p:txBody>
      </p:sp>
      <p:pic>
        <p:nvPicPr>
          <p:cNvPr id="3" name="Immagine 2" descr="Immagine che contiene cerchio, bianco e nero&#10;&#10;Il contenuto generato dall'IA potrebbe non essere corretto.">
            <a:hlinkClick r:id="rId14" action="ppaction://hlinksldjump"/>
            <a:extLst>
              <a:ext uri="{FF2B5EF4-FFF2-40B4-BE49-F238E27FC236}">
                <a16:creationId xmlns:a16="http://schemas.microsoft.com/office/drawing/2014/main" id="{02341185-EC25-1FF5-F800-9A3C3BF184E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4" name="Immagine 3" descr="Immagine che contiene schermata, Rettangolo, design&#10;&#10;Il contenuto generato dall'IA potrebbe non essere corretto.">
            <a:hlinkClick r:id="rId16" action="ppaction://hlinksldjump"/>
            <a:extLst>
              <a:ext uri="{FF2B5EF4-FFF2-40B4-BE49-F238E27FC236}">
                <a16:creationId xmlns:a16="http://schemas.microsoft.com/office/drawing/2014/main" id="{297996AD-DC32-F97F-9FAA-971B7C125230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5" name="Immagine 4" descr="Immagine che contiene ingranaggio, oggetti in metallo, cerchio, ruota&#10;&#10;Il contenuto generato dall'IA potrebbe non essere corretto.">
            <a:hlinkClick r:id="rId18" action="ppaction://hlinksldjump"/>
            <a:extLst>
              <a:ext uri="{FF2B5EF4-FFF2-40B4-BE49-F238E27FC236}">
                <a16:creationId xmlns:a16="http://schemas.microsoft.com/office/drawing/2014/main" id="{30C191EA-86BF-4CAA-EE74-37B57D141B80}"/>
              </a:ext>
            </a:extLst>
          </p:cNvPr>
          <p:cNvPicPr>
            <a:picLocks noChangeAspect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7" name="Immagine 6" descr="Immagine che contiene bianco, Utensile da cucina, bianco e nero, monocromatico&#10;&#10;Il contenuto generato dall'IA potrebbe non essere corretto.">
            <a:hlinkClick r:id="rId20" action="ppaction://hlinksldjump"/>
            <a:extLst>
              <a:ext uri="{FF2B5EF4-FFF2-40B4-BE49-F238E27FC236}">
                <a16:creationId xmlns:a16="http://schemas.microsoft.com/office/drawing/2014/main" id="{7D658C06-471C-C653-A257-F9D525FF3F81}"/>
              </a:ext>
            </a:extLst>
          </p:cNvPr>
          <p:cNvPicPr>
            <a:picLocks noChangeAspect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8" name="Immagine 7" descr="Immagine che contiene arte, bianco e nero&#10;&#10;Il contenuto generato dall'IA potrebbe non essere corretto.">
            <a:hlinkClick r:id="rId22" action="ppaction://hlinksldjump"/>
            <a:extLst>
              <a:ext uri="{FF2B5EF4-FFF2-40B4-BE49-F238E27FC236}">
                <a16:creationId xmlns:a16="http://schemas.microsoft.com/office/drawing/2014/main" id="{7AC9952D-8701-A075-7700-7C62EFAA618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9" name="Immagine 8" descr="Immagine che contiene design, linea, bianco, Rettangolo&#10;&#10;Il contenuto generato dall'IA potrebbe non essere corretto.">
            <a:hlinkClick r:id="rId24" action="ppaction://hlinksldjump"/>
            <a:extLst>
              <a:ext uri="{FF2B5EF4-FFF2-40B4-BE49-F238E27FC236}">
                <a16:creationId xmlns:a16="http://schemas.microsoft.com/office/drawing/2014/main" id="{1E2A1693-8FFC-023D-A4EA-60D6A943B92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10" name="Immagine 9" descr="Immagine che contiene triangolo&#10;&#10;Il contenuto generato dall'IA potrebbe non essere corretto.">
            <a:hlinkClick r:id="rId26" action="ppaction://hlinksldjump"/>
            <a:extLst>
              <a:ext uri="{FF2B5EF4-FFF2-40B4-BE49-F238E27FC236}">
                <a16:creationId xmlns:a16="http://schemas.microsoft.com/office/drawing/2014/main" id="{68AFED8A-B951-39B5-3E80-E4BE98E4444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1" name="Immagine 10" descr="Immagine che contiene schermata, design&#10;&#10;Il contenuto generato dall'IA potrebbe non essere corretto.">
            <a:hlinkClick r:id="rId28" action="ppaction://hlinksldjump"/>
            <a:extLst>
              <a:ext uri="{FF2B5EF4-FFF2-40B4-BE49-F238E27FC236}">
                <a16:creationId xmlns:a16="http://schemas.microsoft.com/office/drawing/2014/main" id="{CC2D9F78-A33A-77E0-040A-7A7770F9815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sp>
        <p:nvSpPr>
          <p:cNvPr id="19" name="Connettore 18">
            <a:extLst>
              <a:ext uri="{FF2B5EF4-FFF2-40B4-BE49-F238E27FC236}">
                <a16:creationId xmlns:a16="http://schemas.microsoft.com/office/drawing/2014/main" id="{5B036723-A648-A2A3-3D6E-A04B795418C3}"/>
              </a:ext>
            </a:extLst>
          </p:cNvPr>
          <p:cNvSpPr/>
          <p:nvPr/>
        </p:nvSpPr>
        <p:spPr>
          <a:xfrm>
            <a:off x="1787884" y="2787683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onnettore 20">
            <a:extLst>
              <a:ext uri="{FF2B5EF4-FFF2-40B4-BE49-F238E27FC236}">
                <a16:creationId xmlns:a16="http://schemas.microsoft.com/office/drawing/2014/main" id="{7BF0E785-0F70-0AE6-4846-DE62D29E3B34}"/>
              </a:ext>
            </a:extLst>
          </p:cNvPr>
          <p:cNvSpPr/>
          <p:nvPr/>
        </p:nvSpPr>
        <p:spPr>
          <a:xfrm>
            <a:off x="1787884" y="4144128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7B80973-EC9D-D50C-F3E3-46EC6FA5082B}"/>
              </a:ext>
            </a:extLst>
          </p:cNvPr>
          <p:cNvSpPr txBox="1"/>
          <p:nvPr/>
        </p:nvSpPr>
        <p:spPr>
          <a:xfrm>
            <a:off x="8626048" y="4989423"/>
            <a:ext cx="31983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7.419</a:t>
            </a:r>
            <a:r>
              <a:rPr lang="it-IT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osservazioni</a:t>
            </a:r>
          </a:p>
        </p:txBody>
      </p:sp>
      <p:pic>
        <p:nvPicPr>
          <p:cNvPr id="25" name="Immagine 24" descr="Immagine che contiene testo, elettronica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84765864-2F61-0D9F-21D4-7E276D4FD93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540857" y="7343472"/>
            <a:ext cx="7727291" cy="5269454"/>
          </a:xfrm>
          <a:prstGeom prst="rect">
            <a:avLst/>
          </a:prstGeom>
          <a:effectLst>
            <a:glow rad="152400">
              <a:srgbClr val="FF4655">
                <a:alpha val="45000"/>
              </a:srgbClr>
            </a:glow>
          </a:effectLst>
        </p:spPr>
      </p:pic>
      <p:sp>
        <p:nvSpPr>
          <p:cNvPr id="26" name="Parentesi graffa chiusa 25">
            <a:extLst>
              <a:ext uri="{FF2B5EF4-FFF2-40B4-BE49-F238E27FC236}">
                <a16:creationId xmlns:a16="http://schemas.microsoft.com/office/drawing/2014/main" id="{ED66EDC9-6FCB-8018-012B-B7BB450F69D8}"/>
              </a:ext>
            </a:extLst>
          </p:cNvPr>
          <p:cNvSpPr/>
          <p:nvPr/>
        </p:nvSpPr>
        <p:spPr>
          <a:xfrm>
            <a:off x="9543250" y="9788804"/>
            <a:ext cx="628650" cy="2824122"/>
          </a:xfrm>
          <a:prstGeom prst="rightBrace">
            <a:avLst>
              <a:gd name="adj1" fmla="val 38636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Parentesi graffa chiusa 26">
            <a:extLst>
              <a:ext uri="{FF2B5EF4-FFF2-40B4-BE49-F238E27FC236}">
                <a16:creationId xmlns:a16="http://schemas.microsoft.com/office/drawing/2014/main" id="{22189D0F-3098-C5A1-2D4F-8F2757B9FB56}"/>
              </a:ext>
            </a:extLst>
          </p:cNvPr>
          <p:cNvSpPr/>
          <p:nvPr/>
        </p:nvSpPr>
        <p:spPr>
          <a:xfrm>
            <a:off x="9543250" y="7636153"/>
            <a:ext cx="628650" cy="2057401"/>
          </a:xfrm>
          <a:prstGeom prst="rightBrace">
            <a:avLst>
              <a:gd name="adj1" fmla="val 38636"/>
              <a:gd name="adj2" fmla="val 5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8EAFD90-A322-8532-6542-3B60F90CA185}"/>
              </a:ext>
            </a:extLst>
          </p:cNvPr>
          <p:cNvSpPr txBox="1"/>
          <p:nvPr/>
        </p:nvSpPr>
        <p:spPr>
          <a:xfrm>
            <a:off x="10248688" y="8467607"/>
            <a:ext cx="1582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effectLst>
                  <a:glow rad="127000">
                    <a:srgbClr val="00B050">
                      <a:alpha val="5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TENUTE </a:t>
            </a:r>
            <a:r>
              <a:rPr lang="it-IT" sz="2400" dirty="0">
                <a:solidFill>
                  <a:schemeClr val="bg1"/>
                </a:solidFill>
                <a:effectLst>
                  <a:glow rad="127000">
                    <a:srgbClr val="00B050">
                      <a:alpha val="5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(16)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34DE84F-BA9D-AC93-0524-05C367B749E2}"/>
              </a:ext>
            </a:extLst>
          </p:cNvPr>
          <p:cNvSpPr txBox="1"/>
          <p:nvPr/>
        </p:nvSpPr>
        <p:spPr>
          <a:xfrm>
            <a:off x="10229438" y="10996199"/>
            <a:ext cx="1888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effectLst>
                  <a:glow rad="127000">
                    <a:srgbClr val="FF0000">
                      <a:alpha val="5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SCARTATE </a:t>
            </a:r>
            <a:r>
              <a:rPr lang="it-IT" sz="2400" dirty="0">
                <a:solidFill>
                  <a:schemeClr val="bg1"/>
                </a:solidFill>
                <a:effectLst>
                  <a:glow rad="127000">
                    <a:srgbClr val="FF0000">
                      <a:alpha val="5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(23)</a:t>
            </a:r>
          </a:p>
        </p:txBody>
      </p:sp>
      <p:sp>
        <p:nvSpPr>
          <p:cNvPr id="33" name="!!Rettangolo con angoli in alto arrotondati 16">
            <a:extLst>
              <a:ext uri="{FF2B5EF4-FFF2-40B4-BE49-F238E27FC236}">
                <a16:creationId xmlns:a16="http://schemas.microsoft.com/office/drawing/2014/main" id="{B8C68797-5638-31B1-9DD8-797E6A96C900}"/>
              </a:ext>
            </a:extLst>
          </p:cNvPr>
          <p:cNvSpPr/>
          <p:nvPr/>
        </p:nvSpPr>
        <p:spPr>
          <a:xfrm flipV="1">
            <a:off x="12437750" y="-202090"/>
            <a:ext cx="3264325" cy="861774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ECEFC525-E482-4255-5F71-A15EE5EBF946}"/>
              </a:ext>
            </a:extLst>
          </p:cNvPr>
          <p:cNvSpPr txBox="1"/>
          <p:nvPr/>
        </p:nvSpPr>
        <p:spPr>
          <a:xfrm>
            <a:off x="12437750" y="69593"/>
            <a:ext cx="23117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💡 Aggiunta anche della variabile binaria «</a:t>
            </a:r>
            <a:r>
              <a:rPr lang="it-IT" sz="14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Win</a:t>
            </a:r>
            <a:r>
              <a:rPr lang="it-IT" sz="1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»</a:t>
            </a:r>
          </a:p>
          <a:p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1456156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34CF2-85DC-A5ED-7644-78AF5F465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uppo 67">
            <a:extLst>
              <a:ext uri="{FF2B5EF4-FFF2-40B4-BE49-F238E27FC236}">
                <a16:creationId xmlns:a16="http://schemas.microsoft.com/office/drawing/2014/main" id="{EE3A4612-651D-66D9-D490-31FF0F948804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F2F9C533-583A-B55B-D5D5-1A1966A239A6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DDAC2A0D-E78B-81AF-440C-EB37B0F6DA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22CF8482-EC1E-8728-F8C9-A489C6F72D13}"/>
              </a:ext>
            </a:extLst>
          </p:cNvPr>
          <p:cNvGrpSpPr/>
          <p:nvPr/>
        </p:nvGrpSpPr>
        <p:grpSpPr>
          <a:xfrm>
            <a:off x="638088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09D8B531-E57C-B826-701E-6EBF384834A5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DB595DE4-A43A-6C72-3A13-C6F60C454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A0C4B4D8-0251-C75A-8BEF-5454D4558EA4}"/>
              </a:ext>
            </a:extLst>
          </p:cNvPr>
          <p:cNvGrpSpPr/>
          <p:nvPr/>
        </p:nvGrpSpPr>
        <p:grpSpPr>
          <a:xfrm>
            <a:off x="-694716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65331CCE-5759-3080-3FF8-DC129AF74304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77AC88C1-171E-F5B2-884F-4710E241F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E4755E31-B17E-8D6A-1698-56AD34922CA9}"/>
              </a:ext>
            </a:extLst>
          </p:cNvPr>
          <p:cNvGrpSpPr/>
          <p:nvPr/>
        </p:nvGrpSpPr>
        <p:grpSpPr>
          <a:xfrm>
            <a:off x="-676624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7D89510C-9CD0-BE47-0CEC-E24B0E5F5E5B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B23196EC-A539-CDC7-F93C-EA50AA57D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B5210BD9-F5B8-AC68-62FB-91E08175D919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160C7195-5439-0320-A42B-3183003950C8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C59721CE-C43A-96DE-1991-A1A70EBFA0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2B5E73B2-3B77-B576-046C-8AD4CD90144F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23795FB7-CE23-554C-E850-FF9379ACBD1D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3D60952F-9C0F-AD48-AC69-44EA6386C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D3A85CED-FC6F-B09B-301F-8F440A0C8B2C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B5E4FE80-9820-DA35-D911-292BCB78EC8A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653F4FED-FEF7-FA88-BB7D-D1C743E13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9B13026B-9405-A466-D1C8-55D1E53357DB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2607A396-7BC2-E3CB-DA57-87E8C0CF1534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A05089F0-94A0-6D99-FC88-674ACA45F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E7F310A0-1828-71A8-C494-D51ABDDB7A51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C1AFC018-7F4F-7898-2652-6FA5A1149614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B3E79E5F-AADB-315A-877F-68607662A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B13ECAB1-82CD-22C4-EA6E-443B3249B36A}"/>
              </a:ext>
            </a:extLst>
          </p:cNvPr>
          <p:cNvSpPr/>
          <p:nvPr/>
        </p:nvSpPr>
        <p:spPr>
          <a:xfrm rot="10800000">
            <a:off x="2838" y="-803670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8" name="Immagine 17" descr="Immagine che contiene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15830CDC-DF21-9775-3E4D-54CC46A52900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6B1C82B-165B-66A8-F33E-DFB448F00B7F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Scrematura delle variabili</a:t>
            </a:r>
          </a:p>
        </p:txBody>
      </p:sp>
      <p:pic>
        <p:nvPicPr>
          <p:cNvPr id="5" name="Immagine 4" descr="Immagine che contiene testo, elettronica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CA572CC1-231E-8492-7AA8-8CFBBDC6E8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0857" y="1202543"/>
            <a:ext cx="7727291" cy="5269454"/>
          </a:xfrm>
          <a:prstGeom prst="rect">
            <a:avLst/>
          </a:prstGeom>
          <a:effectLst>
            <a:glow rad="152400">
              <a:srgbClr val="FF4655">
                <a:alpha val="45000"/>
              </a:srgbClr>
            </a:glow>
          </a:effectLst>
        </p:spPr>
      </p:pic>
      <p:sp>
        <p:nvSpPr>
          <p:cNvPr id="10" name="Parentesi graffa chiusa 9">
            <a:extLst>
              <a:ext uri="{FF2B5EF4-FFF2-40B4-BE49-F238E27FC236}">
                <a16:creationId xmlns:a16="http://schemas.microsoft.com/office/drawing/2014/main" id="{D2D51DF0-B94D-05AE-5827-41555D8061A6}"/>
              </a:ext>
            </a:extLst>
          </p:cNvPr>
          <p:cNvSpPr/>
          <p:nvPr/>
        </p:nvSpPr>
        <p:spPr>
          <a:xfrm>
            <a:off x="9543250" y="3647875"/>
            <a:ext cx="628650" cy="2824122"/>
          </a:xfrm>
          <a:prstGeom prst="rightBrace">
            <a:avLst>
              <a:gd name="adj1" fmla="val 38636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Parentesi graffa chiusa 10">
            <a:extLst>
              <a:ext uri="{FF2B5EF4-FFF2-40B4-BE49-F238E27FC236}">
                <a16:creationId xmlns:a16="http://schemas.microsoft.com/office/drawing/2014/main" id="{37459F9D-7F63-22F2-3408-F5E6EF2FC540}"/>
              </a:ext>
            </a:extLst>
          </p:cNvPr>
          <p:cNvSpPr/>
          <p:nvPr/>
        </p:nvSpPr>
        <p:spPr>
          <a:xfrm>
            <a:off x="9543250" y="1495224"/>
            <a:ext cx="628650" cy="2057401"/>
          </a:xfrm>
          <a:prstGeom prst="rightBrace">
            <a:avLst>
              <a:gd name="adj1" fmla="val 38636"/>
              <a:gd name="adj2" fmla="val 50000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B66D9AB-6724-1536-D827-2CFCD1B48BA1}"/>
              </a:ext>
            </a:extLst>
          </p:cNvPr>
          <p:cNvSpPr txBox="1"/>
          <p:nvPr/>
        </p:nvSpPr>
        <p:spPr>
          <a:xfrm>
            <a:off x="10248688" y="2326678"/>
            <a:ext cx="1582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effectLst>
                  <a:glow rad="127000">
                    <a:srgbClr val="00B050">
                      <a:alpha val="5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TENUTE </a:t>
            </a:r>
            <a:r>
              <a:rPr lang="it-IT" sz="2400" dirty="0">
                <a:solidFill>
                  <a:schemeClr val="bg1"/>
                </a:solidFill>
                <a:effectLst>
                  <a:glow rad="127000">
                    <a:srgbClr val="00B050">
                      <a:alpha val="5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(16)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1B2F96B6-E779-C590-97EB-8BB618862B26}"/>
              </a:ext>
            </a:extLst>
          </p:cNvPr>
          <p:cNvSpPr txBox="1"/>
          <p:nvPr/>
        </p:nvSpPr>
        <p:spPr>
          <a:xfrm>
            <a:off x="10229438" y="4855270"/>
            <a:ext cx="1888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effectLst>
                  <a:glow rad="127000">
                    <a:srgbClr val="FF0000">
                      <a:alpha val="5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SCARTATE </a:t>
            </a:r>
            <a:r>
              <a:rPr lang="it-IT" sz="2400" dirty="0">
                <a:solidFill>
                  <a:schemeClr val="bg1"/>
                </a:solidFill>
                <a:effectLst>
                  <a:glow rad="127000">
                    <a:srgbClr val="FF0000">
                      <a:alpha val="5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(23)</a:t>
            </a:r>
          </a:p>
        </p:txBody>
      </p:sp>
      <p:sp>
        <p:nvSpPr>
          <p:cNvPr id="17" name="!!Rettangolo con angoli in alto arrotondati 16">
            <a:extLst>
              <a:ext uri="{FF2B5EF4-FFF2-40B4-BE49-F238E27FC236}">
                <a16:creationId xmlns:a16="http://schemas.microsoft.com/office/drawing/2014/main" id="{DAF9DCCC-505B-9330-D9D8-A68515092662}"/>
              </a:ext>
            </a:extLst>
          </p:cNvPr>
          <p:cNvSpPr/>
          <p:nvPr/>
        </p:nvSpPr>
        <p:spPr>
          <a:xfrm flipV="1">
            <a:off x="9877425" y="-202090"/>
            <a:ext cx="3264325" cy="861774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D904C7A-1C4F-848B-E87C-0EE361D3B789}"/>
              </a:ext>
            </a:extLst>
          </p:cNvPr>
          <p:cNvSpPr txBox="1"/>
          <p:nvPr/>
        </p:nvSpPr>
        <p:spPr>
          <a:xfrm>
            <a:off x="9877425" y="69593"/>
            <a:ext cx="23117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💡 Aggiunta anche della variabile binaria «</a:t>
            </a:r>
            <a:r>
              <a:rPr lang="it-IT" sz="14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Win</a:t>
            </a:r>
            <a:r>
              <a:rPr lang="it-IT" sz="1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»</a:t>
            </a:r>
          </a:p>
          <a:p>
            <a:endParaRPr lang="it-IT" sz="1400" dirty="0"/>
          </a:p>
        </p:txBody>
      </p:sp>
      <p:pic>
        <p:nvPicPr>
          <p:cNvPr id="3" name="Immagine 2" descr="Immagine che contiene cerchio, bianco e nero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D3DBDF32-55CF-E929-889A-6AA06E748C1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4" name="Immagine 3" descr="Immagine che contiene schermata, Rettangolo, design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58CFD084-D3AF-F87D-1999-044F16DA550F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7" name="Immagine 6" descr="Immagine che contiene ingranaggio, oggetti in metallo, cerchio, ruota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A7E3B900-9D2C-2575-0E2C-0BE1B23A96F1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8" name="Immagine 7" descr="Immagine che contiene bianco, Utensile da cucina, bianco e nero, monocromatic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A5A5DE6A-32DF-BE7B-8541-29DBE5CE3AAC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9" name="Immagine 8" descr="Immagine che contiene arte, bianco e ner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0D705019-B188-6913-F7A9-F0CC9C6433D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21" name="Immagine 20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1461E94B-8849-CD85-939C-86A85A17ADE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23" name="Immagine 22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C7999AC1-E588-27FE-00FB-77C5667479C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25" name="Immagine 24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217E8EA3-71DA-445A-FD4F-F961CB3AEC3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sp>
        <p:nvSpPr>
          <p:cNvPr id="14" name="Rettangolo con angoli in alto arrotondati 13">
            <a:extLst>
              <a:ext uri="{FF2B5EF4-FFF2-40B4-BE49-F238E27FC236}">
                <a16:creationId xmlns:a16="http://schemas.microsoft.com/office/drawing/2014/main" id="{A9CF7937-C9D2-ACD0-8AF7-43C38232AE8B}"/>
              </a:ext>
            </a:extLst>
          </p:cNvPr>
          <p:cNvSpPr/>
          <p:nvPr/>
        </p:nvSpPr>
        <p:spPr>
          <a:xfrm>
            <a:off x="3680770" y="7326996"/>
            <a:ext cx="5871805" cy="1365121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0D39E04-B9B6-B410-4B45-AE307F505D14}"/>
              </a:ext>
            </a:extLst>
          </p:cNvPr>
          <p:cNvSpPr txBox="1"/>
          <p:nvPr/>
        </p:nvSpPr>
        <p:spPr>
          <a:xfrm>
            <a:off x="3738900" y="7340272"/>
            <a:ext cx="57294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💡 Situazione attuale: </a:t>
            </a:r>
            <a:r>
              <a:rPr lang="it-IT" sz="2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260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osservazioni, </a:t>
            </a:r>
            <a:r>
              <a:rPr lang="it-IT" sz="2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14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variabili</a:t>
            </a:r>
          </a:p>
          <a:p>
            <a:endParaRPr lang="it-IT" dirty="0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33B4B24F-E172-5C92-7AB7-1A172F96CC49}"/>
              </a:ext>
            </a:extLst>
          </p:cNvPr>
          <p:cNvSpPr/>
          <p:nvPr/>
        </p:nvSpPr>
        <p:spPr>
          <a:xfrm>
            <a:off x="-6446920" y="3123274"/>
            <a:ext cx="5208738" cy="802841"/>
          </a:xfrm>
          <a:prstGeom prst="ellipse">
            <a:avLst/>
          </a:prstGeom>
          <a:noFill/>
          <a:ln w="28575">
            <a:solidFill>
              <a:srgbClr val="C13A4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7" name="Elemento grafico 26" descr="Figura disegnata con riempimento a tinta unita">
            <a:extLst>
              <a:ext uri="{FF2B5EF4-FFF2-40B4-BE49-F238E27FC236}">
                <a16:creationId xmlns:a16="http://schemas.microsoft.com/office/drawing/2014/main" id="{58F04DA5-E69B-3D5D-7890-6B560FAC9FF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4789566" y="1229809"/>
            <a:ext cx="1492291" cy="1492291"/>
          </a:xfrm>
          <a:prstGeom prst="rect">
            <a:avLst/>
          </a:prstGeom>
          <a:effectLst>
            <a:glow rad="127000">
              <a:srgbClr val="FF4655"/>
            </a:glow>
          </a:effectLst>
        </p:spPr>
      </p:pic>
      <p:pic>
        <p:nvPicPr>
          <p:cNvPr id="29" name="Elemento grafico 28" descr="Figura disegnata con riempimento a tinta unita">
            <a:extLst>
              <a:ext uri="{FF2B5EF4-FFF2-40B4-BE49-F238E27FC236}">
                <a16:creationId xmlns:a16="http://schemas.microsoft.com/office/drawing/2014/main" id="{31124BC0-96B8-4823-10D4-EC43149C705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5975773" y="4880189"/>
            <a:ext cx="1186207" cy="1186207"/>
          </a:xfrm>
          <a:prstGeom prst="rect">
            <a:avLst/>
          </a:prstGeom>
          <a:effectLst>
            <a:glow rad="127000">
              <a:srgbClr val="FF4655"/>
            </a:glow>
          </a:effectLst>
        </p:spPr>
      </p:pic>
      <p:pic>
        <p:nvPicPr>
          <p:cNvPr id="30" name="Elemento grafico 29" descr="Figura disegnata con riempimento a tinta unita">
            <a:extLst>
              <a:ext uri="{FF2B5EF4-FFF2-40B4-BE49-F238E27FC236}">
                <a16:creationId xmlns:a16="http://schemas.microsoft.com/office/drawing/2014/main" id="{11457912-98D9-3D50-9DDD-9ADE5FA94D7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4717010" y="4874361"/>
            <a:ext cx="1186207" cy="1186207"/>
          </a:xfrm>
          <a:prstGeom prst="rect">
            <a:avLst/>
          </a:prstGeom>
          <a:effectLst>
            <a:glow rad="127000">
              <a:srgbClr val="FF4655"/>
            </a:glow>
          </a:effectLst>
        </p:spPr>
      </p:pic>
      <p:pic>
        <p:nvPicPr>
          <p:cNvPr id="31" name="Elemento grafico 30" descr="Figura disegnata con riempimento a tinta unita">
            <a:extLst>
              <a:ext uri="{FF2B5EF4-FFF2-40B4-BE49-F238E27FC236}">
                <a16:creationId xmlns:a16="http://schemas.microsoft.com/office/drawing/2014/main" id="{A1CE703B-5A70-C6D7-6D4B-7E0ABF727A1D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3350303" y="4874361"/>
            <a:ext cx="1186207" cy="1186207"/>
          </a:xfrm>
          <a:prstGeom prst="rect">
            <a:avLst/>
          </a:prstGeom>
          <a:effectLst>
            <a:glow rad="127000">
              <a:srgbClr val="FF4655"/>
            </a:glow>
          </a:effectLst>
        </p:spPr>
      </p:pic>
      <p:pic>
        <p:nvPicPr>
          <p:cNvPr id="33" name="Elemento grafico 32" descr="Figura disegnata con riempimento a tinta unita">
            <a:extLst>
              <a:ext uri="{FF2B5EF4-FFF2-40B4-BE49-F238E27FC236}">
                <a16:creationId xmlns:a16="http://schemas.microsoft.com/office/drawing/2014/main" id="{54C80D38-87DE-3CE7-3E6B-8E9BCB8AB17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5274725" y="4374470"/>
            <a:ext cx="1186207" cy="1186207"/>
          </a:xfrm>
          <a:prstGeom prst="rect">
            <a:avLst/>
          </a:prstGeom>
          <a:effectLst>
            <a:glow rad="127000">
              <a:srgbClr val="FF4655"/>
            </a:glow>
          </a:effectLst>
        </p:spPr>
      </p:pic>
      <p:pic>
        <p:nvPicPr>
          <p:cNvPr id="34" name="Elemento grafico 33" descr="Figura disegnata con riempimento a tinta unita">
            <a:extLst>
              <a:ext uri="{FF2B5EF4-FFF2-40B4-BE49-F238E27FC236}">
                <a16:creationId xmlns:a16="http://schemas.microsoft.com/office/drawing/2014/main" id="{C3D25882-0C68-1471-9ED3-59CF2522D6A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4015962" y="4338825"/>
            <a:ext cx="1186207" cy="1186207"/>
          </a:xfrm>
          <a:prstGeom prst="rect">
            <a:avLst/>
          </a:prstGeom>
          <a:effectLst>
            <a:glow rad="127000">
              <a:srgbClr val="FF4655"/>
            </a:glow>
          </a:effectLst>
        </p:spPr>
      </p:pic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7920F1CB-CD2C-3652-9194-6A05F78AABD8}"/>
              </a:ext>
            </a:extLst>
          </p:cNvPr>
          <p:cNvCxnSpPr>
            <a:cxnSpLocks/>
          </p:cNvCxnSpPr>
          <p:nvPr/>
        </p:nvCxnSpPr>
        <p:spPr>
          <a:xfrm>
            <a:off x="-3274866" y="2106068"/>
            <a:ext cx="2288419" cy="0"/>
          </a:xfrm>
          <a:prstGeom prst="straightConnector1">
            <a:avLst/>
          </a:prstGeom>
          <a:ln w="25400"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EFFC01A0-D604-41D1-3A88-980B3CF9178C}"/>
              </a:ext>
            </a:extLst>
          </p:cNvPr>
          <p:cNvCxnSpPr>
            <a:cxnSpLocks/>
          </p:cNvCxnSpPr>
          <p:nvPr/>
        </p:nvCxnSpPr>
        <p:spPr>
          <a:xfrm flipH="1">
            <a:off x="-1952499" y="5350509"/>
            <a:ext cx="966052" cy="0"/>
          </a:xfrm>
          <a:prstGeom prst="straightConnector1">
            <a:avLst/>
          </a:prstGeom>
          <a:ln w="25400"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C3B2933E-815F-AA80-7F68-EE69FDBA9B78}"/>
              </a:ext>
            </a:extLst>
          </p:cNvPr>
          <p:cNvSpPr txBox="1"/>
          <p:nvPr/>
        </p:nvSpPr>
        <p:spPr>
          <a:xfrm>
            <a:off x="-6230297" y="3345796"/>
            <a:ext cx="4708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Cambio di </a:t>
            </a:r>
            <a:r>
              <a:rPr lang="it-IT" i="1" dirty="0">
                <a:solidFill>
                  <a:schemeClr val="bg1"/>
                </a:solidFill>
              </a:rPr>
              <a:t>unità statistica</a:t>
            </a:r>
            <a:r>
              <a:rPr lang="it-IT" dirty="0">
                <a:solidFill>
                  <a:schemeClr val="bg1"/>
                </a:solidFill>
              </a:rPr>
              <a:t>: dal singolo al </a:t>
            </a:r>
            <a:r>
              <a:rPr lang="it-IT" b="1" dirty="0">
                <a:solidFill>
                  <a:schemeClr val="bg1"/>
                </a:solidFill>
              </a:rPr>
              <a:t>team</a:t>
            </a:r>
          </a:p>
        </p:txBody>
      </p: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2E16845B-4418-7EFE-2A7D-44F4B6F39104}"/>
              </a:ext>
            </a:extLst>
          </p:cNvPr>
          <p:cNvCxnSpPr>
            <a:cxnSpLocks/>
          </p:cNvCxnSpPr>
          <p:nvPr/>
        </p:nvCxnSpPr>
        <p:spPr>
          <a:xfrm>
            <a:off x="-1238182" y="3530462"/>
            <a:ext cx="756217" cy="0"/>
          </a:xfrm>
          <a:prstGeom prst="line">
            <a:avLst/>
          </a:prstGeom>
          <a:ln w="25400">
            <a:solidFill>
              <a:srgbClr val="C13A4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!!Mio">
            <a:extLst>
              <a:ext uri="{FF2B5EF4-FFF2-40B4-BE49-F238E27FC236}">
                <a16:creationId xmlns:a16="http://schemas.microsoft.com/office/drawing/2014/main" id="{775E3795-8DAD-FCF2-B476-B79FBC849D9F}"/>
              </a:ext>
            </a:extLst>
          </p:cNvPr>
          <p:cNvSpPr/>
          <p:nvPr/>
        </p:nvSpPr>
        <p:spPr>
          <a:xfrm>
            <a:off x="12579539" y="1507661"/>
            <a:ext cx="4336200" cy="4407363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186FB4CE-08E3-11F6-180C-E6F8778C45FB}"/>
              </a:ext>
            </a:extLst>
          </p:cNvPr>
          <p:cNvSpPr txBox="1"/>
          <p:nvPr/>
        </p:nvSpPr>
        <p:spPr>
          <a:xfrm>
            <a:off x="13047059" y="1724290"/>
            <a:ext cx="37265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Risoluzione della ridondanza dei duelli</a:t>
            </a:r>
          </a:p>
          <a:p>
            <a:endParaRPr lang="it-IT" sz="24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Trattamento delle stringhe</a:t>
            </a:r>
          </a:p>
          <a:p>
            <a:endParaRPr lang="it-IT" sz="24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Definizione delle chiavi di aggregazione</a:t>
            </a:r>
          </a:p>
          <a:p>
            <a:endParaRPr lang="it-IT" sz="24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Distinzione tra medie e somme</a:t>
            </a:r>
          </a:p>
          <a:p>
            <a:endParaRPr lang="it-IT" sz="24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it-IT" sz="24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3" name="!!Connettore 52">
            <a:extLst>
              <a:ext uri="{FF2B5EF4-FFF2-40B4-BE49-F238E27FC236}">
                <a16:creationId xmlns:a16="http://schemas.microsoft.com/office/drawing/2014/main" id="{573D5E63-E5ED-6C67-1E15-2AE29AF8B7F3}"/>
              </a:ext>
            </a:extLst>
          </p:cNvPr>
          <p:cNvSpPr/>
          <p:nvPr/>
        </p:nvSpPr>
        <p:spPr>
          <a:xfrm>
            <a:off x="12852963" y="1917868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!!Connettore 58">
            <a:extLst>
              <a:ext uri="{FF2B5EF4-FFF2-40B4-BE49-F238E27FC236}">
                <a16:creationId xmlns:a16="http://schemas.microsoft.com/office/drawing/2014/main" id="{5F87813F-6CB9-28BC-F2FD-22BAB813D6CE}"/>
              </a:ext>
            </a:extLst>
          </p:cNvPr>
          <p:cNvSpPr/>
          <p:nvPr/>
        </p:nvSpPr>
        <p:spPr>
          <a:xfrm>
            <a:off x="12852963" y="3011314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!!Connettore 68">
            <a:extLst>
              <a:ext uri="{FF2B5EF4-FFF2-40B4-BE49-F238E27FC236}">
                <a16:creationId xmlns:a16="http://schemas.microsoft.com/office/drawing/2014/main" id="{CAFCA6AD-08A1-1D11-B13A-7654831A8D67}"/>
              </a:ext>
            </a:extLst>
          </p:cNvPr>
          <p:cNvSpPr/>
          <p:nvPr/>
        </p:nvSpPr>
        <p:spPr>
          <a:xfrm>
            <a:off x="12852963" y="4093750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0" name="!!Connettore 69">
            <a:extLst>
              <a:ext uri="{FF2B5EF4-FFF2-40B4-BE49-F238E27FC236}">
                <a16:creationId xmlns:a16="http://schemas.microsoft.com/office/drawing/2014/main" id="{18F58D73-B2A9-AE98-B58F-33D5B55DFAE5}"/>
              </a:ext>
            </a:extLst>
          </p:cNvPr>
          <p:cNvSpPr/>
          <p:nvPr/>
        </p:nvSpPr>
        <p:spPr>
          <a:xfrm>
            <a:off x="12852963" y="5185711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4431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5181FF-3D5B-8082-1D09-E62AB116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e 13">
            <a:extLst>
              <a:ext uri="{FF2B5EF4-FFF2-40B4-BE49-F238E27FC236}">
                <a16:creationId xmlns:a16="http://schemas.microsoft.com/office/drawing/2014/main" id="{36063958-DBEF-857F-3389-7B0CFA20206A}"/>
              </a:ext>
            </a:extLst>
          </p:cNvPr>
          <p:cNvSpPr/>
          <p:nvPr/>
        </p:nvSpPr>
        <p:spPr>
          <a:xfrm>
            <a:off x="1426553" y="3123274"/>
            <a:ext cx="5208738" cy="802841"/>
          </a:xfrm>
          <a:prstGeom prst="ellipse">
            <a:avLst/>
          </a:prstGeom>
          <a:noFill/>
          <a:ln w="28575">
            <a:solidFill>
              <a:srgbClr val="C13A4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ABE49A24-58C8-C51A-76AF-8C06C22B0C77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4B0BD0E3-CA5E-3F47-1E0F-05B5FB602C78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FB7C17C5-791E-9259-4DF6-0C362DB84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C69C75BF-9B15-89B1-81C7-DC770EF16EA1}"/>
              </a:ext>
            </a:extLst>
          </p:cNvPr>
          <p:cNvGrpSpPr/>
          <p:nvPr/>
        </p:nvGrpSpPr>
        <p:grpSpPr>
          <a:xfrm>
            <a:off x="638088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39CF794A-CC61-1580-53CA-73DB42759751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FF415EE4-D2B3-D7B3-332D-28B19B864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34F858C7-0761-8E8E-242F-91921BA6AE7F}"/>
              </a:ext>
            </a:extLst>
          </p:cNvPr>
          <p:cNvGrpSpPr/>
          <p:nvPr/>
        </p:nvGrpSpPr>
        <p:grpSpPr>
          <a:xfrm>
            <a:off x="-694716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9A646782-1F81-13AC-B328-918B7A5FBC91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C1D79DA2-0A68-4D0B-FB50-DDF3576E3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BEF41070-949A-545E-BA72-777C9D921D2E}"/>
              </a:ext>
            </a:extLst>
          </p:cNvPr>
          <p:cNvGrpSpPr/>
          <p:nvPr/>
        </p:nvGrpSpPr>
        <p:grpSpPr>
          <a:xfrm>
            <a:off x="-676624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6F862276-1A20-D382-FCCA-A57BB7E827C2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CD8B2436-C4EF-1095-E757-1E80B3D761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78BD3EF7-D3B3-43EE-43C9-13B73C1D9C31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1A47788A-FD8C-00A5-EE85-7C01F5CE997F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651114EB-06C4-D098-C811-5C01F2092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E702FEF5-6FA2-A9A1-AF4C-960AA0D43708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0715B278-75F3-E453-5804-4B29F2B50E11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93244AD8-7709-45E0-A4BB-B8434464C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5E6FB488-C959-CC2A-797D-1BF22242F6D6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E6FF2AFB-006F-26DD-31FE-7BE33AD58C23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51EB35E5-DC54-E212-86C9-C15DD78B4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0DF7C1A3-D758-1DFB-84EE-48911250336B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C36B4738-9503-C0B1-9B5D-358DAC9C98D6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101EE4D3-420B-0C91-DB63-67B903851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75F72B09-EDFD-7B90-0C8D-C0C449A048AE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1EBC832C-3ACF-6E7C-5556-78E2B9C93827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01B4894F-650F-8F72-B307-736A07070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405E296A-C1D9-D41D-C006-E396B7DCF8B0}"/>
              </a:ext>
            </a:extLst>
          </p:cNvPr>
          <p:cNvSpPr/>
          <p:nvPr/>
        </p:nvSpPr>
        <p:spPr>
          <a:xfrm rot="10800000">
            <a:off x="2838" y="-803670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8" name="Immagine 17" descr="Immagine che contiene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DC4EABA5-1829-7927-DF40-01F4705930C5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7A95C5B-F39E-0E4B-FE63-8BC501C7A711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Aggregazione dai dati per Team</a:t>
            </a:r>
          </a:p>
        </p:txBody>
      </p:sp>
      <p:pic>
        <p:nvPicPr>
          <p:cNvPr id="5" name="Elemento grafico 4" descr="Figura disegnata con riempimento a tinta unita">
            <a:extLst>
              <a:ext uri="{FF2B5EF4-FFF2-40B4-BE49-F238E27FC236}">
                <a16:creationId xmlns:a16="http://schemas.microsoft.com/office/drawing/2014/main" id="{9C8D5C22-A6EF-27A8-DD7D-F1FA3F201E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83907" y="1229809"/>
            <a:ext cx="1492291" cy="1492291"/>
          </a:xfrm>
          <a:prstGeom prst="rect">
            <a:avLst/>
          </a:prstGeom>
          <a:effectLst>
            <a:glow rad="127000">
              <a:srgbClr val="FF4655"/>
            </a:glow>
          </a:effectLst>
        </p:spPr>
      </p:pic>
      <p:pic>
        <p:nvPicPr>
          <p:cNvPr id="7" name="Elemento grafico 6" descr="Figura disegnata con riempimento a tinta unita">
            <a:extLst>
              <a:ext uri="{FF2B5EF4-FFF2-40B4-BE49-F238E27FC236}">
                <a16:creationId xmlns:a16="http://schemas.microsoft.com/office/drawing/2014/main" id="{377E1620-34C8-CEFC-90A6-D513F29B65F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97700" y="4880189"/>
            <a:ext cx="1186207" cy="1186207"/>
          </a:xfrm>
          <a:prstGeom prst="rect">
            <a:avLst/>
          </a:prstGeom>
          <a:effectLst>
            <a:glow rad="127000">
              <a:srgbClr val="FF4655"/>
            </a:glow>
          </a:effectLst>
        </p:spPr>
      </p:pic>
      <p:pic>
        <p:nvPicPr>
          <p:cNvPr id="8" name="Elemento grafico 7" descr="Figura disegnata con riempimento a tinta unita">
            <a:extLst>
              <a:ext uri="{FF2B5EF4-FFF2-40B4-BE49-F238E27FC236}">
                <a16:creationId xmlns:a16="http://schemas.microsoft.com/office/drawing/2014/main" id="{64F64024-08F9-2930-CDCE-0F5E74D2CB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56463" y="4874361"/>
            <a:ext cx="1186207" cy="1186207"/>
          </a:xfrm>
          <a:prstGeom prst="rect">
            <a:avLst/>
          </a:prstGeom>
          <a:effectLst>
            <a:glow rad="127000">
              <a:srgbClr val="FF4655"/>
            </a:glow>
          </a:effectLst>
        </p:spPr>
      </p:pic>
      <p:pic>
        <p:nvPicPr>
          <p:cNvPr id="9" name="Elemento grafico 8" descr="Figura disegnata con riempimento a tinta unita">
            <a:extLst>
              <a:ext uri="{FF2B5EF4-FFF2-40B4-BE49-F238E27FC236}">
                <a16:creationId xmlns:a16="http://schemas.microsoft.com/office/drawing/2014/main" id="{0165BAD6-F9BF-235E-7CEF-0711BC8D036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23170" y="4874361"/>
            <a:ext cx="1186207" cy="1186207"/>
          </a:xfrm>
          <a:prstGeom prst="rect">
            <a:avLst/>
          </a:prstGeom>
          <a:effectLst>
            <a:glow rad="127000">
              <a:srgbClr val="FF4655"/>
            </a:glow>
          </a:effectLst>
        </p:spPr>
      </p:pic>
      <p:pic>
        <p:nvPicPr>
          <p:cNvPr id="10" name="Elemento grafico 9" descr="Figura disegnata con riempimento a tinta unita">
            <a:extLst>
              <a:ext uri="{FF2B5EF4-FFF2-40B4-BE49-F238E27FC236}">
                <a16:creationId xmlns:a16="http://schemas.microsoft.com/office/drawing/2014/main" id="{CB791F95-F3F6-3D72-D91D-83175EA0476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98748" y="4374470"/>
            <a:ext cx="1186207" cy="1186207"/>
          </a:xfrm>
          <a:prstGeom prst="rect">
            <a:avLst/>
          </a:prstGeom>
          <a:effectLst>
            <a:glow rad="127000">
              <a:srgbClr val="FF4655"/>
            </a:glow>
          </a:effectLst>
        </p:spPr>
      </p:pic>
      <p:pic>
        <p:nvPicPr>
          <p:cNvPr id="11" name="Elemento grafico 10" descr="Figura disegnata con riempimento a tinta unita">
            <a:extLst>
              <a:ext uri="{FF2B5EF4-FFF2-40B4-BE49-F238E27FC236}">
                <a16:creationId xmlns:a16="http://schemas.microsoft.com/office/drawing/2014/main" id="{BCBC57C0-31E9-260E-74B4-8C66F836FC4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57511" y="4338825"/>
            <a:ext cx="1186207" cy="1186207"/>
          </a:xfrm>
          <a:prstGeom prst="rect">
            <a:avLst/>
          </a:prstGeom>
          <a:effectLst>
            <a:glow rad="127000">
              <a:srgbClr val="FF4655"/>
            </a:glow>
          </a:effectLst>
        </p:spPr>
      </p:pic>
      <p:cxnSp>
        <p:nvCxnSpPr>
          <p:cNvPr id="13" name="Connettore 2 12">
            <a:extLst>
              <a:ext uri="{FF2B5EF4-FFF2-40B4-BE49-F238E27FC236}">
                <a16:creationId xmlns:a16="http://schemas.microsoft.com/office/drawing/2014/main" id="{78E443A3-6D7A-DAD5-AD32-921FBEFA662A}"/>
              </a:ext>
            </a:extLst>
          </p:cNvPr>
          <p:cNvCxnSpPr>
            <a:cxnSpLocks/>
          </p:cNvCxnSpPr>
          <p:nvPr/>
        </p:nvCxnSpPr>
        <p:spPr>
          <a:xfrm>
            <a:off x="4598607" y="2106068"/>
            <a:ext cx="2288419" cy="0"/>
          </a:xfrm>
          <a:prstGeom prst="straightConnector1">
            <a:avLst/>
          </a:prstGeom>
          <a:ln w="25400"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!!Mio">
            <a:extLst>
              <a:ext uri="{FF2B5EF4-FFF2-40B4-BE49-F238E27FC236}">
                <a16:creationId xmlns:a16="http://schemas.microsoft.com/office/drawing/2014/main" id="{91A96E87-E6C6-E5D5-30C4-D3ED92504413}"/>
              </a:ext>
            </a:extLst>
          </p:cNvPr>
          <p:cNvSpPr/>
          <p:nvPr/>
        </p:nvSpPr>
        <p:spPr>
          <a:xfrm>
            <a:off x="7391508" y="1507661"/>
            <a:ext cx="4336200" cy="4407363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3C5DD15-4D07-80F4-BA81-03BA1F0F73F2}"/>
              </a:ext>
            </a:extLst>
          </p:cNvPr>
          <p:cNvSpPr txBox="1"/>
          <p:nvPr/>
        </p:nvSpPr>
        <p:spPr>
          <a:xfrm>
            <a:off x="7859028" y="1724290"/>
            <a:ext cx="372657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Risoluzione della ridondanza dei duelli</a:t>
            </a:r>
          </a:p>
          <a:p>
            <a:endParaRPr lang="it-IT" sz="24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Trattamento delle stringhe</a:t>
            </a:r>
          </a:p>
          <a:p>
            <a:endParaRPr lang="it-IT" sz="24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Definizione delle chiavi di aggregazione</a:t>
            </a:r>
          </a:p>
          <a:p>
            <a:endParaRPr lang="it-IT" sz="24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Distinzione tra medie e somme</a:t>
            </a:r>
          </a:p>
          <a:p>
            <a:endParaRPr lang="it-IT" sz="24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it-IT" sz="24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1" name="!!Connettore 52">
            <a:extLst>
              <a:ext uri="{FF2B5EF4-FFF2-40B4-BE49-F238E27FC236}">
                <a16:creationId xmlns:a16="http://schemas.microsoft.com/office/drawing/2014/main" id="{0D832E1E-B24F-CB88-A2AB-74DE9F22D7B1}"/>
              </a:ext>
            </a:extLst>
          </p:cNvPr>
          <p:cNvSpPr/>
          <p:nvPr/>
        </p:nvSpPr>
        <p:spPr>
          <a:xfrm>
            <a:off x="7664932" y="1917868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!!Connettore 58">
            <a:extLst>
              <a:ext uri="{FF2B5EF4-FFF2-40B4-BE49-F238E27FC236}">
                <a16:creationId xmlns:a16="http://schemas.microsoft.com/office/drawing/2014/main" id="{C1DAA9C6-4C9E-C44D-9EB9-4248845E25ED}"/>
              </a:ext>
            </a:extLst>
          </p:cNvPr>
          <p:cNvSpPr/>
          <p:nvPr/>
        </p:nvSpPr>
        <p:spPr>
          <a:xfrm>
            <a:off x="7664932" y="3011314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!!Connettore 68">
            <a:extLst>
              <a:ext uri="{FF2B5EF4-FFF2-40B4-BE49-F238E27FC236}">
                <a16:creationId xmlns:a16="http://schemas.microsoft.com/office/drawing/2014/main" id="{A136CFDC-F88F-55E2-EE82-F36D65672B8F}"/>
              </a:ext>
            </a:extLst>
          </p:cNvPr>
          <p:cNvSpPr/>
          <p:nvPr/>
        </p:nvSpPr>
        <p:spPr>
          <a:xfrm>
            <a:off x="7664932" y="4093750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!!Connettore 69">
            <a:extLst>
              <a:ext uri="{FF2B5EF4-FFF2-40B4-BE49-F238E27FC236}">
                <a16:creationId xmlns:a16="http://schemas.microsoft.com/office/drawing/2014/main" id="{7D29F520-3928-97F7-3CF2-BE3D7B4B769A}"/>
              </a:ext>
            </a:extLst>
          </p:cNvPr>
          <p:cNvSpPr/>
          <p:nvPr/>
        </p:nvSpPr>
        <p:spPr>
          <a:xfrm>
            <a:off x="7664932" y="5185711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AC049AA6-8DEC-2BF4-FAC7-9070FBAFE2E7}"/>
              </a:ext>
            </a:extLst>
          </p:cNvPr>
          <p:cNvCxnSpPr>
            <a:cxnSpLocks/>
          </p:cNvCxnSpPr>
          <p:nvPr/>
        </p:nvCxnSpPr>
        <p:spPr>
          <a:xfrm flipH="1">
            <a:off x="5920974" y="5350509"/>
            <a:ext cx="966052" cy="0"/>
          </a:xfrm>
          <a:prstGeom prst="straightConnector1">
            <a:avLst/>
          </a:prstGeom>
          <a:ln w="25400"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E9D9E3E7-E72E-7B44-A59D-55BBC5C213EB}"/>
              </a:ext>
            </a:extLst>
          </p:cNvPr>
          <p:cNvSpPr txBox="1"/>
          <p:nvPr/>
        </p:nvSpPr>
        <p:spPr>
          <a:xfrm>
            <a:off x="1643176" y="3345796"/>
            <a:ext cx="4708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Cambio di </a:t>
            </a:r>
            <a:r>
              <a:rPr lang="it-IT" i="1" dirty="0">
                <a:solidFill>
                  <a:schemeClr val="bg1"/>
                </a:solidFill>
              </a:rPr>
              <a:t>unità statistica</a:t>
            </a:r>
            <a:r>
              <a:rPr lang="it-IT" dirty="0">
                <a:solidFill>
                  <a:schemeClr val="bg1"/>
                </a:solidFill>
              </a:rPr>
              <a:t>: dal singolo al </a:t>
            </a:r>
            <a:r>
              <a:rPr lang="it-IT" b="1" dirty="0">
                <a:solidFill>
                  <a:schemeClr val="bg1"/>
                </a:solidFill>
              </a:rPr>
              <a:t>team</a:t>
            </a:r>
          </a:p>
        </p:txBody>
      </p:sp>
      <p:cxnSp>
        <p:nvCxnSpPr>
          <p:cNvPr id="47" name="Connettore diritto 46">
            <a:extLst>
              <a:ext uri="{FF2B5EF4-FFF2-40B4-BE49-F238E27FC236}">
                <a16:creationId xmlns:a16="http://schemas.microsoft.com/office/drawing/2014/main" id="{54316211-93E1-E7B6-CFD5-E16B0C8B3333}"/>
              </a:ext>
            </a:extLst>
          </p:cNvPr>
          <p:cNvCxnSpPr>
            <a:cxnSpLocks/>
          </p:cNvCxnSpPr>
          <p:nvPr/>
        </p:nvCxnSpPr>
        <p:spPr>
          <a:xfrm>
            <a:off x="6635291" y="3530462"/>
            <a:ext cx="756217" cy="0"/>
          </a:xfrm>
          <a:prstGeom prst="line">
            <a:avLst/>
          </a:prstGeom>
          <a:ln w="25400">
            <a:solidFill>
              <a:srgbClr val="C13A4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ttangolo con angoli in alto arrotondati 52">
            <a:extLst>
              <a:ext uri="{FF2B5EF4-FFF2-40B4-BE49-F238E27FC236}">
                <a16:creationId xmlns:a16="http://schemas.microsoft.com/office/drawing/2014/main" id="{B6C9B157-CFA9-40DE-407F-B55954B0D62E}"/>
              </a:ext>
            </a:extLst>
          </p:cNvPr>
          <p:cNvSpPr/>
          <p:nvPr/>
        </p:nvSpPr>
        <p:spPr>
          <a:xfrm>
            <a:off x="3680770" y="6422220"/>
            <a:ext cx="5871805" cy="1365121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5FD14C1B-27E8-37A0-0EA2-257B850BD4BE}"/>
              </a:ext>
            </a:extLst>
          </p:cNvPr>
          <p:cNvSpPr txBox="1"/>
          <p:nvPr/>
        </p:nvSpPr>
        <p:spPr>
          <a:xfrm>
            <a:off x="7083508" y="67913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41F8E7D9-4A28-77F2-57AA-369DDD22BB8A}"/>
              </a:ext>
            </a:extLst>
          </p:cNvPr>
          <p:cNvSpPr txBox="1"/>
          <p:nvPr/>
        </p:nvSpPr>
        <p:spPr>
          <a:xfrm>
            <a:off x="3738900" y="6435496"/>
            <a:ext cx="57294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💡 Situazione attuale: </a:t>
            </a:r>
            <a:r>
              <a:rPr lang="it-IT" sz="2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260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osservazioni, </a:t>
            </a:r>
            <a:r>
              <a:rPr lang="it-IT" sz="2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14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variabili</a:t>
            </a:r>
          </a:p>
          <a:p>
            <a:endParaRPr lang="it-IT" dirty="0"/>
          </a:p>
        </p:txBody>
      </p:sp>
      <p:pic>
        <p:nvPicPr>
          <p:cNvPr id="3" name="Immagine 2" descr="Immagine che contiene cerchio, bianco e nero&#10;&#10;Il contenuto generato dall'IA potrebbe non essere corretto.">
            <a:hlinkClick r:id="rId14" action="ppaction://hlinksldjump"/>
            <a:extLst>
              <a:ext uri="{FF2B5EF4-FFF2-40B4-BE49-F238E27FC236}">
                <a16:creationId xmlns:a16="http://schemas.microsoft.com/office/drawing/2014/main" id="{05EA5164-217B-2415-E2ED-876400A8243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4" name="Immagine 3" descr="Immagine che contiene schermata, Rettangolo, design&#10;&#10;Il contenuto generato dall'IA potrebbe non essere corretto.">
            <a:hlinkClick r:id="rId16" action="ppaction://hlinksldjump"/>
            <a:extLst>
              <a:ext uri="{FF2B5EF4-FFF2-40B4-BE49-F238E27FC236}">
                <a16:creationId xmlns:a16="http://schemas.microsoft.com/office/drawing/2014/main" id="{BF856158-C01E-00F3-E828-73BE69B020BA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15" name="Immagine 14" descr="Immagine che contiene ingranaggio, oggetti in metallo, cerchio, ruota&#10;&#10;Il contenuto generato dall'IA potrebbe non essere corretto.">
            <a:hlinkClick r:id="rId18" action="ppaction://hlinksldjump"/>
            <a:extLst>
              <a:ext uri="{FF2B5EF4-FFF2-40B4-BE49-F238E27FC236}">
                <a16:creationId xmlns:a16="http://schemas.microsoft.com/office/drawing/2014/main" id="{33BC367D-B593-A8A1-A07D-7E3B52FEB051}"/>
              </a:ext>
            </a:extLst>
          </p:cNvPr>
          <p:cNvPicPr>
            <a:picLocks noChangeAspect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29" name="Immagine 28" descr="Immagine che contiene bianco, Utensile da cucina, bianco e nero, monocromatico&#10;&#10;Il contenuto generato dall'IA potrebbe non essere corretto.">
            <a:hlinkClick r:id="rId20" action="ppaction://hlinksldjump"/>
            <a:extLst>
              <a:ext uri="{FF2B5EF4-FFF2-40B4-BE49-F238E27FC236}">
                <a16:creationId xmlns:a16="http://schemas.microsoft.com/office/drawing/2014/main" id="{8A1B27AB-6D95-AB13-9CDB-0AB3191636E6}"/>
              </a:ext>
            </a:extLst>
          </p:cNvPr>
          <p:cNvPicPr>
            <a:picLocks noChangeAspect="1"/>
          </p:cNvPicPr>
          <p:nvPr/>
        </p:nvPicPr>
        <p:blipFill>
          <a:blip r:embed="rId21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31" name="Immagine 30" descr="Immagine che contiene arte, bianco e nero&#10;&#10;Il contenuto generato dall'IA potrebbe non essere corretto.">
            <a:hlinkClick r:id="rId22" action="ppaction://hlinksldjump"/>
            <a:extLst>
              <a:ext uri="{FF2B5EF4-FFF2-40B4-BE49-F238E27FC236}">
                <a16:creationId xmlns:a16="http://schemas.microsoft.com/office/drawing/2014/main" id="{B8E02A7A-2498-9955-434D-6787543F102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33" name="Immagine 32" descr="Immagine che contiene design, linea, bianco, Rettangolo&#10;&#10;Il contenuto generato dall'IA potrebbe non essere corretto.">
            <a:hlinkClick r:id="rId24" action="ppaction://hlinksldjump"/>
            <a:extLst>
              <a:ext uri="{FF2B5EF4-FFF2-40B4-BE49-F238E27FC236}">
                <a16:creationId xmlns:a16="http://schemas.microsoft.com/office/drawing/2014/main" id="{330A0D7D-030D-6FF0-B8F1-3B2C6740700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37" name="Immagine 36" descr="Immagine che contiene triangolo&#10;&#10;Il contenuto generato dall'IA potrebbe non essere corretto.">
            <a:hlinkClick r:id="rId26" action="ppaction://hlinksldjump"/>
            <a:extLst>
              <a:ext uri="{FF2B5EF4-FFF2-40B4-BE49-F238E27FC236}">
                <a16:creationId xmlns:a16="http://schemas.microsoft.com/office/drawing/2014/main" id="{2BC96DEA-B750-71B6-2EF8-543264B51EE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41" name="Immagine 40" descr="Immagine che contiene schermata, design&#10;&#10;Il contenuto generato dall'IA potrebbe non essere corretto.">
            <a:hlinkClick r:id="rId28" action="ppaction://hlinksldjump"/>
            <a:extLst>
              <a:ext uri="{FF2B5EF4-FFF2-40B4-BE49-F238E27FC236}">
                <a16:creationId xmlns:a16="http://schemas.microsoft.com/office/drawing/2014/main" id="{74DC9692-5E22-F537-2C45-8755FAA055B3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892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03F840-7BAE-1256-4DEF-44F595DE1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BEEE161A-E566-373F-7D7B-52CCF1A793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21" y="958237"/>
            <a:ext cx="7770881" cy="6105692"/>
          </a:xfrm>
          <a:prstGeom prst="rect">
            <a:avLst/>
          </a:prstGeom>
          <a:noFill/>
          <a:effectLst>
            <a:glow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angolo rettangolo 2">
            <a:extLst>
              <a:ext uri="{FF2B5EF4-FFF2-40B4-BE49-F238E27FC236}">
                <a16:creationId xmlns:a16="http://schemas.microsoft.com/office/drawing/2014/main" id="{42207243-C845-4952-DFC1-D6F1B0860112}"/>
              </a:ext>
            </a:extLst>
          </p:cNvPr>
          <p:cNvSpPr>
            <a:spLocks/>
          </p:cNvSpPr>
          <p:nvPr/>
        </p:nvSpPr>
        <p:spPr>
          <a:xfrm flipH="1">
            <a:off x="4829167" y="-1933575"/>
            <a:ext cx="8048625" cy="11934824"/>
          </a:xfrm>
          <a:prstGeom prst="rtTriangle">
            <a:avLst/>
          </a:prstGeom>
          <a:solidFill>
            <a:srgbClr val="FF4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22471F38-D10A-5D5A-94C1-38251E50000A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40DAF25C-6EF6-ADBF-1D47-65BA3E807A57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DD3F3348-AE17-279D-E9F1-28F06EE26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C2225469-ADBF-81BA-F236-8A5B4E39C66E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220ABBCE-C4DE-0BED-C217-94B5508A2D0A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780F8EEC-1404-C906-49C7-88FFF36A0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A2ADB6B9-5B34-B644-2F6A-911610AABB7B}"/>
              </a:ext>
            </a:extLst>
          </p:cNvPr>
          <p:cNvGrpSpPr/>
          <p:nvPr/>
        </p:nvGrpSpPr>
        <p:grpSpPr>
          <a:xfrm>
            <a:off x="638784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7D8AB392-588F-1691-60AE-BD3638B37183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673188AD-A3D2-40CC-82EB-01D28604E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D38D5402-66C8-BEA5-DED8-F56594EB27CE}"/>
              </a:ext>
            </a:extLst>
          </p:cNvPr>
          <p:cNvGrpSpPr/>
          <p:nvPr/>
        </p:nvGrpSpPr>
        <p:grpSpPr>
          <a:xfrm>
            <a:off x="-676624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16412A92-ACA7-632A-2DAD-0990F496E9D9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234968B1-FD9A-EA6C-4F0A-DBBCCE9D2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BB077951-6565-8177-CB68-F228F9631C12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073FFB46-92DC-DFA6-3D66-7AA423A32DCC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C0BE753F-922C-F649-506D-FDBE45278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EAF0EDF8-02A8-9BDE-6B5D-F1F43228F3D2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16629037-88FE-452F-4049-146C9674F473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2A583BAF-1124-77C9-3C21-226B22D35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0EA2CFC5-EAFA-0E15-7591-98B61CA00DFC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F6045414-1592-8D46-56A1-647B97065198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AC849282-08E8-A295-56FD-18B0D961F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75482981-1E04-AD27-7AC9-ED934DDF28B9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84375C9C-EB1B-1BB0-ADB0-43588534E0E9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4DBB750C-3A87-709A-546C-41BF0C1AC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1E794526-5333-F6BE-FC72-01C2467C0883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E5E6C98F-32EC-649C-FBA0-E8AF0B0BEDAD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5F881F94-B36F-42A2-5E95-0C6E45BC87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34DD1824-2244-3C78-99D8-19DD66459F9D}"/>
              </a:ext>
            </a:extLst>
          </p:cNvPr>
          <p:cNvSpPr/>
          <p:nvPr/>
        </p:nvSpPr>
        <p:spPr>
          <a:xfrm rot="10800000">
            <a:off x="2838" y="-730328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4" name="Immagine 13" descr="Immagine che contiene cerchio, bianco e nero&#10;&#10;Il contenuto generato dall'IA potrebbe non essere corretto.">
            <a:hlinkClick r:id="rId12" action="ppaction://hlinksldjump"/>
            <a:extLst>
              <a:ext uri="{FF2B5EF4-FFF2-40B4-BE49-F238E27FC236}">
                <a16:creationId xmlns:a16="http://schemas.microsoft.com/office/drawing/2014/main" id="{999DC428-38F6-F01F-CC3C-CAE08AA52DB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18" name="Immagine 17" descr="Immagine che contiene schermata, design&#10;&#10;Il contenuto generato dall'IA potrebbe non essere corretto.">
            <a:hlinkClick r:id="rId14" action="ppaction://hlinksldjump"/>
            <a:extLst>
              <a:ext uri="{FF2B5EF4-FFF2-40B4-BE49-F238E27FC236}">
                <a16:creationId xmlns:a16="http://schemas.microsoft.com/office/drawing/2014/main" id="{08D517E8-109C-BAD7-3293-464482CE15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22" name="Immagine 21" descr="Immagine che contiene schermata, Rettangolo, design&#10;&#10;Il contenuto generato dall'IA potrebbe non essere corretto.">
            <a:extLst>
              <a:ext uri="{FF2B5EF4-FFF2-40B4-BE49-F238E27FC236}">
                <a16:creationId xmlns:a16="http://schemas.microsoft.com/office/drawing/2014/main" id="{0EBEAF3B-87A1-7255-1DA1-8A842D6BF958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9C68737-CBB2-C6AB-B65E-864556A0F797}"/>
              </a:ext>
            </a:extLst>
          </p:cNvPr>
          <p:cNvSpPr txBox="1"/>
          <p:nvPr/>
        </p:nvSpPr>
        <p:spPr>
          <a:xfrm>
            <a:off x="2466975" y="1905506"/>
            <a:ext cx="8172450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9600" b="1" dirty="0" err="1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Exploratory</a:t>
            </a:r>
            <a:endParaRPr lang="it-IT" sz="9600" b="1" dirty="0">
              <a:solidFill>
                <a:schemeClr val="bg1"/>
              </a:solidFill>
              <a:effectLst>
                <a:glow rad="101600">
                  <a:srgbClr val="FF0000">
                    <a:alpha val="40000"/>
                  </a:srgb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it-IT" sz="96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Data Analysis</a:t>
            </a:r>
          </a:p>
        </p:txBody>
      </p:sp>
      <p:pic>
        <p:nvPicPr>
          <p:cNvPr id="4" name="Immagine 3" descr="Immagine che contiene ingranaggio, oggetti in metallo, cerchio, ruota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B5881FFC-830D-1CF2-5490-02A57E5016E6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7" name="Immagine 6" descr="Immagine che contiene bianco, Utensile da cucina, bianco e nero, monocromatic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2C7AD999-F7FB-F0F8-EF1E-9AB5C30168AD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8" name="Immagine 7" descr="Immagine che contiene arte, bianco e ner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9729EAAB-606B-0147-5F75-A35900E7860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9" name="Immagine 8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F8C62050-1B14-86A2-873A-70A6FBAC6C2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10" name="Immagine 9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DD7F82D6-09E1-7AE2-A7E0-95F7A0FEBD0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1" name="Immagine 10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1D42D1CF-8487-0F1A-867B-F0B69420F77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427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D72F5-0440-A6AF-DE90-77F8C0249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17F3451-1EC9-8EB5-D8CA-C64CF2FD68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16" r="63976" b="12257"/>
          <a:stretch>
            <a:fillRect/>
          </a:stretch>
        </p:blipFill>
        <p:spPr bwMode="auto">
          <a:xfrm>
            <a:off x="7941684" y="1265068"/>
            <a:ext cx="4247479" cy="5602457"/>
          </a:xfrm>
          <a:prstGeom prst="rect">
            <a:avLst/>
          </a:prstGeom>
          <a:noFill/>
          <a:effectLst>
            <a:glow rad="152400">
              <a:srgbClr val="FF4655">
                <a:alpha val="45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8" name="Gruppo 67">
            <a:extLst>
              <a:ext uri="{FF2B5EF4-FFF2-40B4-BE49-F238E27FC236}">
                <a16:creationId xmlns:a16="http://schemas.microsoft.com/office/drawing/2014/main" id="{C7DAE8FD-4D6B-F1C9-0CA9-3948E2D3AC20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63A83ABC-F7B4-BD15-45F6-A6837F99EFB5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625946AF-68A5-CFED-7407-F3AAB4BAA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015EECCB-DBAE-FBA7-DF37-A811BE4349DE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CF59B109-E185-8CD6-06C9-7444129BA272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73E12E61-F5FD-2C19-30E4-7A1A10DC9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52B29748-549F-884B-0A48-F404DD938B5E}"/>
              </a:ext>
            </a:extLst>
          </p:cNvPr>
          <p:cNvGrpSpPr/>
          <p:nvPr/>
        </p:nvGrpSpPr>
        <p:grpSpPr>
          <a:xfrm>
            <a:off x="638784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80A57501-11E6-8003-6481-FCA08A6F970C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5A5586D5-388B-034F-D656-E3BAF8C78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5F3C20BF-309B-CDDD-CF1E-1BBF3279B7A7}"/>
              </a:ext>
            </a:extLst>
          </p:cNvPr>
          <p:cNvGrpSpPr/>
          <p:nvPr/>
        </p:nvGrpSpPr>
        <p:grpSpPr>
          <a:xfrm>
            <a:off x="-676624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31167F60-4A90-F0F5-B606-3DF6986AD677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2F02BE14-98DA-890C-3E78-0763394FCB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EAB94B3E-FB78-961F-701E-7518424F62CD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CECDA695-41F5-8566-0415-CC8EFCB310A3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FD96FF22-38AB-8A78-F0D2-A6EB8D0AE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DC313FD5-6B3C-F412-3556-64CC5EFF2575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960A7783-9EF9-1887-E0EB-4F35DB3F5EF7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875FD4AE-BC1D-E7E2-5F27-15C839D32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270B7A48-2B53-F12B-82D4-3999BF772F06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0FF78605-0C49-3EB1-20D2-0CBDBB6F0631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687BC0DD-5791-FFB8-66CD-028A0174E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E3584283-9DEC-888B-3987-36EB583762DB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B7F7E81F-5DED-090E-D3D8-78664B67BA54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EEF1DC96-8DF7-0DD8-3C49-6FDA622CF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AC6EBC95-12B0-B5AE-3D4E-D5B721FCF492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7147C5B4-66E7-C577-7A74-9C804E148D9E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34B5027B-505F-9BA1-0AFE-650F70946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B641B15F-5E6E-BBA0-D19F-7F9132C2A7FF}"/>
              </a:ext>
            </a:extLst>
          </p:cNvPr>
          <p:cNvSpPr/>
          <p:nvPr/>
        </p:nvSpPr>
        <p:spPr>
          <a:xfrm rot="10800000">
            <a:off x="2838" y="-730328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22" name="Immagine 21" descr="Immagine che contiene schermata, Rettangolo, design&#10;&#10;Il contenuto generato dall'IA potrebbe non essere corretto.">
            <a:extLst>
              <a:ext uri="{FF2B5EF4-FFF2-40B4-BE49-F238E27FC236}">
                <a16:creationId xmlns:a16="http://schemas.microsoft.com/office/drawing/2014/main" id="{EA632038-E23B-CDD3-5595-B9017BA6E8FF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DE2B06F-953B-45AF-37A4-7494CAE7353E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Distribuzione dei match</a:t>
            </a:r>
          </a:p>
        </p:txBody>
      </p:sp>
      <p:sp>
        <p:nvSpPr>
          <p:cNvPr id="5" name="Elaborazione alternativa 4">
            <a:extLst>
              <a:ext uri="{FF2B5EF4-FFF2-40B4-BE49-F238E27FC236}">
                <a16:creationId xmlns:a16="http://schemas.microsoft.com/office/drawing/2014/main" id="{FF47990E-C39F-5D6B-90A0-C51BD8F85581}"/>
              </a:ext>
            </a:extLst>
          </p:cNvPr>
          <p:cNvSpPr/>
          <p:nvPr/>
        </p:nvSpPr>
        <p:spPr>
          <a:xfrm>
            <a:off x="2238519" y="1999172"/>
            <a:ext cx="4333732" cy="3571876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onnettore 6">
            <a:extLst>
              <a:ext uri="{FF2B5EF4-FFF2-40B4-BE49-F238E27FC236}">
                <a16:creationId xmlns:a16="http://schemas.microsoft.com/office/drawing/2014/main" id="{8AB1ADB9-9F93-3F03-181F-315BAAABB8DC}"/>
              </a:ext>
            </a:extLst>
          </p:cNvPr>
          <p:cNvSpPr/>
          <p:nvPr/>
        </p:nvSpPr>
        <p:spPr>
          <a:xfrm>
            <a:off x="2502861" y="2481410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22D2F11-9F4E-1726-B157-564C195D4F0F}"/>
              </a:ext>
            </a:extLst>
          </p:cNvPr>
          <p:cNvSpPr txBox="1"/>
          <p:nvPr/>
        </p:nvSpPr>
        <p:spPr>
          <a:xfrm>
            <a:off x="2732033" y="2292807"/>
            <a:ext cx="372657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Lieve asimmetria, ma </a:t>
            </a:r>
          </a:p>
          <a:p>
            <a:r>
              <a:rPr lang="it-IT" sz="2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sostanziale equilibrio.</a:t>
            </a:r>
          </a:p>
          <a:p>
            <a:endParaRPr lang="it-IT" sz="26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2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Nessun rischio significativo di distorsione verso la classe maggioritaria.</a:t>
            </a:r>
          </a:p>
        </p:txBody>
      </p:sp>
      <p:sp>
        <p:nvSpPr>
          <p:cNvPr id="15" name="Connettore 14">
            <a:extLst>
              <a:ext uri="{FF2B5EF4-FFF2-40B4-BE49-F238E27FC236}">
                <a16:creationId xmlns:a16="http://schemas.microsoft.com/office/drawing/2014/main" id="{7C715037-ECC4-9B54-22B3-62D8DBB0BAFB}"/>
              </a:ext>
            </a:extLst>
          </p:cNvPr>
          <p:cNvSpPr/>
          <p:nvPr/>
        </p:nvSpPr>
        <p:spPr>
          <a:xfrm>
            <a:off x="2502861" y="3654476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 descr="Immagine che contiene cerchio, bianco e nero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10DFA913-7FB7-C824-6703-E68DE4B2346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4" name="Immagine 3" descr="Immagine che contiene schermata, design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4AD614D5-51A5-B8FA-F762-B764570777C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8" name="Immagine 7" descr="Immagine che contiene ingranaggio, oggetti in metallo, cerchio, ruota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3E330298-CB78-DB05-02C3-3D292CB3626A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9" name="Immagine 8" descr="Immagine che contiene bianco, Utensile da cucina, bianco e nero, monocromatic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99C16553-0B4C-0201-B293-3CF47A9E70E0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10" name="Immagine 9" descr="Immagine che contiene arte, bianco e ner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0EC8DA4A-65B8-F596-CCF1-174A691C53B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13" name="Immagine 12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CB713943-BDF8-9435-558F-4C112FD8B48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17" name="Immagine 16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C1E5ABF2-DED2-37A3-AFD3-0C736AFFFAD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9" name="Immagine 18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F53C6CEF-700C-C55E-85BB-2B79C13A44E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407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334828-D1D4-F8F7-8538-86564C909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8559823-1F35-F33E-1212-F21D87DC6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5" t="5747" r="2778" b="824"/>
          <a:stretch>
            <a:fillRect/>
          </a:stretch>
        </p:blipFill>
        <p:spPr bwMode="auto">
          <a:xfrm>
            <a:off x="1499943" y="1263192"/>
            <a:ext cx="5601503" cy="5112766"/>
          </a:xfrm>
          <a:prstGeom prst="rect">
            <a:avLst/>
          </a:prstGeom>
          <a:noFill/>
          <a:effectLst>
            <a:glow rad="152400">
              <a:srgbClr val="FF4655">
                <a:alpha val="45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8" name="Gruppo 67">
            <a:extLst>
              <a:ext uri="{FF2B5EF4-FFF2-40B4-BE49-F238E27FC236}">
                <a16:creationId xmlns:a16="http://schemas.microsoft.com/office/drawing/2014/main" id="{34E368ED-213D-44C9-4D04-F60A72552A64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9D9EF6AF-E3CB-7F74-C837-95042538475B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6BAE3E8D-DAFE-FA4E-0184-76D81D137F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684F57C4-6E50-A691-A67D-F02AB0A2D31D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519C3E52-F36D-C16D-687F-B7E0F2E90CCB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AD9A699F-C509-8DE6-6C98-9E24D89C4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A7A1E8DF-BC72-2E8E-CE84-7C91D6C2CD54}"/>
              </a:ext>
            </a:extLst>
          </p:cNvPr>
          <p:cNvGrpSpPr/>
          <p:nvPr/>
        </p:nvGrpSpPr>
        <p:grpSpPr>
          <a:xfrm>
            <a:off x="638784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4EF040FA-54A3-286E-18FC-C3092912231D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0F2FA304-C89E-7C99-CA7C-3D1106449A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45A8B8D8-A2BE-120A-E5F9-BCDF50515925}"/>
              </a:ext>
            </a:extLst>
          </p:cNvPr>
          <p:cNvGrpSpPr/>
          <p:nvPr/>
        </p:nvGrpSpPr>
        <p:grpSpPr>
          <a:xfrm>
            <a:off x="-676624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A76078EA-D254-022B-89B0-EFE5B0EE6119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F3C1AB0B-3701-8B97-30B8-795A8673E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C15DD7E9-5C5A-E289-74CF-6ABDF59A042A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80DDCBF0-EAD7-1CD7-CE11-77021C606837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0F2C7797-406F-2BC7-6DCE-3E0B9F1640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9929F1D7-FF7C-F052-DBD9-965D8A71F56B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8BF8E181-AC3E-33A0-4A06-2480F19F1C0E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13AAC998-5A34-7E95-BCB9-73A8F1E1B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BE8E1298-DD02-B83F-2355-F33CB38FA141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C728DBCF-9896-AEC3-430B-E06B9209186F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67E73560-6C9E-AA53-3399-C37AE77155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AC60757D-B031-38ED-5F49-AE09B43C5083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B520D799-0DC4-46E8-4B6F-24F1BC693ECC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6721EF83-AF7E-C957-BAFE-AF9EFA958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29EEE66C-FAFD-2B9B-6418-B7716FFC9C58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11A4D08B-1394-D375-EBA4-AC6301BEB15A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17214BED-9EF9-032D-BFD5-3C9D9E1D8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31285A67-A2EC-8A10-E7ED-481DEEB5BB4C}"/>
              </a:ext>
            </a:extLst>
          </p:cNvPr>
          <p:cNvSpPr/>
          <p:nvPr/>
        </p:nvSpPr>
        <p:spPr>
          <a:xfrm rot="10800000">
            <a:off x="2838" y="-730328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22" name="Immagine 21" descr="Immagine che contiene schermata, Rettangolo, design&#10;&#10;Il contenuto generato dall'IA potrebbe non essere corretto.">
            <a:extLst>
              <a:ext uri="{FF2B5EF4-FFF2-40B4-BE49-F238E27FC236}">
                <a16:creationId xmlns:a16="http://schemas.microsoft.com/office/drawing/2014/main" id="{31258587-833A-94A3-BEBB-4E428A9E74B6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083CE78-FEA1-0029-16C3-4EC794370B9F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Matrice di correlazione</a:t>
            </a:r>
          </a:p>
        </p:txBody>
      </p:sp>
      <p:sp>
        <p:nvSpPr>
          <p:cNvPr id="3" name="Elaborazione alternativa 2">
            <a:extLst>
              <a:ext uri="{FF2B5EF4-FFF2-40B4-BE49-F238E27FC236}">
                <a16:creationId xmlns:a16="http://schemas.microsoft.com/office/drawing/2014/main" id="{1D3F1C24-B2DA-E803-BF65-1DE4602C4475}"/>
              </a:ext>
            </a:extLst>
          </p:cNvPr>
          <p:cNvSpPr/>
          <p:nvPr/>
        </p:nvSpPr>
        <p:spPr>
          <a:xfrm>
            <a:off x="7543916" y="1999172"/>
            <a:ext cx="4336200" cy="3571876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6EEA4D8-CE7D-07BC-A1B1-C7CF285247D8}"/>
              </a:ext>
            </a:extLst>
          </p:cNvPr>
          <p:cNvSpPr txBox="1"/>
          <p:nvPr/>
        </p:nvSpPr>
        <p:spPr>
          <a:xfrm>
            <a:off x="8023073" y="2358357"/>
            <a:ext cx="372657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Forte multicollinearità tra </a:t>
            </a:r>
            <a:r>
              <a:rPr lang="it-IT" sz="26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ADR</a:t>
            </a:r>
            <a:r>
              <a:rPr lang="it-IT" sz="2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it-IT" sz="26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ACS</a:t>
            </a:r>
            <a:r>
              <a:rPr lang="it-IT" sz="2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e </a:t>
            </a:r>
            <a:r>
              <a:rPr lang="it-IT" sz="26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</a:t>
            </a:r>
            <a:r>
              <a:rPr lang="it-IT" sz="2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.</a:t>
            </a:r>
          </a:p>
          <a:p>
            <a:endParaRPr lang="it-IT" sz="26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2600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Headshot</a:t>
            </a:r>
            <a:r>
              <a:rPr lang="it-IT" sz="26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2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: variabile quasi totalmente </a:t>
            </a:r>
            <a:r>
              <a:rPr lang="it-IT" sz="26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decorrelata</a:t>
            </a:r>
            <a:r>
              <a:rPr lang="it-IT" sz="2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dalle altre esplicative.</a:t>
            </a:r>
          </a:p>
        </p:txBody>
      </p:sp>
      <p:sp>
        <p:nvSpPr>
          <p:cNvPr id="8" name="Connettore 7">
            <a:extLst>
              <a:ext uri="{FF2B5EF4-FFF2-40B4-BE49-F238E27FC236}">
                <a16:creationId xmlns:a16="http://schemas.microsoft.com/office/drawing/2014/main" id="{F05240A3-F4CB-B721-113D-213C7021DB44}"/>
              </a:ext>
            </a:extLst>
          </p:cNvPr>
          <p:cNvSpPr/>
          <p:nvPr/>
        </p:nvSpPr>
        <p:spPr>
          <a:xfrm>
            <a:off x="7836892" y="2549990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onnettore 8">
            <a:extLst>
              <a:ext uri="{FF2B5EF4-FFF2-40B4-BE49-F238E27FC236}">
                <a16:creationId xmlns:a16="http://schemas.microsoft.com/office/drawing/2014/main" id="{A34EDAEE-493E-364D-8D88-59E15DAF974D}"/>
              </a:ext>
            </a:extLst>
          </p:cNvPr>
          <p:cNvSpPr/>
          <p:nvPr/>
        </p:nvSpPr>
        <p:spPr>
          <a:xfrm>
            <a:off x="7836892" y="3723056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 descr="Immagine che contiene cerchio, bianco e nero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5B24308B-63F4-44DF-8685-C33428F96F4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7" name="Immagine 6" descr="Immagine che contiene schermata, design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D0942E45-62A5-60D8-C55F-8AE8DAC5D5D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10" name="Immagine 9" descr="Immagine che contiene ingranaggio, oggetti in metallo, cerchio, ruota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FDE7138E-F535-D8FB-3E8E-4ADA067A3544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11" name="Immagine 10" descr="Immagine che contiene bianco, Utensile da cucina, bianco e nero, monocromatic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41D95EB1-F3BB-5390-A8EF-271BB2E7547E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13" name="Immagine 12" descr="Immagine che contiene arte, bianco e ner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EFFC73B2-FAB6-E454-B05C-8130D3EEA22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15" name="Immagine 14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0C40C2ED-D10C-6674-AAFD-305C88AB688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17" name="Immagine 16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0A56DC73-D981-5E5B-82F7-1F6EA0FC134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9" name="Immagine 18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14BE5D9C-F5FF-82D0-397C-F1907494890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21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7E4DE-0E67-34B7-46C3-1B9D418BB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101C2854-2622-E5B7-82AC-4BED810E91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21" y="958237"/>
            <a:ext cx="7770881" cy="6105692"/>
          </a:xfrm>
          <a:prstGeom prst="rect">
            <a:avLst/>
          </a:prstGeom>
          <a:noFill/>
          <a:effectLst>
            <a:glow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angolo rettangolo 2">
            <a:extLst>
              <a:ext uri="{FF2B5EF4-FFF2-40B4-BE49-F238E27FC236}">
                <a16:creationId xmlns:a16="http://schemas.microsoft.com/office/drawing/2014/main" id="{EF011D2C-119F-3B5B-C6BE-A2DE3231C70A}"/>
              </a:ext>
            </a:extLst>
          </p:cNvPr>
          <p:cNvSpPr>
            <a:spLocks/>
          </p:cNvSpPr>
          <p:nvPr/>
        </p:nvSpPr>
        <p:spPr>
          <a:xfrm flipH="1">
            <a:off x="4829167" y="-1933575"/>
            <a:ext cx="8048625" cy="11934824"/>
          </a:xfrm>
          <a:prstGeom prst="rtTriangle">
            <a:avLst/>
          </a:prstGeom>
          <a:solidFill>
            <a:srgbClr val="FF4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5A0110E9-0C68-4079-D1E4-6BD8DAA27246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23F5ED86-3617-719A-E9F3-134318390698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F4CAC815-8138-5886-382D-EF1C492AE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FB0BB8E1-53CC-EC54-15D5-A08EA1036165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8AC0F030-AACC-8839-8107-877E3488DE69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F350A272-D7CA-A700-25C1-A06910EFA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2587677D-F22F-3DE8-A49E-39EF6E79D93C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6A52E7B5-9C0D-284D-D294-9DA5FD527CC2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318419ED-F787-34F8-8F6A-DA71183EA3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A0F951A6-B11B-B839-B652-73C751B75906}"/>
              </a:ext>
            </a:extLst>
          </p:cNvPr>
          <p:cNvGrpSpPr/>
          <p:nvPr/>
        </p:nvGrpSpPr>
        <p:grpSpPr>
          <a:xfrm>
            <a:off x="637826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24E3C8EB-D3A4-4E79-9C1B-D5281699D404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347E7761-0037-E708-EF6E-E073A7E51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9DFB708D-3B86-2C14-50AE-6C403974001E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BD2983DB-C0D9-5BBA-F95B-A32270B4C18B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A3DC1119-1DEC-652B-5817-E67D0179B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CC932069-5DAF-F4BA-DE8B-4C889FFB29DA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F2E7FF5D-485A-7533-022E-B8E72B34F770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C8B458C1-5EC8-2551-0B79-8C64A58AA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A004C597-37C8-E3FC-DEAB-84A1350025FE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CBAB50C1-D573-CD53-FFE9-6C2C4F3C4FBF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4843404B-D17B-C789-258F-B4577726D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82DD5A11-F7E0-45A4-4FAE-67EA59149B54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45653EE5-4C66-69CB-D45F-A0D04FF1FA22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37FA6A60-8EA9-4951-244A-D55F47F7C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F54F3D4C-7398-23C3-54C1-81D6F0D00E27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ECA77FC6-F71C-C8A5-566F-5C544099D874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5895D489-578D-D3FF-6916-D46061A5E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9123042A-A017-B792-A45B-AE8B00EBF181}"/>
              </a:ext>
            </a:extLst>
          </p:cNvPr>
          <p:cNvSpPr/>
          <p:nvPr/>
        </p:nvSpPr>
        <p:spPr>
          <a:xfrm rot="10800000">
            <a:off x="2838" y="-659843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14" name="Immagine 13" descr="Immagine che contiene cerchio, bianco e nero&#10;&#10;Il contenuto generato dall'IA potrebbe non essere corretto.">
            <a:hlinkClick r:id="rId12" action="ppaction://hlinksldjump"/>
            <a:extLst>
              <a:ext uri="{FF2B5EF4-FFF2-40B4-BE49-F238E27FC236}">
                <a16:creationId xmlns:a16="http://schemas.microsoft.com/office/drawing/2014/main" id="{FF38E118-9907-F7D7-EA7A-D0BCD35E09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18" name="Immagine 17" descr="Immagine che contiene schermata, design&#10;&#10;Il contenuto generato dall'IA potrebbe non essere corretto.">
            <a:hlinkClick r:id="rId14" action="ppaction://hlinksldjump"/>
            <a:extLst>
              <a:ext uri="{FF2B5EF4-FFF2-40B4-BE49-F238E27FC236}">
                <a16:creationId xmlns:a16="http://schemas.microsoft.com/office/drawing/2014/main" id="{FDA8A72D-D781-54A5-109F-1A9D8EF1895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22" name="Immagine 21" descr="Immagine che contiene schermata, Rettangolo, design&#10;&#10;Il contenuto generato dall'IA potrebbe non essere corretto.">
            <a:hlinkClick r:id="rId16" action="ppaction://hlinksldjump"/>
            <a:extLst>
              <a:ext uri="{FF2B5EF4-FFF2-40B4-BE49-F238E27FC236}">
                <a16:creationId xmlns:a16="http://schemas.microsoft.com/office/drawing/2014/main" id="{D370B3FD-8330-436B-B1DF-E1A7ACEE4F9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26" name="Immagine 25" descr="Immagine che contiene ingranaggio, oggetti in metallo, cerchio, ruota&#10;&#10;Il contenuto generato dall'IA potrebbe non essere corretto.">
            <a:extLst>
              <a:ext uri="{FF2B5EF4-FFF2-40B4-BE49-F238E27FC236}">
                <a16:creationId xmlns:a16="http://schemas.microsoft.com/office/drawing/2014/main" id="{2EE2CCD5-7247-00DA-B2FE-285B1C952BAF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8F81F438-49EF-9E19-6AE6-C5747C5109DE}"/>
              </a:ext>
            </a:extLst>
          </p:cNvPr>
          <p:cNvSpPr txBox="1"/>
          <p:nvPr/>
        </p:nvSpPr>
        <p:spPr>
          <a:xfrm>
            <a:off x="2447925" y="1905506"/>
            <a:ext cx="8172450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96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Data Engineering</a:t>
            </a:r>
          </a:p>
        </p:txBody>
      </p:sp>
      <p:pic>
        <p:nvPicPr>
          <p:cNvPr id="4" name="Immagine 3" descr="Immagine che contiene bianco, Utensile da cucina, bianco e nero, monocromatic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FD8D0191-1148-37EB-3219-EF0DFA2D2EF7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7" name="Immagine 6" descr="Immagine che contiene arte, bianco e ner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15F13E9B-8DDD-41E3-B60B-5C273EABA63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8" name="Immagine 7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22E33E30-41F6-5636-A82E-613DF36D0E2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9" name="Immagine 8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56116325-F2A9-8040-4F31-1A473EECA9C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0" name="Immagine 9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9B3B5214-524A-96EA-A1F9-6E6EFCA5700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11" name="!!crown" descr="Immagine che contiene clipart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60DB897A-CBD1-7319-4282-3DAD19105F9B}"/>
              </a:ext>
            </a:extLst>
          </p:cNvPr>
          <p:cNvPicPr>
            <a:picLocks noChangeAspect="1"/>
          </p:cNvPicPr>
          <p:nvPr/>
        </p:nvPicPr>
        <p:blipFill>
          <a:blip r:embed="rId29">
            <a:alphaModFix amt="10000"/>
          </a:blip>
          <a:srcRect l="27028" t="26593" r="25485" b="30567"/>
          <a:stretch>
            <a:fillRect/>
          </a:stretch>
        </p:blipFill>
        <p:spPr>
          <a:xfrm>
            <a:off x="-3995702" y="2327372"/>
            <a:ext cx="2072490" cy="1539003"/>
          </a:xfrm>
          <a:prstGeom prst="rect">
            <a:avLst/>
          </a:prstGeom>
        </p:spPr>
      </p:pic>
      <p:sp>
        <p:nvSpPr>
          <p:cNvPr id="13" name="Elaborazione alternativa 12">
            <a:extLst>
              <a:ext uri="{FF2B5EF4-FFF2-40B4-BE49-F238E27FC236}">
                <a16:creationId xmlns:a16="http://schemas.microsoft.com/office/drawing/2014/main" id="{BB69CFE8-9370-E6FD-D231-36AFCBA3F71A}"/>
              </a:ext>
            </a:extLst>
          </p:cNvPr>
          <p:cNvSpPr/>
          <p:nvPr/>
        </p:nvSpPr>
        <p:spPr>
          <a:xfrm>
            <a:off x="-5581655" y="1490145"/>
            <a:ext cx="5244396" cy="71051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⭐ Rating Massimo (</a:t>
            </a:r>
            <a:r>
              <a:rPr lang="it-IT" sz="1600" b="1" i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Rating_Max</a:t>
            </a:r>
            <a:r>
              <a:rPr lang="it-IT" sz="1600" b="1" i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): </a:t>
            </a:r>
            <a:r>
              <a:rPr lang="it-IT" sz="1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picco di rating all’interno del team, quantifica l’effetto «</a:t>
            </a:r>
            <a:r>
              <a:rPr lang="it-IT" sz="1400" b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carry</a:t>
            </a:r>
            <a:r>
              <a:rPr lang="it-IT" sz="1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» del singolo.</a:t>
            </a:r>
          </a:p>
        </p:txBody>
      </p:sp>
      <p:sp>
        <p:nvSpPr>
          <p:cNvPr id="15" name="Elaborazione alternativa 14">
            <a:extLst>
              <a:ext uri="{FF2B5EF4-FFF2-40B4-BE49-F238E27FC236}">
                <a16:creationId xmlns:a16="http://schemas.microsoft.com/office/drawing/2014/main" id="{5CA790D5-8DC9-17D0-042F-2EAE554E8C38}"/>
              </a:ext>
            </a:extLst>
          </p:cNvPr>
          <p:cNvSpPr/>
          <p:nvPr/>
        </p:nvSpPr>
        <p:spPr>
          <a:xfrm>
            <a:off x="-5581655" y="3955652"/>
            <a:ext cx="5244396" cy="71051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💀 Percentuale di </a:t>
            </a:r>
            <a:r>
              <a:rPr lang="it-IT" sz="1600" b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kill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(</a:t>
            </a:r>
            <a:r>
              <a:rPr lang="it-IT" sz="1600" b="1" i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Kill_Concentration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): </a:t>
            </a:r>
            <a:r>
              <a:rPr lang="it-IT" sz="1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rapporto tra le uccisioni del miglior marcatore e il totale di squadra.</a:t>
            </a:r>
          </a:p>
        </p:txBody>
      </p:sp>
      <p:sp>
        <p:nvSpPr>
          <p:cNvPr id="17" name="Elaborazione alternativa 16">
            <a:extLst>
              <a:ext uri="{FF2B5EF4-FFF2-40B4-BE49-F238E27FC236}">
                <a16:creationId xmlns:a16="http://schemas.microsoft.com/office/drawing/2014/main" id="{5DEC41AE-F15A-D398-4BF2-7763407644D6}"/>
              </a:ext>
            </a:extLst>
          </p:cNvPr>
          <p:cNvSpPr/>
          <p:nvPr/>
        </p:nvSpPr>
        <p:spPr>
          <a:xfrm>
            <a:off x="13235069" y="2479566"/>
            <a:ext cx="5244396" cy="71051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≠</a:t>
            </a:r>
            <a:r>
              <a:rPr lang="it-IT" sz="16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Disparità di Rating (</a:t>
            </a:r>
            <a:r>
              <a:rPr lang="it-IT" sz="1600" b="1" i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Rating_SD</a:t>
            </a:r>
            <a:r>
              <a:rPr lang="it-IT" sz="1600" b="1" i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): </a:t>
            </a:r>
            <a:r>
              <a:rPr lang="it-IT" sz="1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misura l'omogeneità di squadra, se alto indica un team sbilanciato.</a:t>
            </a:r>
          </a:p>
        </p:txBody>
      </p:sp>
      <p:sp>
        <p:nvSpPr>
          <p:cNvPr id="19" name="Elaborazione alternativa 18">
            <a:extLst>
              <a:ext uri="{FF2B5EF4-FFF2-40B4-BE49-F238E27FC236}">
                <a16:creationId xmlns:a16="http://schemas.microsoft.com/office/drawing/2014/main" id="{E49CBB27-4733-0845-BADB-F273A28A42CC}"/>
              </a:ext>
            </a:extLst>
          </p:cNvPr>
          <p:cNvSpPr/>
          <p:nvPr/>
        </p:nvSpPr>
        <p:spPr>
          <a:xfrm>
            <a:off x="13175263" y="4890008"/>
            <a:ext cx="5244396" cy="71051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🤝 Rapporto Assist / </a:t>
            </a:r>
            <a:r>
              <a:rPr lang="it-IT" sz="1600" b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Kill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(</a:t>
            </a:r>
            <a:r>
              <a:rPr lang="it-IT" sz="1600" b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Assists_per_Kill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): </a:t>
            </a:r>
            <a:r>
              <a:rPr lang="it-IT" sz="1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rapporto tra assist e uccisioni totali del team, indice di coesione.</a:t>
            </a:r>
          </a:p>
        </p:txBody>
      </p:sp>
      <p:pic>
        <p:nvPicPr>
          <p:cNvPr id="21" name="Immagine 20" descr="Immagine che contiene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C48FE2CE-1356-8424-27A6-79AF713FF57B}"/>
              </a:ext>
            </a:extLst>
          </p:cNvPr>
          <p:cNvPicPr>
            <a:picLocks noChangeAspect="1"/>
          </p:cNvPicPr>
          <p:nvPr/>
        </p:nvPicPr>
        <p:blipFill>
          <a:blip r:embed="rId30">
            <a:alphaModFix amt="10000"/>
          </a:blip>
          <a:srcRect l="29398" t="17814" r="26233" b="29335"/>
          <a:stretch>
            <a:fillRect/>
          </a:stretch>
        </p:blipFill>
        <p:spPr>
          <a:xfrm>
            <a:off x="15082408" y="3327631"/>
            <a:ext cx="1549718" cy="1519514"/>
          </a:xfrm>
          <a:prstGeom prst="rect">
            <a:avLst/>
          </a:prstGeom>
        </p:spPr>
      </p:pic>
      <p:sp>
        <p:nvSpPr>
          <p:cNvPr id="23" name="Rettangolo con angoli in alto arrotondati 22">
            <a:extLst>
              <a:ext uri="{FF2B5EF4-FFF2-40B4-BE49-F238E27FC236}">
                <a16:creationId xmlns:a16="http://schemas.microsoft.com/office/drawing/2014/main" id="{4D7ED5BB-2CBA-9AEA-BA97-A140BEFF3C1B}"/>
              </a:ext>
            </a:extLst>
          </p:cNvPr>
          <p:cNvSpPr/>
          <p:nvPr/>
        </p:nvSpPr>
        <p:spPr>
          <a:xfrm>
            <a:off x="1299754" y="7172992"/>
            <a:ext cx="5871805" cy="1365121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9DC96C72-A1EA-AAF1-567F-CCEA7EA37079}"/>
              </a:ext>
            </a:extLst>
          </p:cNvPr>
          <p:cNvSpPr txBox="1"/>
          <p:nvPr/>
        </p:nvSpPr>
        <p:spPr>
          <a:xfrm>
            <a:off x="4606242" y="75420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0AB8D30-54E8-911B-8C04-8DB14BB696B7}"/>
              </a:ext>
            </a:extLst>
          </p:cNvPr>
          <p:cNvSpPr txBox="1"/>
          <p:nvPr/>
        </p:nvSpPr>
        <p:spPr>
          <a:xfrm>
            <a:off x="1357884" y="7186268"/>
            <a:ext cx="57294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💡 Situazione attuale: </a:t>
            </a:r>
            <a:r>
              <a:rPr lang="it-IT" sz="2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260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osservazioni, </a:t>
            </a:r>
            <a:r>
              <a:rPr lang="it-IT" sz="2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18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variabili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7876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1CE98-218B-EBBF-4E0D-CA704D08E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!!crown" descr="Immagine che contiene clipart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9D5D8792-F1F5-ED94-3F3D-42FF70EBD7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27028" t="26593" r="25485" b="30567"/>
          <a:stretch>
            <a:fillRect/>
          </a:stretch>
        </p:blipFill>
        <p:spPr>
          <a:xfrm>
            <a:off x="2905633" y="2327372"/>
            <a:ext cx="2072490" cy="1539003"/>
          </a:xfrm>
          <a:prstGeom prst="rect">
            <a:avLst/>
          </a:prstGeom>
        </p:spPr>
      </p:pic>
      <p:grpSp>
        <p:nvGrpSpPr>
          <p:cNvPr id="68" name="Gruppo 67">
            <a:extLst>
              <a:ext uri="{FF2B5EF4-FFF2-40B4-BE49-F238E27FC236}">
                <a16:creationId xmlns:a16="http://schemas.microsoft.com/office/drawing/2014/main" id="{E6F91E43-E31B-359F-24F9-B896AF0BB688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F85BAA41-731C-8C05-A89D-84B35202A4F5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76AA319B-9074-DA51-9209-F8C009FC31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18DE47E6-4B90-8A68-55E5-447ED5093B8C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270A92B4-7D47-8A4F-53A0-4592159DE044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AE9E1132-4507-E24A-F612-3C6809525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6D1B1BF5-0022-5884-A37B-12BE673353C3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780A6844-C10B-507A-AC58-673BC9446B35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BA1EA963-E2D1-39C5-0F75-1D73E9ACF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30DC432D-CECF-1899-36A1-DABB03D11867}"/>
              </a:ext>
            </a:extLst>
          </p:cNvPr>
          <p:cNvGrpSpPr/>
          <p:nvPr/>
        </p:nvGrpSpPr>
        <p:grpSpPr>
          <a:xfrm>
            <a:off x="637826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7D603EF9-661D-444B-299F-311232738CDA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A3098139-F700-8A9D-E12C-1EEB0A37D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751138ED-500F-290C-EA5E-C7F3F074C9B1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8FF8B94C-B7E5-6FF9-BCB3-DF7AF4113A30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2B7CD8E7-A9EA-E04E-89C0-CBD2E758D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8989ED65-8DE0-BAD9-36B7-0F8F5288C857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620EC8F3-92FF-4D2A-3604-4551BA72134D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ABD7CCBB-08DD-E5F9-E0F6-29D5A7B5D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262EB8D9-41E9-43E7-D075-C065EDBB5660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74839963-8F9A-A2F9-9DDA-953DD064FC5C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289CEACE-B061-3E1B-6444-941DA4402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B7DE02B4-2EB0-05E8-0B50-A719AD0D8752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28219D0C-40B9-DA1D-D418-D34B411F91F1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38CE1152-5E3E-79ED-F3DB-81DDF06D3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EF92619D-9C8F-5323-430D-D5ADD5D8C9A8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21B60762-E951-202D-3E16-97A981AC0A7D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8DB41660-56D4-8B5F-F71F-FB3BF3FC3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8C420F4C-C869-CE81-38D8-70E773954450}"/>
              </a:ext>
            </a:extLst>
          </p:cNvPr>
          <p:cNvSpPr/>
          <p:nvPr/>
        </p:nvSpPr>
        <p:spPr>
          <a:xfrm rot="10800000">
            <a:off x="2838" y="-659843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26" name="Immagine 25" descr="Immagine che contiene ingranaggio, oggetti in metallo, cerchio, ruota&#10;&#10;Il contenuto generato dall'IA potrebbe non essere corretto.">
            <a:extLst>
              <a:ext uri="{FF2B5EF4-FFF2-40B4-BE49-F238E27FC236}">
                <a16:creationId xmlns:a16="http://schemas.microsoft.com/office/drawing/2014/main" id="{8B0FFD82-F59E-E5C6-18CF-3EA2F5557265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6554042-EC1D-1862-1B65-1DD2C2A4B321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Creazione di nuovi indicatori</a:t>
            </a:r>
          </a:p>
        </p:txBody>
      </p:sp>
      <p:sp>
        <p:nvSpPr>
          <p:cNvPr id="5" name="Elaborazione alternativa 4">
            <a:extLst>
              <a:ext uri="{FF2B5EF4-FFF2-40B4-BE49-F238E27FC236}">
                <a16:creationId xmlns:a16="http://schemas.microsoft.com/office/drawing/2014/main" id="{7A91F4F1-3726-8480-8761-C5A4570A845A}"/>
              </a:ext>
            </a:extLst>
          </p:cNvPr>
          <p:cNvSpPr/>
          <p:nvPr/>
        </p:nvSpPr>
        <p:spPr>
          <a:xfrm>
            <a:off x="1319680" y="1490145"/>
            <a:ext cx="5244396" cy="71051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⭐ Rating Massimo (</a:t>
            </a:r>
            <a:r>
              <a:rPr lang="it-IT" sz="1600" b="1" i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Rating_Max</a:t>
            </a:r>
            <a:r>
              <a:rPr lang="it-IT" sz="1600" b="1" i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): </a:t>
            </a:r>
            <a:r>
              <a:rPr lang="it-IT" sz="1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picco di rating all’interno del team, quantifica l’effetto «</a:t>
            </a:r>
            <a:r>
              <a:rPr lang="it-IT" sz="1400" b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carry</a:t>
            </a:r>
            <a:r>
              <a:rPr lang="it-IT" sz="1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» del singolo.</a:t>
            </a:r>
          </a:p>
        </p:txBody>
      </p:sp>
      <p:sp>
        <p:nvSpPr>
          <p:cNvPr id="11" name="Rettangolo con angoli in alto arrotondati 10">
            <a:extLst>
              <a:ext uri="{FF2B5EF4-FFF2-40B4-BE49-F238E27FC236}">
                <a16:creationId xmlns:a16="http://schemas.microsoft.com/office/drawing/2014/main" id="{43B31D1C-7772-412B-E1C8-3729764DC685}"/>
              </a:ext>
            </a:extLst>
          </p:cNvPr>
          <p:cNvSpPr/>
          <p:nvPr/>
        </p:nvSpPr>
        <p:spPr>
          <a:xfrm>
            <a:off x="1299754" y="6422220"/>
            <a:ext cx="5871805" cy="1365121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A5F94AD-3B51-4CDF-F5B4-9BDBD0BA835A}"/>
              </a:ext>
            </a:extLst>
          </p:cNvPr>
          <p:cNvSpPr txBox="1"/>
          <p:nvPr/>
        </p:nvSpPr>
        <p:spPr>
          <a:xfrm>
            <a:off x="4606242" y="67913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3F4EE70-B3AF-5FDB-56A3-EB4E761060F1}"/>
              </a:ext>
            </a:extLst>
          </p:cNvPr>
          <p:cNvSpPr txBox="1"/>
          <p:nvPr/>
        </p:nvSpPr>
        <p:spPr>
          <a:xfrm>
            <a:off x="1357884" y="6435496"/>
            <a:ext cx="57294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💡 Situazione attuale: </a:t>
            </a:r>
            <a:r>
              <a:rPr lang="it-IT" sz="2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260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osservazioni, </a:t>
            </a:r>
            <a:r>
              <a:rPr lang="it-IT" sz="2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18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variabili</a:t>
            </a:r>
          </a:p>
          <a:p>
            <a:endParaRPr lang="it-IT" dirty="0"/>
          </a:p>
        </p:txBody>
      </p:sp>
      <p:sp>
        <p:nvSpPr>
          <p:cNvPr id="25" name="Elaborazione alternativa 24">
            <a:extLst>
              <a:ext uri="{FF2B5EF4-FFF2-40B4-BE49-F238E27FC236}">
                <a16:creationId xmlns:a16="http://schemas.microsoft.com/office/drawing/2014/main" id="{BF1954C4-A54D-C772-A6BA-12D20D3C6BD8}"/>
              </a:ext>
            </a:extLst>
          </p:cNvPr>
          <p:cNvSpPr/>
          <p:nvPr/>
        </p:nvSpPr>
        <p:spPr>
          <a:xfrm>
            <a:off x="6689871" y="2479566"/>
            <a:ext cx="5244396" cy="71051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≠</a:t>
            </a:r>
            <a:r>
              <a:rPr lang="it-IT" sz="16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Disparità di Rating (</a:t>
            </a:r>
            <a:r>
              <a:rPr lang="it-IT" sz="1600" b="1" i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Rating_SD</a:t>
            </a:r>
            <a:r>
              <a:rPr lang="it-IT" sz="1600" b="1" i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): </a:t>
            </a:r>
            <a:r>
              <a:rPr lang="it-IT" sz="1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misura l'omogeneità di squadra, se alto indica un team sbilanciato.</a:t>
            </a:r>
          </a:p>
        </p:txBody>
      </p:sp>
      <p:sp>
        <p:nvSpPr>
          <p:cNvPr id="27" name="Elaborazione alternativa 26">
            <a:extLst>
              <a:ext uri="{FF2B5EF4-FFF2-40B4-BE49-F238E27FC236}">
                <a16:creationId xmlns:a16="http://schemas.microsoft.com/office/drawing/2014/main" id="{C3B57318-CF3A-8A15-2897-A1509765157D}"/>
              </a:ext>
            </a:extLst>
          </p:cNvPr>
          <p:cNvSpPr/>
          <p:nvPr/>
        </p:nvSpPr>
        <p:spPr>
          <a:xfrm>
            <a:off x="1319680" y="3955652"/>
            <a:ext cx="5244396" cy="71051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💀 Percentuale di </a:t>
            </a:r>
            <a:r>
              <a:rPr lang="it-IT" sz="1600" b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kill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(</a:t>
            </a:r>
            <a:r>
              <a:rPr lang="it-IT" sz="1600" b="1" i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Kill_Concentration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): </a:t>
            </a:r>
            <a:r>
              <a:rPr lang="it-IT" sz="1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rapporto tra le uccisioni del miglior marcatore e il totale di squadra.</a:t>
            </a:r>
          </a:p>
        </p:txBody>
      </p:sp>
      <p:sp>
        <p:nvSpPr>
          <p:cNvPr id="29" name="Elaborazione alternativa 28">
            <a:extLst>
              <a:ext uri="{FF2B5EF4-FFF2-40B4-BE49-F238E27FC236}">
                <a16:creationId xmlns:a16="http://schemas.microsoft.com/office/drawing/2014/main" id="{787441E8-8CC5-12CF-96EA-674905CE42A8}"/>
              </a:ext>
            </a:extLst>
          </p:cNvPr>
          <p:cNvSpPr/>
          <p:nvPr/>
        </p:nvSpPr>
        <p:spPr>
          <a:xfrm>
            <a:off x="6630065" y="4890008"/>
            <a:ext cx="5244396" cy="71051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🤝 Rapporto Assist / </a:t>
            </a:r>
            <a:r>
              <a:rPr lang="it-IT" sz="1600" b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Kill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(</a:t>
            </a:r>
            <a:r>
              <a:rPr lang="it-IT" sz="1600" b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Assists_per_Kill</a:t>
            </a:r>
            <a:r>
              <a:rPr lang="it-IT" sz="16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): </a:t>
            </a:r>
            <a:r>
              <a:rPr lang="it-IT" sz="1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rapporto tra assist e uccisioni totali del team, indice di coesione.</a:t>
            </a:r>
          </a:p>
        </p:txBody>
      </p:sp>
      <p:pic>
        <p:nvPicPr>
          <p:cNvPr id="2" name="Immagine 1" descr="Immagine che contiene cerchio, bianco e nero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C1AC64BB-C97D-F58A-FB18-F31DDCA368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4" name="Immagine 3" descr="Immagine che contiene schermata, design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169DBE3C-6CD1-22F4-BFAD-77CAC574A3E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7" name="Immagine 6" descr="Immagine che contiene schermata, Rettangolo, design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057A5807-B957-2894-C623-E28997FA7AD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8" name="Immagine 7" descr="Immagine che contiene bianco, Utensile da cucina, bianco e nero, monocromatic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274F9DF9-3D28-0003-7BA6-432798FE035E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9" name="Immagine 8" descr="Immagine che contiene arte, bianco e ner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96E74F03-9E32-1AC1-D16F-984F6A8A810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10" name="Immagine 9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3189598F-FECA-D469-F323-AA63DFCF23E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17" name="Immagine 16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70EF2A28-FC3B-D3E2-8D2F-D41C07A126E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9" name="Immagine 18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9A89B974-DF45-310F-3B91-65E56282EC4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22" name="Immagine 21" descr="Immagine che contiene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5F312FAF-B902-1CCB-CAFD-7D8E944F0095}"/>
              </a:ext>
            </a:extLst>
          </p:cNvPr>
          <p:cNvPicPr>
            <a:picLocks noChangeAspect="1"/>
          </p:cNvPicPr>
          <p:nvPr/>
        </p:nvPicPr>
        <p:blipFill>
          <a:blip r:embed="rId29">
            <a:alphaModFix amt="10000"/>
          </a:blip>
          <a:srcRect l="29398" t="17814" r="26233" b="29335"/>
          <a:stretch>
            <a:fillRect/>
          </a:stretch>
        </p:blipFill>
        <p:spPr>
          <a:xfrm>
            <a:off x="8537210" y="3327631"/>
            <a:ext cx="1549718" cy="1519514"/>
          </a:xfrm>
          <a:prstGeom prst="rect">
            <a:avLst/>
          </a:prstGeom>
        </p:spPr>
      </p:pic>
      <p:pic>
        <p:nvPicPr>
          <p:cNvPr id="43" name="Picture 2">
            <a:extLst>
              <a:ext uri="{FF2B5EF4-FFF2-40B4-BE49-F238E27FC236}">
                <a16:creationId xmlns:a16="http://schemas.microsoft.com/office/drawing/2014/main" id="{B6C809B7-20EC-B348-21AC-BA44E0D27E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/>
          <a:stretch>
            <a:fillRect/>
          </a:stretch>
        </p:blipFill>
        <p:spPr bwMode="auto">
          <a:xfrm>
            <a:off x="4113700" y="7335160"/>
            <a:ext cx="7700241" cy="5424464"/>
          </a:xfrm>
          <a:prstGeom prst="rect">
            <a:avLst/>
          </a:prstGeom>
          <a:noFill/>
          <a:effectLst>
            <a:glow rad="152400">
              <a:srgbClr val="FF0000">
                <a:alpha val="45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6" name="Connettore a gomito 45">
            <a:extLst>
              <a:ext uri="{FF2B5EF4-FFF2-40B4-BE49-F238E27FC236}">
                <a16:creationId xmlns:a16="http://schemas.microsoft.com/office/drawing/2014/main" id="{4745140C-126B-376D-B267-DA264C83688B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37460" y="7468820"/>
            <a:ext cx="2954770" cy="1403399"/>
          </a:xfrm>
          <a:prstGeom prst="bentConnector3">
            <a:avLst>
              <a:gd name="adj1" fmla="val 100030"/>
            </a:avLst>
          </a:prstGeom>
          <a:ln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!!Rettangolo 26">
            <a:extLst>
              <a:ext uri="{FF2B5EF4-FFF2-40B4-BE49-F238E27FC236}">
                <a16:creationId xmlns:a16="http://schemas.microsoft.com/office/drawing/2014/main" id="{108B7353-89FF-DA1B-DF91-8819DE3A9E19}"/>
              </a:ext>
            </a:extLst>
          </p:cNvPr>
          <p:cNvSpPr/>
          <p:nvPr/>
        </p:nvSpPr>
        <p:spPr>
          <a:xfrm>
            <a:off x="5492228" y="7374564"/>
            <a:ext cx="1412297" cy="207390"/>
          </a:xfrm>
          <a:prstGeom prst="rect">
            <a:avLst/>
          </a:prstGeom>
          <a:noFill/>
          <a:ln>
            <a:solidFill>
              <a:srgbClr val="FF46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Elaborazione alternativa 52">
            <a:extLst>
              <a:ext uri="{FF2B5EF4-FFF2-40B4-BE49-F238E27FC236}">
                <a16:creationId xmlns:a16="http://schemas.microsoft.com/office/drawing/2014/main" id="{EDD20764-F86C-3EB5-5A21-43925C4FC50B}"/>
              </a:ext>
            </a:extLst>
          </p:cNvPr>
          <p:cNvSpPr/>
          <p:nvPr/>
        </p:nvSpPr>
        <p:spPr>
          <a:xfrm>
            <a:off x="1300597" y="9058572"/>
            <a:ext cx="2483720" cy="1843226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Dall’analisi dei </a:t>
            </a:r>
            <a:r>
              <a:rPr lang="it-IT" b="1" i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boxplot</a:t>
            </a:r>
            <a:r>
              <a:rPr lang="it-IT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il «Rating Massimo» appare come il driver più solido per il successo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93430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3217C4-268A-3CA6-70D2-4B290713E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uppo 67">
            <a:extLst>
              <a:ext uri="{FF2B5EF4-FFF2-40B4-BE49-F238E27FC236}">
                <a16:creationId xmlns:a16="http://schemas.microsoft.com/office/drawing/2014/main" id="{6A6B1AE6-1ECB-2670-8DFD-8CE077522859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A9900C28-D43C-39A6-12E8-ADDE5C7B67A4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4804525A-1471-FFDA-7A0D-FFC04E090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14BE2600-C583-C73F-9129-DA0984963F86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74416375-E3B4-7962-F014-F7015FC22DF2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751F5D88-5043-2167-6C4C-AD7303822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A4F2D164-9575-1277-4F43-BB3F38B3553F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2F3B7658-3231-AE7B-F730-CDF5EA6C255F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F1B754D3-D70B-D5AE-10B4-38BD02974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29269EDC-CBAA-A05B-B0F9-0BAF930704B8}"/>
              </a:ext>
            </a:extLst>
          </p:cNvPr>
          <p:cNvGrpSpPr/>
          <p:nvPr/>
        </p:nvGrpSpPr>
        <p:grpSpPr>
          <a:xfrm>
            <a:off x="637826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2F112CEE-5B2F-98F1-9F56-33E976520BC7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E3BF4C08-83A8-08C8-3C72-7AB4E93A4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517D2C2E-F815-9CA5-BC1C-1B10A817389D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FCE24D8F-7CB5-881F-20E2-AB65571EC4BB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DC52E297-F192-B37E-6B5E-A83791D85F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9EE51448-F7E9-AE84-0805-B4AF237E640F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B4459422-5FCD-398A-6907-DFC4D95BC2C6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698256BE-3C42-3EFA-AD09-F573CF3AB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E43BF57A-B3BD-0745-5133-32106630CCF4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16DE27D6-CB42-3499-AA03-89B9F44E4D48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852C6983-D08B-3ED6-FD33-1AF113B46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2D71B8A4-FFC4-A9FE-BDA1-1137F1448E26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CD106832-E670-951F-B4E4-68AEC519FFD0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9AEF438E-AF33-A38C-3BF7-2BB6236AF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150D878C-0F81-9413-8797-6D611D8563C3}"/>
              </a:ext>
            </a:extLst>
          </p:cNvPr>
          <p:cNvGrpSpPr/>
          <p:nvPr/>
        </p:nvGrpSpPr>
        <p:grpSpPr>
          <a:xfrm>
            <a:off x="-6752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A471DF01-8865-357A-0A3F-B0295B85482D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3CAB2974-96AA-1A61-776F-D80C94565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4254530A-673A-C40A-1489-74C8AC4FA917}"/>
              </a:ext>
            </a:extLst>
          </p:cNvPr>
          <p:cNvSpPr/>
          <p:nvPr/>
        </p:nvSpPr>
        <p:spPr>
          <a:xfrm rot="10800000">
            <a:off x="2838" y="-659843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26" name="Immagine 25" descr="Immagine che contiene ingranaggio, oggetti in metallo, cerchio, ruota&#10;&#10;Il contenuto generato dall'IA potrebbe non essere corretto.">
            <a:extLst>
              <a:ext uri="{FF2B5EF4-FFF2-40B4-BE49-F238E27FC236}">
                <a16:creationId xmlns:a16="http://schemas.microsoft.com/office/drawing/2014/main" id="{40747EFB-5C81-0874-9BCF-26D5A18C8DE3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A1891C7D-F7B5-F359-01A1-F056C621B40D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Analisi visiva degli indicatori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1AC2593-DC17-22EB-7DA0-0CA4F6BEF8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7"/>
          <a:stretch>
            <a:fillRect/>
          </a:stretch>
        </p:blipFill>
        <p:spPr bwMode="auto">
          <a:xfrm>
            <a:off x="4113700" y="1137560"/>
            <a:ext cx="7700241" cy="5424464"/>
          </a:xfrm>
          <a:prstGeom prst="rect">
            <a:avLst/>
          </a:prstGeom>
          <a:noFill/>
          <a:effectLst>
            <a:glow rad="152400">
              <a:srgbClr val="FF0000">
                <a:alpha val="45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onnettore a gomito 10">
            <a:extLst>
              <a:ext uri="{FF2B5EF4-FFF2-40B4-BE49-F238E27FC236}">
                <a16:creationId xmlns:a16="http://schemas.microsoft.com/office/drawing/2014/main" id="{D2846C30-7B70-B46B-6F6E-9D4423619353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37460" y="1271220"/>
            <a:ext cx="2954770" cy="1403399"/>
          </a:xfrm>
          <a:prstGeom prst="bentConnector3">
            <a:avLst>
              <a:gd name="adj1" fmla="val 100030"/>
            </a:avLst>
          </a:prstGeom>
          <a:ln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!!Rettangolo 26">
            <a:extLst>
              <a:ext uri="{FF2B5EF4-FFF2-40B4-BE49-F238E27FC236}">
                <a16:creationId xmlns:a16="http://schemas.microsoft.com/office/drawing/2014/main" id="{0F75F717-E1D2-2B19-A11F-8255F5C1ABB5}"/>
              </a:ext>
            </a:extLst>
          </p:cNvPr>
          <p:cNvSpPr/>
          <p:nvPr/>
        </p:nvSpPr>
        <p:spPr>
          <a:xfrm>
            <a:off x="5492228" y="1176964"/>
            <a:ext cx="1412297" cy="207390"/>
          </a:xfrm>
          <a:prstGeom prst="rect">
            <a:avLst/>
          </a:prstGeom>
          <a:noFill/>
          <a:ln>
            <a:solidFill>
              <a:srgbClr val="FF46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Elaborazione alternativa 28">
            <a:extLst>
              <a:ext uri="{FF2B5EF4-FFF2-40B4-BE49-F238E27FC236}">
                <a16:creationId xmlns:a16="http://schemas.microsoft.com/office/drawing/2014/main" id="{520CFF74-4CCD-552B-E72A-7C4021FBB454}"/>
              </a:ext>
            </a:extLst>
          </p:cNvPr>
          <p:cNvSpPr/>
          <p:nvPr/>
        </p:nvSpPr>
        <p:spPr>
          <a:xfrm>
            <a:off x="1300597" y="2860972"/>
            <a:ext cx="2483720" cy="1843226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Dall’analisi dei </a:t>
            </a:r>
            <a:r>
              <a:rPr lang="it-IT" b="1" i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boxplot</a:t>
            </a:r>
            <a:r>
              <a:rPr lang="it-IT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il «Rating Massimo» appare come il driver più solido per il successo</a:t>
            </a:r>
            <a:endParaRPr lang="it-IT" dirty="0"/>
          </a:p>
        </p:txBody>
      </p:sp>
      <p:pic>
        <p:nvPicPr>
          <p:cNvPr id="3" name="Immagine 2" descr="Immagine che contiene cerchio, bianco e nero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05315649-BFDA-DC1F-1F6F-27D7F09AF7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4" name="Immagine 3" descr="Immagine che contiene schermata, design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A12CBFFF-0AFD-DE91-750D-8651C7C50A8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5" name="Immagine 4" descr="Immagine che contiene schermata, Rettangolo, design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7A0CB649-5418-70F1-2E8D-555D38E8B70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7" name="Immagine 6" descr="Immagine che contiene bianco, Utensile da cucina, bianco e nero, monocromatic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80001BE5-5145-63DD-86E2-F1B54AF6710F}"/>
              </a:ext>
            </a:extLst>
          </p:cNvPr>
          <p:cNvPicPr>
            <a:picLocks noChangeAspect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8" name="Immagine 7" descr="Immagine che contiene arte, bianco e ner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25961146-BB16-0CAA-D4CF-E9A8E0E97F9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9" name="Immagine 8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3B15ABDA-0F47-7B50-2652-7F16D100C7D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10" name="Immagine 9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69FFDB69-1B70-A35F-39AD-CE0578762FE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3" name="Immagine 12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09C7E3B4-D857-1CF4-6745-FA1B3231887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72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25993C-D71B-9A00-2301-07315DF31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4EFA485D-8E69-0ADB-A076-200175F0505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21" y="958237"/>
            <a:ext cx="7770881" cy="6105692"/>
          </a:xfrm>
          <a:prstGeom prst="rect">
            <a:avLst/>
          </a:prstGeom>
          <a:noFill/>
          <a:effectLst>
            <a:glow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angolo rettangolo 2">
            <a:extLst>
              <a:ext uri="{FF2B5EF4-FFF2-40B4-BE49-F238E27FC236}">
                <a16:creationId xmlns:a16="http://schemas.microsoft.com/office/drawing/2014/main" id="{45F6D967-0EB0-9566-1490-601BC6D69114}"/>
              </a:ext>
            </a:extLst>
          </p:cNvPr>
          <p:cNvSpPr>
            <a:spLocks/>
          </p:cNvSpPr>
          <p:nvPr/>
        </p:nvSpPr>
        <p:spPr>
          <a:xfrm flipH="1">
            <a:off x="4829167" y="-1933575"/>
            <a:ext cx="8048625" cy="11934824"/>
          </a:xfrm>
          <a:prstGeom prst="rtTriangle">
            <a:avLst/>
          </a:prstGeom>
          <a:solidFill>
            <a:srgbClr val="FF4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8AB532D6-F685-808E-B0FA-EDD186F40640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60EFE095-D509-41C5-1BD5-61966176AE4B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8F47C77C-37BD-D2CC-C580-6D3F698D4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23196C41-BADF-4666-221B-32B2FCA7D2B4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EC329291-38F1-6EB7-BC81-21F723A26584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E188438B-FAEB-AD70-9EC5-8F2DCAEFC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64BEF4A3-DF22-E5D0-DA71-97A388C79CBF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C4674FFE-3F42-73E6-FA3D-25E6AEA2EF84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7FCF49AF-3296-C099-EA82-37F3061945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EEBDDB6E-CC52-7BF2-7F98-554B1CB848FD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04630AB7-5635-24C5-6896-5025AB1EBE8F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E5E8935E-2E84-F922-F980-119AC2BF4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D213F2E8-B6D0-C168-6E41-3DCB1033139C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0A42743A-4EF0-2EA6-41F7-D897B625B84E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45F56607-68AA-7838-AEBA-92965336C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65F88743-AB06-6013-B81C-2DE34856F3D7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7FA74B50-9EAD-CCDB-E913-610CDC988AB0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BB99BA2E-9C50-E12D-6B4B-5DCDB4EC9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2A76117B-65EA-B518-A203-1691FC08CF81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E191060B-C57A-BFF1-3BCA-B35A2445F3B9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42FF2CDF-7E31-E588-E02D-0A8F30952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ED180564-368C-782A-3DC5-65773F010A4A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E8FC79E0-DFBE-9BBA-6125-35C74661D460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0A8C53D7-8FF3-68C5-8379-F2C49C8C5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40E6C624-C915-BA77-FF95-F701859174DB}"/>
              </a:ext>
            </a:extLst>
          </p:cNvPr>
          <p:cNvGrpSpPr/>
          <p:nvPr/>
        </p:nvGrpSpPr>
        <p:grpSpPr>
          <a:xfrm>
            <a:off x="629695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61738B90-B69D-D3EC-FCD7-9B55330002ED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15029DBA-F848-80E7-6A36-650DE7E81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1AE31AE3-09F6-F5CC-45EF-B705400CD8AC}"/>
              </a:ext>
            </a:extLst>
          </p:cNvPr>
          <p:cNvSpPr/>
          <p:nvPr/>
        </p:nvSpPr>
        <p:spPr>
          <a:xfrm rot="10800000">
            <a:off x="2838" y="-592215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26" name="Immagine 25" descr="Immagine che contiene ingranaggio, oggetti in metallo, cerchio, ruota&#10;&#10;Il contenuto generato dall'IA potrebbe non essere corretto.">
            <a:hlinkClick r:id="rId12" action="ppaction://hlinksldjump"/>
            <a:extLst>
              <a:ext uri="{FF2B5EF4-FFF2-40B4-BE49-F238E27FC236}">
                <a16:creationId xmlns:a16="http://schemas.microsoft.com/office/drawing/2014/main" id="{D4CB17F8-1543-CA14-296D-5EB23CB921A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30" name="Immagine 29" descr="Immagine che contiene bianco, Utensile da cucina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D8485350-9EE1-8095-07EC-1D0B1BF3CE9D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1870DFC-3041-0ED0-CFCC-533447A6A914}"/>
              </a:ext>
            </a:extLst>
          </p:cNvPr>
          <p:cNvSpPr txBox="1"/>
          <p:nvPr/>
        </p:nvSpPr>
        <p:spPr>
          <a:xfrm>
            <a:off x="2419350" y="1905506"/>
            <a:ext cx="8172450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9600" b="1" dirty="0" err="1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Variable</a:t>
            </a:r>
            <a:r>
              <a:rPr lang="it-IT" sz="96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9600" b="1" dirty="0" err="1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Selection</a:t>
            </a:r>
            <a:endParaRPr lang="it-IT" sz="9600" b="1" dirty="0">
              <a:solidFill>
                <a:schemeClr val="bg1"/>
              </a:solidFill>
              <a:effectLst>
                <a:glow rad="101600">
                  <a:srgbClr val="FF0000">
                    <a:alpha val="40000"/>
                  </a:srgb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Immagine 3" descr="Immagine che contiene arte, bianco e nero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5B300725-1BC6-1ACB-E60C-5004F8C5399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7" name="Immagine 6" descr="Immagine che contiene design, linea, bianco, Rettangolo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AD5F45DC-74F9-A106-7FA2-FB665FBCC5D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8" name="Immagine 7" descr="Immagine che contiene triangol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A93648BC-DE83-D58F-7E74-7789C0BC7F4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9" name="Immagine 8" descr="Immagine che contiene schermata, design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3DB387CE-F7A5-23A5-2B92-D54EB32E121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10" name="Immagine 9" descr="Immagine che contiene cerchio, bianco e ner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E288D461-8032-EC92-CCBE-A03891BC365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11" name="Immagine 10" descr="Immagine che contiene schermata, design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803CCAE1-8923-7CE3-6439-827D2F2F1BC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13" name="Immagine 12" descr="Immagine che contiene schermata, Rettangolo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7EDB855A-0233-0DD1-197B-454E0875E33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D2A86BC-D65F-AEE4-C460-9EE7AB981421}"/>
              </a:ext>
            </a:extLst>
          </p:cNvPr>
          <p:cNvSpPr txBox="1"/>
          <p:nvPr/>
        </p:nvSpPr>
        <p:spPr>
          <a:xfrm>
            <a:off x="1726287" y="-1997308"/>
            <a:ext cx="99693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Suddivisione del dataset in «Training Set» e «Test Set»</a:t>
            </a:r>
          </a:p>
          <a:p>
            <a:endParaRPr lang="it-IT" sz="30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30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Prevenzione del fenomeno di </a:t>
            </a:r>
            <a:r>
              <a:rPr lang="it-IT" sz="30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data leakage</a:t>
            </a:r>
            <a:endParaRPr lang="it-IT" sz="30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5" name="!!ecco">
            <a:extLst>
              <a:ext uri="{FF2B5EF4-FFF2-40B4-BE49-F238E27FC236}">
                <a16:creationId xmlns:a16="http://schemas.microsoft.com/office/drawing/2014/main" id="{DFC6585B-4F4A-0FF4-2D39-79B9672FB18F}"/>
              </a:ext>
            </a:extLst>
          </p:cNvPr>
          <p:cNvSpPr/>
          <p:nvPr/>
        </p:nvSpPr>
        <p:spPr>
          <a:xfrm>
            <a:off x="1518149" y="-1791761"/>
            <a:ext cx="103976" cy="111960"/>
          </a:xfrm>
          <a:prstGeom prst="flowChartConnector">
            <a:avLst/>
          </a:prstGeom>
          <a:solidFill>
            <a:srgbClr val="FF4655"/>
          </a:solidFill>
          <a:ln>
            <a:solidFill>
              <a:srgbClr val="C13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!!eccoate">
            <a:extLst>
              <a:ext uri="{FF2B5EF4-FFF2-40B4-BE49-F238E27FC236}">
                <a16:creationId xmlns:a16="http://schemas.microsoft.com/office/drawing/2014/main" id="{8D368F60-15E8-EE28-9164-11673AE2421F}"/>
              </a:ext>
            </a:extLst>
          </p:cNvPr>
          <p:cNvSpPr/>
          <p:nvPr/>
        </p:nvSpPr>
        <p:spPr>
          <a:xfrm>
            <a:off x="1518149" y="-863783"/>
            <a:ext cx="103976" cy="111960"/>
          </a:xfrm>
          <a:prstGeom prst="flowChartConnector">
            <a:avLst/>
          </a:prstGeom>
          <a:solidFill>
            <a:srgbClr val="FF4655"/>
          </a:solidFill>
          <a:ln>
            <a:solidFill>
              <a:srgbClr val="C13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Elaborazione 17">
            <a:extLst>
              <a:ext uri="{FF2B5EF4-FFF2-40B4-BE49-F238E27FC236}">
                <a16:creationId xmlns:a16="http://schemas.microsoft.com/office/drawing/2014/main" id="{E961EC13-F908-2539-564D-EB1CA36C3A19}"/>
              </a:ext>
            </a:extLst>
          </p:cNvPr>
          <p:cNvSpPr/>
          <p:nvPr/>
        </p:nvSpPr>
        <p:spPr>
          <a:xfrm>
            <a:off x="-7942095" y="4096019"/>
            <a:ext cx="7654565" cy="1617156"/>
          </a:xfrm>
          <a:prstGeom prst="flowChartProcess">
            <a:avLst/>
          </a:prstGeom>
          <a:solidFill>
            <a:srgbClr val="FF4655"/>
          </a:solidFill>
          <a:ln>
            <a:solidFill>
              <a:srgbClr val="C13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9D294C0-C127-8ABC-4C78-8BB6B6FB7FC3}"/>
              </a:ext>
            </a:extLst>
          </p:cNvPr>
          <p:cNvSpPr txBox="1"/>
          <p:nvPr/>
        </p:nvSpPr>
        <p:spPr>
          <a:xfrm>
            <a:off x="-4655186" y="5667694"/>
            <a:ext cx="1080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dirty="0">
                <a:solidFill>
                  <a:schemeClr val="bg1"/>
                </a:solidFill>
                <a:effectLst>
                  <a:glow rad="127000">
                    <a:srgbClr val="FF4655">
                      <a:alpha val="5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75 %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F154052-9ACD-E4CE-B7A7-19927397FB95}"/>
              </a:ext>
            </a:extLst>
          </p:cNvPr>
          <p:cNvSpPr txBox="1"/>
          <p:nvPr/>
        </p:nvSpPr>
        <p:spPr>
          <a:xfrm>
            <a:off x="-5085774" y="4128659"/>
            <a:ext cx="1941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dirty="0">
                <a:solidFill>
                  <a:schemeClr val="tx2"/>
                </a:solidFill>
                <a:effectLst>
                  <a:glow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Training Set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A55F0293-3193-83E4-D55D-85DB4F95AD96}"/>
              </a:ext>
            </a:extLst>
          </p:cNvPr>
          <p:cNvSpPr txBox="1"/>
          <p:nvPr/>
        </p:nvSpPr>
        <p:spPr>
          <a:xfrm>
            <a:off x="-7675862" y="4721291"/>
            <a:ext cx="71220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Utilizzato per tutte le fasi di addestramento e selezione delle variabili (VIF, </a:t>
            </a:r>
            <a:r>
              <a:rPr lang="it-IT" sz="16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Stepwise</a:t>
            </a:r>
            <a:r>
              <a:rPr lang="it-IT" sz="1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LASSO/RIDGE, Cross </a:t>
            </a:r>
            <a:r>
              <a:rPr lang="it-IT" sz="16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Validation</a:t>
            </a:r>
            <a:r>
              <a:rPr lang="it-IT" sz="1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).</a:t>
            </a:r>
          </a:p>
        </p:txBody>
      </p:sp>
      <p:sp>
        <p:nvSpPr>
          <p:cNvPr id="23" name="Elaborazione 22">
            <a:extLst>
              <a:ext uri="{FF2B5EF4-FFF2-40B4-BE49-F238E27FC236}">
                <a16:creationId xmlns:a16="http://schemas.microsoft.com/office/drawing/2014/main" id="{5D4400C3-D5CF-493B-DAAD-1DBF5000E4F7}"/>
              </a:ext>
            </a:extLst>
          </p:cNvPr>
          <p:cNvSpPr/>
          <p:nvPr/>
        </p:nvSpPr>
        <p:spPr>
          <a:xfrm>
            <a:off x="13183176" y="4096019"/>
            <a:ext cx="2542881" cy="1617156"/>
          </a:xfrm>
          <a:prstGeom prst="flowChartProcess">
            <a:avLst/>
          </a:prstGeom>
          <a:solidFill>
            <a:schemeClr val="accent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00AF09AA-13B0-9E84-69EA-A8153698C542}"/>
              </a:ext>
            </a:extLst>
          </p:cNvPr>
          <p:cNvSpPr txBox="1"/>
          <p:nvPr/>
        </p:nvSpPr>
        <p:spPr>
          <a:xfrm>
            <a:off x="13914243" y="5662772"/>
            <a:ext cx="1080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dirty="0">
                <a:solidFill>
                  <a:schemeClr val="bg1"/>
                </a:solidFill>
                <a:effectLst>
                  <a:glow rad="127000">
                    <a:srgbClr val="0070C0">
                      <a:alpha val="5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25 %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C19D8837-F194-57DC-DA0F-E201057699AF}"/>
              </a:ext>
            </a:extLst>
          </p:cNvPr>
          <p:cNvSpPr txBox="1"/>
          <p:nvPr/>
        </p:nvSpPr>
        <p:spPr>
          <a:xfrm>
            <a:off x="13758996" y="4128658"/>
            <a:ext cx="1545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dirty="0">
                <a:solidFill>
                  <a:schemeClr val="tx2"/>
                </a:solidFill>
                <a:effectLst>
                  <a:glow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Test Set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14A70E9-358E-9996-9A5B-0D3C25BD4F19}"/>
              </a:ext>
            </a:extLst>
          </p:cNvPr>
          <p:cNvSpPr txBox="1"/>
          <p:nvPr/>
        </p:nvSpPr>
        <p:spPr>
          <a:xfrm>
            <a:off x="13471478" y="4622962"/>
            <a:ext cx="21210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Mantenuto isolato fino all’analisi di performance finale</a:t>
            </a:r>
          </a:p>
        </p:txBody>
      </p:sp>
    </p:spTree>
    <p:extLst>
      <p:ext uri="{BB962C8B-B14F-4D97-AF65-F5344CB8AC3E}">
        <p14:creationId xmlns:p14="http://schemas.microsoft.com/office/powerpoint/2010/main" val="9058020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4FB46-C14C-AF4E-B45E-01C71E281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uppo 67">
            <a:extLst>
              <a:ext uri="{FF2B5EF4-FFF2-40B4-BE49-F238E27FC236}">
                <a16:creationId xmlns:a16="http://schemas.microsoft.com/office/drawing/2014/main" id="{592B9E5C-8122-79EF-1D69-35C2B301CB9D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DF52FE8B-30D4-404B-3CEE-82FB4B95E52E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D6B90431-FF9D-2234-0011-DC43E809D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DF8BA10D-2A03-1278-21FA-90B50D1F1515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F2C10F43-5DDE-5821-2210-15B8C76FF34B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0330FEBF-E7C6-1D2B-3FE8-03AF95589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9F0EE4DA-1D13-83DC-2999-B2CE1FFB2CAB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5E5B3E7B-D7EB-F9B3-DDDB-3B54226916BE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99ABC9E2-C53E-6179-00D8-60E742C54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286031C3-A628-6F61-6A53-8A9802CD1905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4283DDC3-5689-19A4-12EC-9B42386C34E0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9E01FC36-AB11-BDC2-55D3-CDBCEA70B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9551F974-AAE7-1EE0-6254-301F05DD7BA2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D9433EDC-4BE0-C088-42C3-6BF283051362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5B712AEA-DE7A-B29D-A101-78E9B61A0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F65B8B0F-E404-5E87-EB10-ECFD8063B7E7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9373FBD5-DB07-4AA3-CBB5-0805515C09AC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D9F64706-5F68-1B67-B029-230FC8AEE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09A034E6-96A9-0DE2-5CBA-86A495ACA52B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BF23ABED-4359-4E84-40A1-89D0259CC142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2C8BBE9A-95AA-8103-41A2-FD01456B6E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8EB020D5-0188-1D92-3A0A-349E8FD42F6A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4DCBC256-9938-6A68-1289-C31BCCBD74EE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00317DCE-B54E-CA6F-74C3-4BE7EC7AE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94CC3E5B-F58F-2044-3FAF-A60B29F23189}"/>
              </a:ext>
            </a:extLst>
          </p:cNvPr>
          <p:cNvGrpSpPr/>
          <p:nvPr/>
        </p:nvGrpSpPr>
        <p:grpSpPr>
          <a:xfrm>
            <a:off x="629695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1B0D35BE-0C05-2C43-BCBB-D7F948D64B2F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7A264A99-F50C-88D4-358C-C582D00CC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77BEF582-2B4C-5912-AFF9-384F5FC68C21}"/>
              </a:ext>
            </a:extLst>
          </p:cNvPr>
          <p:cNvSpPr/>
          <p:nvPr/>
        </p:nvSpPr>
        <p:spPr>
          <a:xfrm rot="10800000">
            <a:off x="2838" y="-592215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30" name="Immagine 29" descr="Immagine che contiene bianco, Utensile da cucina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17188A52-15CB-59F9-1BE7-4CB7A6EA1DFA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4447D4C5-56A7-C947-96EC-97BBA29AA37F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Data Splitting</a:t>
            </a:r>
          </a:p>
        </p:txBody>
      </p:sp>
      <p:sp>
        <p:nvSpPr>
          <p:cNvPr id="9" name="Elaborazione 8">
            <a:extLst>
              <a:ext uri="{FF2B5EF4-FFF2-40B4-BE49-F238E27FC236}">
                <a16:creationId xmlns:a16="http://schemas.microsoft.com/office/drawing/2014/main" id="{CFF7F112-B47E-DC92-104F-C65324E91475}"/>
              </a:ext>
            </a:extLst>
          </p:cNvPr>
          <p:cNvSpPr/>
          <p:nvPr/>
        </p:nvSpPr>
        <p:spPr>
          <a:xfrm>
            <a:off x="1525755" y="4096019"/>
            <a:ext cx="7654565" cy="1617156"/>
          </a:xfrm>
          <a:prstGeom prst="flowChartProcess">
            <a:avLst/>
          </a:prstGeom>
          <a:solidFill>
            <a:srgbClr val="FF4655"/>
          </a:solidFill>
          <a:ln>
            <a:solidFill>
              <a:srgbClr val="C13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C3F7B95-0BA9-4B0B-4688-7B543A2340D5}"/>
              </a:ext>
            </a:extLst>
          </p:cNvPr>
          <p:cNvSpPr txBox="1"/>
          <p:nvPr/>
        </p:nvSpPr>
        <p:spPr>
          <a:xfrm>
            <a:off x="1726287" y="1812692"/>
            <a:ext cx="99693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0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Suddivisione del dataset in «Training Set» e «Test Set»</a:t>
            </a:r>
          </a:p>
          <a:p>
            <a:endParaRPr lang="it-IT" sz="30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30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Prevenzione del fenomeno di </a:t>
            </a:r>
            <a:r>
              <a:rPr lang="it-IT" sz="30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data leakage</a:t>
            </a:r>
            <a:endParaRPr lang="it-IT" sz="30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1" name="!!ecco">
            <a:extLst>
              <a:ext uri="{FF2B5EF4-FFF2-40B4-BE49-F238E27FC236}">
                <a16:creationId xmlns:a16="http://schemas.microsoft.com/office/drawing/2014/main" id="{2CC1A746-3E83-4627-C58F-B9F38FF5FBBA}"/>
              </a:ext>
            </a:extLst>
          </p:cNvPr>
          <p:cNvSpPr/>
          <p:nvPr/>
        </p:nvSpPr>
        <p:spPr>
          <a:xfrm>
            <a:off x="1518149" y="2018239"/>
            <a:ext cx="103976" cy="111960"/>
          </a:xfrm>
          <a:prstGeom prst="flowChartConnector">
            <a:avLst/>
          </a:prstGeom>
          <a:solidFill>
            <a:srgbClr val="FF4655"/>
          </a:solidFill>
          <a:ln>
            <a:solidFill>
              <a:srgbClr val="C13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!!eccoate">
            <a:extLst>
              <a:ext uri="{FF2B5EF4-FFF2-40B4-BE49-F238E27FC236}">
                <a16:creationId xmlns:a16="http://schemas.microsoft.com/office/drawing/2014/main" id="{E5B6BBB7-C830-CD16-DD03-7F5C69E872AC}"/>
              </a:ext>
            </a:extLst>
          </p:cNvPr>
          <p:cNvSpPr/>
          <p:nvPr/>
        </p:nvSpPr>
        <p:spPr>
          <a:xfrm>
            <a:off x="1518149" y="2946217"/>
            <a:ext cx="103976" cy="111960"/>
          </a:xfrm>
          <a:prstGeom prst="flowChartConnector">
            <a:avLst/>
          </a:prstGeom>
          <a:solidFill>
            <a:srgbClr val="FF4655"/>
          </a:solidFill>
          <a:ln>
            <a:solidFill>
              <a:srgbClr val="C13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Elaborazione 14">
            <a:extLst>
              <a:ext uri="{FF2B5EF4-FFF2-40B4-BE49-F238E27FC236}">
                <a16:creationId xmlns:a16="http://schemas.microsoft.com/office/drawing/2014/main" id="{715B0875-99EC-A8F9-F941-5CA9ABA8BEA9}"/>
              </a:ext>
            </a:extLst>
          </p:cNvPr>
          <p:cNvSpPr/>
          <p:nvPr/>
        </p:nvSpPr>
        <p:spPr>
          <a:xfrm>
            <a:off x="9182676" y="4096019"/>
            <a:ext cx="2542881" cy="1617156"/>
          </a:xfrm>
          <a:prstGeom prst="flowChartProcess">
            <a:avLst/>
          </a:prstGeom>
          <a:solidFill>
            <a:schemeClr val="accent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3CD250CB-BDD5-8546-6D71-595FD0523C3D}"/>
              </a:ext>
            </a:extLst>
          </p:cNvPr>
          <p:cNvSpPr txBox="1"/>
          <p:nvPr/>
        </p:nvSpPr>
        <p:spPr>
          <a:xfrm>
            <a:off x="4812664" y="5667694"/>
            <a:ext cx="1080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dirty="0">
                <a:solidFill>
                  <a:schemeClr val="bg1"/>
                </a:solidFill>
                <a:effectLst>
                  <a:glow rad="127000">
                    <a:srgbClr val="FF4655">
                      <a:alpha val="5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75 %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0B5702D-FAC9-F214-6852-7A9216FABE3A}"/>
              </a:ext>
            </a:extLst>
          </p:cNvPr>
          <p:cNvSpPr txBox="1"/>
          <p:nvPr/>
        </p:nvSpPr>
        <p:spPr>
          <a:xfrm>
            <a:off x="9913743" y="5662772"/>
            <a:ext cx="10807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 dirty="0">
                <a:solidFill>
                  <a:schemeClr val="bg1"/>
                </a:solidFill>
                <a:effectLst>
                  <a:glow rad="127000">
                    <a:srgbClr val="0070C0">
                      <a:alpha val="5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25 %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3C3267C-1031-D32F-826B-F04E8CDBF1F9}"/>
              </a:ext>
            </a:extLst>
          </p:cNvPr>
          <p:cNvSpPr txBox="1"/>
          <p:nvPr/>
        </p:nvSpPr>
        <p:spPr>
          <a:xfrm>
            <a:off x="4382076" y="4128659"/>
            <a:ext cx="1941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dirty="0">
                <a:solidFill>
                  <a:schemeClr val="tx2"/>
                </a:solidFill>
                <a:effectLst>
                  <a:glow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Training Set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D362124-D67B-E584-84D6-5F4A923D65B2}"/>
              </a:ext>
            </a:extLst>
          </p:cNvPr>
          <p:cNvSpPr txBox="1"/>
          <p:nvPr/>
        </p:nvSpPr>
        <p:spPr>
          <a:xfrm>
            <a:off x="9758496" y="4128658"/>
            <a:ext cx="1545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dirty="0">
                <a:solidFill>
                  <a:schemeClr val="tx2"/>
                </a:solidFill>
                <a:effectLst>
                  <a:glow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Test Set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22BCF2FC-EE06-91F9-BA0E-EBE8CC41B156}"/>
              </a:ext>
            </a:extLst>
          </p:cNvPr>
          <p:cNvSpPr txBox="1"/>
          <p:nvPr/>
        </p:nvSpPr>
        <p:spPr>
          <a:xfrm>
            <a:off x="1791988" y="4721291"/>
            <a:ext cx="71220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Utilizzato per tutte le fasi di addestramento e selezione delle variabili (VIF, </a:t>
            </a:r>
            <a:r>
              <a:rPr lang="it-IT" sz="16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Stepwise</a:t>
            </a:r>
            <a:r>
              <a:rPr lang="it-IT" sz="1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LASSO/RIDGE, Cross </a:t>
            </a:r>
            <a:r>
              <a:rPr lang="it-IT" sz="16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Validation</a:t>
            </a:r>
            <a:r>
              <a:rPr lang="it-IT" sz="1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).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6A0F4F51-B67B-304A-36D6-9A1DC173E45F}"/>
              </a:ext>
            </a:extLst>
          </p:cNvPr>
          <p:cNvSpPr txBox="1"/>
          <p:nvPr/>
        </p:nvSpPr>
        <p:spPr>
          <a:xfrm>
            <a:off x="9470978" y="4622962"/>
            <a:ext cx="21210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Mantenuto isolato fino all’analisi di performance finale</a:t>
            </a:r>
          </a:p>
        </p:txBody>
      </p:sp>
      <p:pic>
        <p:nvPicPr>
          <p:cNvPr id="2" name="Immagine 1" descr="Immagine che contiene ingranaggio, oggetti in metallo, cerchio, ruota&#10;&#10;Il contenuto generato dall'IA potrebbe non essere corretto.">
            <a:hlinkClick r:id="rId12" action="ppaction://hlinksldjump"/>
            <a:extLst>
              <a:ext uri="{FF2B5EF4-FFF2-40B4-BE49-F238E27FC236}">
                <a16:creationId xmlns:a16="http://schemas.microsoft.com/office/drawing/2014/main" id="{0B91307F-9D71-CE9A-82E5-CDFFD963383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4" name="Immagine 3" descr="Immagine che contiene arte, bianco e nero&#10;&#10;Il contenuto generato dall'IA potrebbe non essere corretto.">
            <a:hlinkClick r:id="rId14" action="ppaction://hlinksldjump"/>
            <a:extLst>
              <a:ext uri="{FF2B5EF4-FFF2-40B4-BE49-F238E27FC236}">
                <a16:creationId xmlns:a16="http://schemas.microsoft.com/office/drawing/2014/main" id="{845FF47F-D8C1-ECC8-DAF1-5865DC2A890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5" name="Immagine 4" descr="Immagine che contiene design, linea, bianco, Rettangolo&#10;&#10;Il contenuto generato dall'IA potrebbe non essere corretto.">
            <a:hlinkClick r:id="rId16" action="ppaction://hlinksldjump"/>
            <a:extLst>
              <a:ext uri="{FF2B5EF4-FFF2-40B4-BE49-F238E27FC236}">
                <a16:creationId xmlns:a16="http://schemas.microsoft.com/office/drawing/2014/main" id="{B8F7B320-5B34-648B-5A46-E5270D1C866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7" name="Immagine 6" descr="Immagine che contiene triangolo&#10;&#10;Il contenuto generato dall'IA potrebbe non essere corretto.">
            <a:hlinkClick r:id="rId18" action="ppaction://hlinksldjump"/>
            <a:extLst>
              <a:ext uri="{FF2B5EF4-FFF2-40B4-BE49-F238E27FC236}">
                <a16:creationId xmlns:a16="http://schemas.microsoft.com/office/drawing/2014/main" id="{077D45F3-8EC7-D0A3-C100-A0167AD22FA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8" name="Immagine 7" descr="Immagine che contiene schermata, design&#10;&#10;Il contenuto generato dall'IA potrebbe non essere corretto.">
            <a:hlinkClick r:id="rId20" action="ppaction://hlinksldjump"/>
            <a:extLst>
              <a:ext uri="{FF2B5EF4-FFF2-40B4-BE49-F238E27FC236}">
                <a16:creationId xmlns:a16="http://schemas.microsoft.com/office/drawing/2014/main" id="{348ABFD7-40AA-E531-4E4E-EF02DC60F6C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27" name="Immagine 26" descr="Immagine che contiene cerchio, bianco e nero&#10;&#10;Il contenuto generato dall'IA potrebbe non essere corretto.">
            <a:hlinkClick r:id="rId22" action="ppaction://hlinksldjump"/>
            <a:extLst>
              <a:ext uri="{FF2B5EF4-FFF2-40B4-BE49-F238E27FC236}">
                <a16:creationId xmlns:a16="http://schemas.microsoft.com/office/drawing/2014/main" id="{0D3C1DE1-284D-5042-4287-4120660757F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31" name="Immagine 30" descr="Immagine che contiene schermata, design&#10;&#10;Il contenuto generato dall'IA potrebbe non essere corretto.">
            <a:hlinkClick r:id="rId24" action="ppaction://hlinksldjump"/>
            <a:extLst>
              <a:ext uri="{FF2B5EF4-FFF2-40B4-BE49-F238E27FC236}">
                <a16:creationId xmlns:a16="http://schemas.microsoft.com/office/drawing/2014/main" id="{BC118584-B7F4-BAD8-EC1E-F93980F1B0A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33" name="Immagine 32" descr="Immagine che contiene schermata, Rettangolo, design&#10;&#10;Il contenuto generato dall'IA potrebbe non essere corretto.">
            <a:hlinkClick r:id="rId26" action="ppaction://hlinksldjump"/>
            <a:extLst>
              <a:ext uri="{FF2B5EF4-FFF2-40B4-BE49-F238E27FC236}">
                <a16:creationId xmlns:a16="http://schemas.microsoft.com/office/drawing/2014/main" id="{BAF6DE43-F5C9-ABA2-FEED-A90F0379D96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sp>
        <p:nvSpPr>
          <p:cNvPr id="46" name="!!sdoflife">
            <a:extLst>
              <a:ext uri="{FF2B5EF4-FFF2-40B4-BE49-F238E27FC236}">
                <a16:creationId xmlns:a16="http://schemas.microsoft.com/office/drawing/2014/main" id="{39D7EE3F-DA0D-189B-D2FB-C8114B8ACA2A}"/>
              </a:ext>
            </a:extLst>
          </p:cNvPr>
          <p:cNvSpPr/>
          <p:nvPr/>
        </p:nvSpPr>
        <p:spPr>
          <a:xfrm rot="5400000" flipV="1">
            <a:off x="15420615" y="2824250"/>
            <a:ext cx="771956" cy="2238670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asellaDiTesto 46">
                <a:extLst>
                  <a:ext uri="{FF2B5EF4-FFF2-40B4-BE49-F238E27FC236}">
                    <a16:creationId xmlns:a16="http://schemas.microsoft.com/office/drawing/2014/main" id="{79C01CE0-36F1-68CC-E2DD-E12E9B2F9AB5}"/>
                  </a:ext>
                </a:extLst>
              </p:cNvPr>
              <p:cNvSpPr txBox="1"/>
              <p:nvPr/>
            </p:nvSpPr>
            <p:spPr>
              <a:xfrm>
                <a:off x="15140793" y="3630680"/>
                <a:ext cx="1537537" cy="6247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𝑉𝐼𝐹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it-I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1 −</m:t>
                          </m:r>
                          <m:sSubSup>
                            <m:sSubSupPr>
                              <m:ctrlPr>
                                <a:rPr lang="it-I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it-I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it-IT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7" name="CasellaDiTesto 46">
                <a:extLst>
                  <a:ext uri="{FF2B5EF4-FFF2-40B4-BE49-F238E27FC236}">
                    <a16:creationId xmlns:a16="http://schemas.microsoft.com/office/drawing/2014/main" id="{79C01CE0-36F1-68CC-E2DD-E12E9B2F9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0793" y="3630680"/>
                <a:ext cx="1537537" cy="624723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84DE9C39-3BFF-6536-F952-10FD012C5EDB}"/>
              </a:ext>
            </a:extLst>
          </p:cNvPr>
          <p:cNvSpPr txBox="1"/>
          <p:nvPr/>
        </p:nvSpPr>
        <p:spPr>
          <a:xfrm>
            <a:off x="14658974" y="3746944"/>
            <a:ext cx="453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💡</a:t>
            </a:r>
          </a:p>
        </p:txBody>
      </p:sp>
      <p:pic>
        <p:nvPicPr>
          <p:cNvPr id="102" name="Immagine 101" descr="Immagine che contiene testo, schermata, Carattere, software&#10;&#10;Il contenuto generato dall'IA potrebbe non essere corretto.">
            <a:extLst>
              <a:ext uri="{FF2B5EF4-FFF2-40B4-BE49-F238E27FC236}">
                <a16:creationId xmlns:a16="http://schemas.microsoft.com/office/drawing/2014/main" id="{0630D36A-EF7E-CD55-F01A-F6140A31043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714759" y="11933045"/>
            <a:ext cx="9764345" cy="1632383"/>
          </a:xfrm>
          <a:prstGeom prst="rect">
            <a:avLst/>
          </a:prstGeom>
          <a:effectLst>
            <a:glow rad="152400">
              <a:srgbClr val="FF4655">
                <a:alpha val="45000"/>
              </a:srgbClr>
            </a:glow>
          </a:effectLst>
        </p:spPr>
      </p:pic>
      <p:sp>
        <p:nvSpPr>
          <p:cNvPr id="103" name="Trapezio 102">
            <a:extLst>
              <a:ext uri="{FF2B5EF4-FFF2-40B4-BE49-F238E27FC236}">
                <a16:creationId xmlns:a16="http://schemas.microsoft.com/office/drawing/2014/main" id="{0408B3DB-FEA2-53CD-5B3A-1A4E1CBEFDBE}"/>
              </a:ext>
            </a:extLst>
          </p:cNvPr>
          <p:cNvSpPr>
            <a:spLocks/>
          </p:cNvSpPr>
          <p:nvPr/>
        </p:nvSpPr>
        <p:spPr>
          <a:xfrm flipV="1">
            <a:off x="2400889" y="8707650"/>
            <a:ext cx="8370997" cy="2495774"/>
          </a:xfrm>
          <a:prstGeom prst="trapezoid">
            <a:avLst>
              <a:gd name="adj" fmla="val 88096"/>
            </a:avLst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74A6246E-4F21-2D30-6D9B-C37DCED382B9}"/>
              </a:ext>
            </a:extLst>
          </p:cNvPr>
          <p:cNvSpPr txBox="1"/>
          <p:nvPr/>
        </p:nvSpPr>
        <p:spPr>
          <a:xfrm>
            <a:off x="5425026" y="7629499"/>
            <a:ext cx="2295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14</a:t>
            </a:r>
            <a:r>
              <a:rPr lang="it-IT" sz="3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variabili</a:t>
            </a:r>
            <a:endParaRPr lang="it-IT" sz="3200" dirty="0">
              <a:solidFill>
                <a:schemeClr val="bg1"/>
              </a:solidFill>
              <a:effectLst>
                <a:glow rad="50800">
                  <a:srgbClr val="FF4655">
                    <a:alpha val="50000"/>
                  </a:srgbClr>
                </a:glow>
              </a:effectLst>
            </a:endParaRPr>
          </a:p>
        </p:txBody>
      </p:sp>
      <p:cxnSp>
        <p:nvCxnSpPr>
          <p:cNvPr id="105" name="Connettore 2 104">
            <a:extLst>
              <a:ext uri="{FF2B5EF4-FFF2-40B4-BE49-F238E27FC236}">
                <a16:creationId xmlns:a16="http://schemas.microsoft.com/office/drawing/2014/main" id="{1847F05E-50FD-64B5-1E27-A08D379B9386}"/>
              </a:ext>
            </a:extLst>
          </p:cNvPr>
          <p:cNvCxnSpPr>
            <a:cxnSpLocks/>
          </p:cNvCxnSpPr>
          <p:nvPr/>
        </p:nvCxnSpPr>
        <p:spPr>
          <a:xfrm>
            <a:off x="6596931" y="11355895"/>
            <a:ext cx="0" cy="398880"/>
          </a:xfrm>
          <a:prstGeom prst="straightConnector1">
            <a:avLst/>
          </a:prstGeom>
          <a:ln w="25400"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CasellaDiTesto 105">
            <a:extLst>
              <a:ext uri="{FF2B5EF4-FFF2-40B4-BE49-F238E27FC236}">
                <a16:creationId xmlns:a16="http://schemas.microsoft.com/office/drawing/2014/main" id="{C3FB34A3-29F2-F742-D564-5CCE62C01CE4}"/>
              </a:ext>
            </a:extLst>
          </p:cNvPr>
          <p:cNvSpPr txBox="1"/>
          <p:nvPr/>
        </p:nvSpPr>
        <p:spPr>
          <a:xfrm>
            <a:off x="4868991" y="8685470"/>
            <a:ext cx="34078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0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Soglia VIF </a:t>
            </a:r>
            <a:r>
              <a:rPr lang="it-IT" sz="40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&lt; 5</a:t>
            </a:r>
          </a:p>
        </p:txBody>
      </p:sp>
      <p:sp>
        <p:nvSpPr>
          <p:cNvPr id="107" name="CasellaDiTesto 106">
            <a:extLst>
              <a:ext uri="{FF2B5EF4-FFF2-40B4-BE49-F238E27FC236}">
                <a16:creationId xmlns:a16="http://schemas.microsoft.com/office/drawing/2014/main" id="{20FDF1F8-D9B5-0C5B-F0B9-6CFF1D71412B}"/>
              </a:ext>
            </a:extLst>
          </p:cNvPr>
          <p:cNvSpPr txBox="1"/>
          <p:nvPr/>
        </p:nvSpPr>
        <p:spPr>
          <a:xfrm>
            <a:off x="5274297" y="957452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sp>
        <p:nvSpPr>
          <p:cNvPr id="108" name="CasellaDiTesto 107">
            <a:extLst>
              <a:ext uri="{FF2B5EF4-FFF2-40B4-BE49-F238E27FC236}">
                <a16:creationId xmlns:a16="http://schemas.microsoft.com/office/drawing/2014/main" id="{297CFB51-DED0-C995-52D1-3019D64BADBE}"/>
              </a:ext>
            </a:extLst>
          </p:cNvPr>
          <p:cNvSpPr txBox="1"/>
          <p:nvPr/>
        </p:nvSpPr>
        <p:spPr>
          <a:xfrm>
            <a:off x="4722829" y="9406540"/>
            <a:ext cx="4293574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7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Kills_Tot                      </a:t>
            </a:r>
            <a:r>
              <a:rPr lang="en-US" sz="11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VIF</a:t>
            </a:r>
            <a:r>
              <a:rPr lang="en-US" sz="17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72.22 (+18.43)</a:t>
            </a:r>
          </a:p>
          <a:p>
            <a:pPr>
              <a:spcAft>
                <a:spcPts val="600"/>
              </a:spcAft>
            </a:pPr>
            <a:r>
              <a:rPr lang="en-US" sz="17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Assists_Tot</a:t>
            </a:r>
            <a:r>
              <a:rPr lang="en-US" sz="17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                 </a:t>
            </a:r>
            <a:r>
              <a:rPr lang="en-US" sz="11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VIF</a:t>
            </a:r>
            <a:r>
              <a:rPr lang="en-US" sz="17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36.8 (+7.42)</a:t>
            </a:r>
          </a:p>
          <a:p>
            <a:pPr>
              <a:spcAft>
                <a:spcPts val="600"/>
              </a:spcAft>
            </a:pPr>
            <a:r>
              <a:rPr lang="en-US" sz="17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ACS_Mean</a:t>
            </a:r>
            <a:r>
              <a:rPr lang="en-US" sz="17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                 </a:t>
            </a:r>
            <a:r>
              <a:rPr lang="en-US" sz="11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VIF</a:t>
            </a:r>
            <a:r>
              <a:rPr lang="en-US" sz="17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23.58 (+0.83)</a:t>
            </a:r>
          </a:p>
          <a:p>
            <a:pPr>
              <a:spcAft>
                <a:spcPts val="600"/>
              </a:spcAft>
            </a:pPr>
            <a:r>
              <a:rPr lang="en-US" sz="17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Rating_Mean</a:t>
            </a:r>
            <a:r>
              <a:rPr lang="en-US" sz="17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             </a:t>
            </a:r>
            <a:r>
              <a:rPr lang="en-US" sz="11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VIF </a:t>
            </a:r>
            <a:r>
              <a:rPr lang="en-US" sz="17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20.56 (+7.9)</a:t>
            </a:r>
          </a:p>
          <a:p>
            <a:pPr>
              <a:spcAft>
                <a:spcPts val="600"/>
              </a:spcAft>
            </a:pPr>
            <a:r>
              <a:rPr lang="en-US" sz="17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Deaths_Tot</a:t>
            </a:r>
            <a:r>
              <a:rPr lang="en-US" sz="17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                 </a:t>
            </a:r>
            <a:r>
              <a:rPr lang="en-US" sz="11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VIF </a:t>
            </a:r>
            <a:r>
              <a:rPr lang="en-US" sz="17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7.93 (+0.8)</a:t>
            </a:r>
            <a:endParaRPr lang="it-IT" sz="1700" b="1" dirty="0">
              <a:solidFill>
                <a:schemeClr val="bg1"/>
              </a:solidFill>
              <a:effectLst>
                <a:glow rad="254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109" name="Connettore 2 108">
            <a:extLst>
              <a:ext uri="{FF2B5EF4-FFF2-40B4-BE49-F238E27FC236}">
                <a16:creationId xmlns:a16="http://schemas.microsoft.com/office/drawing/2014/main" id="{1DC06CE5-970C-3013-2313-D830152A3716}"/>
              </a:ext>
            </a:extLst>
          </p:cNvPr>
          <p:cNvCxnSpPr>
            <a:cxnSpLocks/>
          </p:cNvCxnSpPr>
          <p:nvPr/>
        </p:nvCxnSpPr>
        <p:spPr>
          <a:xfrm>
            <a:off x="6596931" y="8203120"/>
            <a:ext cx="0" cy="398880"/>
          </a:xfrm>
          <a:prstGeom prst="straightConnector1">
            <a:avLst/>
          </a:prstGeom>
          <a:ln w="25400"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Gruppo 109">
            <a:extLst>
              <a:ext uri="{FF2B5EF4-FFF2-40B4-BE49-F238E27FC236}">
                <a16:creationId xmlns:a16="http://schemas.microsoft.com/office/drawing/2014/main" id="{8324E6D2-44B1-18E0-D31D-EBBD40C29435}"/>
              </a:ext>
            </a:extLst>
          </p:cNvPr>
          <p:cNvGrpSpPr/>
          <p:nvPr/>
        </p:nvGrpSpPr>
        <p:grpSpPr>
          <a:xfrm>
            <a:off x="6395150" y="9592650"/>
            <a:ext cx="382475" cy="1331127"/>
            <a:chOff x="6395150" y="2921975"/>
            <a:chExt cx="382475" cy="1331127"/>
          </a:xfrm>
        </p:grpSpPr>
        <p:cxnSp>
          <p:nvCxnSpPr>
            <p:cNvPr id="111" name="Connettore 2 110">
              <a:extLst>
                <a:ext uri="{FF2B5EF4-FFF2-40B4-BE49-F238E27FC236}">
                  <a16:creationId xmlns:a16="http://schemas.microsoft.com/office/drawing/2014/main" id="{DE1FF909-6142-DBAC-6449-A3689798BA7D}"/>
                </a:ext>
              </a:extLst>
            </p:cNvPr>
            <p:cNvCxnSpPr/>
            <p:nvPr/>
          </p:nvCxnSpPr>
          <p:spPr>
            <a:xfrm>
              <a:off x="6395150" y="2921975"/>
              <a:ext cx="382474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ttore 2 111">
              <a:extLst>
                <a:ext uri="{FF2B5EF4-FFF2-40B4-BE49-F238E27FC236}">
                  <a16:creationId xmlns:a16="http://schemas.microsoft.com/office/drawing/2014/main" id="{5CEF59EC-89E9-7D4C-275C-38DD1502F55D}"/>
                </a:ext>
              </a:extLst>
            </p:cNvPr>
            <p:cNvCxnSpPr/>
            <p:nvPr/>
          </p:nvCxnSpPr>
          <p:spPr>
            <a:xfrm>
              <a:off x="6395151" y="3257732"/>
              <a:ext cx="382474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ttore 2 112">
              <a:extLst>
                <a:ext uri="{FF2B5EF4-FFF2-40B4-BE49-F238E27FC236}">
                  <a16:creationId xmlns:a16="http://schemas.microsoft.com/office/drawing/2014/main" id="{016B3F60-5A36-35D1-3D92-A4317EA99F03}"/>
                </a:ext>
              </a:extLst>
            </p:cNvPr>
            <p:cNvCxnSpPr>
              <a:cxnSpLocks/>
            </p:cNvCxnSpPr>
            <p:nvPr/>
          </p:nvCxnSpPr>
          <p:spPr>
            <a:xfrm>
              <a:off x="6395150" y="3569679"/>
              <a:ext cx="382474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nettore 2 113">
              <a:extLst>
                <a:ext uri="{FF2B5EF4-FFF2-40B4-BE49-F238E27FC236}">
                  <a16:creationId xmlns:a16="http://schemas.microsoft.com/office/drawing/2014/main" id="{9063C388-9A3B-0C61-CDA7-D750F2B69FF0}"/>
                </a:ext>
              </a:extLst>
            </p:cNvPr>
            <p:cNvCxnSpPr/>
            <p:nvPr/>
          </p:nvCxnSpPr>
          <p:spPr>
            <a:xfrm>
              <a:off x="6395150" y="3926871"/>
              <a:ext cx="382474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ttore 2 114">
              <a:extLst>
                <a:ext uri="{FF2B5EF4-FFF2-40B4-BE49-F238E27FC236}">
                  <a16:creationId xmlns:a16="http://schemas.microsoft.com/office/drawing/2014/main" id="{73D45BD0-16E7-11D6-9E69-0EF2BFC8F839}"/>
                </a:ext>
              </a:extLst>
            </p:cNvPr>
            <p:cNvCxnSpPr/>
            <p:nvPr/>
          </p:nvCxnSpPr>
          <p:spPr>
            <a:xfrm>
              <a:off x="6395150" y="4253102"/>
              <a:ext cx="382474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88061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18DB3C-3F3F-B224-BEC0-C39A17192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!!sdoflife">
            <a:extLst>
              <a:ext uri="{FF2B5EF4-FFF2-40B4-BE49-F238E27FC236}">
                <a16:creationId xmlns:a16="http://schemas.microsoft.com/office/drawing/2014/main" id="{BB5F0A8E-6859-83B5-D570-8E472B324BF2}"/>
              </a:ext>
            </a:extLst>
          </p:cNvPr>
          <p:cNvSpPr/>
          <p:nvPr/>
        </p:nvSpPr>
        <p:spPr>
          <a:xfrm rot="5400000" flipV="1">
            <a:off x="10820040" y="2824250"/>
            <a:ext cx="771956" cy="2238670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80616087-2553-6DAA-0387-CDF85C270FFF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1ED8ACEC-E9F6-1434-8D2D-F1A751E28418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383E4787-97EC-00C4-CE19-B6188160A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C922C79F-532A-5B63-1A4C-3F634238B7EE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43AE1E20-7377-6AD4-E70B-C2650C09B633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08EB71DC-54CE-F7EA-798E-8C298ADA4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F9924994-5D87-6A18-8434-4B542C53CF74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CCD5B3AD-522D-E604-8492-70CE82FC22D9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15C1A0EA-E4A9-81A5-C613-8777007F0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53C55692-5C9E-7339-D6BE-35D881FA4596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CC168F06-DADB-83DF-DEB0-3B4CF30F2FCF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F4E12FDD-BC65-388B-7168-05A6D7545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4A20C925-C0C7-E887-8F54-05B5B75A1613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8B4284C9-69DE-1E05-3E0F-8A568A9EFA7A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B7C55C1C-7783-EC97-35EA-5D474A1F7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20128296-74A9-2DEA-0990-C7B3C2F18CB6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8389DE24-AD54-D2BD-163C-8E625D45B104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372FC338-65B2-8E61-EC1E-B03C1D526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4F759BC3-AAD0-30EB-4734-C9E865E62EC3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4851ABB0-0C1F-AEEE-2AA4-1BA26A8BB225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756BB7FE-6783-5B87-357A-E88772296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252E0804-FF2E-4018-2652-6BACE2A3FA0D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0FE3BB23-A446-29BC-1EFB-B513043484CD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17D50B9E-D8FB-7E1E-115B-DA4BF4169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8A561283-7734-95B4-188B-4C7516231599}"/>
              </a:ext>
            </a:extLst>
          </p:cNvPr>
          <p:cNvGrpSpPr/>
          <p:nvPr/>
        </p:nvGrpSpPr>
        <p:grpSpPr>
          <a:xfrm>
            <a:off x="629695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D69A999A-A8E4-B5EE-0B58-A11D041ABD13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8345D703-468A-181F-0A02-B0D58B569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C8291FA0-EA7E-1513-DAE7-B58904712981}"/>
              </a:ext>
            </a:extLst>
          </p:cNvPr>
          <p:cNvSpPr/>
          <p:nvPr/>
        </p:nvSpPr>
        <p:spPr>
          <a:xfrm rot="10800000">
            <a:off x="2838" y="-592215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30" name="Immagine 29" descr="Immagine che contiene bianco, Utensile da cucina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7325C710-C335-2E04-10C3-41789ACAA551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A85F41EA-B426-387C-D75F-2DDB9B82CE59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Analisi di multicollinearità - VIF</a:t>
            </a:r>
          </a:p>
        </p:txBody>
      </p:sp>
      <p:pic>
        <p:nvPicPr>
          <p:cNvPr id="5" name="Immagine 4" descr="Immagine che contiene testo, schermata, Carattere, software&#10;&#10;Il contenuto generato dall'IA potrebbe non essere corretto.">
            <a:extLst>
              <a:ext uri="{FF2B5EF4-FFF2-40B4-BE49-F238E27FC236}">
                <a16:creationId xmlns:a16="http://schemas.microsoft.com/office/drawing/2014/main" id="{DBBDECA7-E848-9855-ED85-52029C08714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14759" y="5252845"/>
            <a:ext cx="9764345" cy="1632383"/>
          </a:xfrm>
          <a:prstGeom prst="rect">
            <a:avLst/>
          </a:prstGeom>
          <a:effectLst>
            <a:glow rad="152400">
              <a:srgbClr val="FF4655">
                <a:alpha val="45000"/>
              </a:srgbClr>
            </a:glow>
          </a:effectLst>
        </p:spPr>
      </p:pic>
      <p:sp>
        <p:nvSpPr>
          <p:cNvPr id="7" name="Trapezio 6">
            <a:extLst>
              <a:ext uri="{FF2B5EF4-FFF2-40B4-BE49-F238E27FC236}">
                <a16:creationId xmlns:a16="http://schemas.microsoft.com/office/drawing/2014/main" id="{E19E1502-488E-F7A6-B335-EE9A542D4051}"/>
              </a:ext>
            </a:extLst>
          </p:cNvPr>
          <p:cNvSpPr>
            <a:spLocks/>
          </p:cNvSpPr>
          <p:nvPr/>
        </p:nvSpPr>
        <p:spPr>
          <a:xfrm flipV="1">
            <a:off x="2400889" y="2027450"/>
            <a:ext cx="8370997" cy="2495774"/>
          </a:xfrm>
          <a:prstGeom prst="trapezoid">
            <a:avLst>
              <a:gd name="adj" fmla="val 88096"/>
            </a:avLst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C5EA15C-2B73-8E25-8F76-8D795A8D0FC6}"/>
              </a:ext>
            </a:extLst>
          </p:cNvPr>
          <p:cNvSpPr txBox="1"/>
          <p:nvPr/>
        </p:nvSpPr>
        <p:spPr>
          <a:xfrm>
            <a:off x="5425026" y="949299"/>
            <a:ext cx="22958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14</a:t>
            </a:r>
            <a:r>
              <a:rPr lang="it-IT" sz="3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variabili</a:t>
            </a:r>
            <a:endParaRPr lang="it-IT" sz="3200" dirty="0">
              <a:solidFill>
                <a:schemeClr val="bg1"/>
              </a:solidFill>
              <a:effectLst>
                <a:glow rad="50800">
                  <a:srgbClr val="FF4655">
                    <a:alpha val="50000"/>
                  </a:srgbClr>
                </a:glow>
              </a:effectLst>
            </a:endParaRP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571EA5E1-09ED-0589-9394-60FD4EA85FB4}"/>
              </a:ext>
            </a:extLst>
          </p:cNvPr>
          <p:cNvCxnSpPr>
            <a:cxnSpLocks/>
          </p:cNvCxnSpPr>
          <p:nvPr/>
        </p:nvCxnSpPr>
        <p:spPr>
          <a:xfrm>
            <a:off x="6596931" y="4675695"/>
            <a:ext cx="0" cy="398880"/>
          </a:xfrm>
          <a:prstGeom prst="straightConnector1">
            <a:avLst/>
          </a:prstGeom>
          <a:ln w="25400"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B678396-EE37-D223-430E-147171CFB834}"/>
              </a:ext>
            </a:extLst>
          </p:cNvPr>
          <p:cNvSpPr txBox="1"/>
          <p:nvPr/>
        </p:nvSpPr>
        <p:spPr>
          <a:xfrm>
            <a:off x="4868991" y="2005270"/>
            <a:ext cx="34078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30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Soglia VIF </a:t>
            </a:r>
            <a:r>
              <a:rPr lang="it-IT" sz="40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&lt; 5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8431E389-510E-5455-F356-D0D196BEA846}"/>
              </a:ext>
            </a:extLst>
          </p:cNvPr>
          <p:cNvSpPr txBox="1"/>
          <p:nvPr/>
        </p:nvSpPr>
        <p:spPr>
          <a:xfrm>
            <a:off x="5274297" y="289432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4B3588A5-D50D-D948-D0CF-C599E9329BD7}"/>
                  </a:ext>
                </a:extLst>
              </p:cNvPr>
              <p:cNvSpPr txBox="1"/>
              <p:nvPr/>
            </p:nvSpPr>
            <p:spPr>
              <a:xfrm>
                <a:off x="10540218" y="3630680"/>
                <a:ext cx="1537537" cy="6247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𝑉𝐼𝐹</m:t>
                          </m:r>
                        </m:e>
                        <m:sub>
                          <m:r>
                            <a:rPr lang="it-I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it-IT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1 −</m:t>
                          </m:r>
                          <m:sSubSup>
                            <m:sSubSupPr>
                              <m:ctrlPr>
                                <a:rPr lang="it-I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it-I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it-IT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it-IT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4B3588A5-D50D-D948-D0CF-C599E9329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0218" y="3630680"/>
                <a:ext cx="1537537" cy="62472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F3B466A4-F072-17A5-5372-AD18A57FAA20}"/>
              </a:ext>
            </a:extLst>
          </p:cNvPr>
          <p:cNvSpPr txBox="1"/>
          <p:nvPr/>
        </p:nvSpPr>
        <p:spPr>
          <a:xfrm>
            <a:off x="10058399" y="3746944"/>
            <a:ext cx="453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💡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B304563A-8F14-7B89-523A-ACB7AB71640B}"/>
              </a:ext>
            </a:extLst>
          </p:cNvPr>
          <p:cNvSpPr txBox="1"/>
          <p:nvPr/>
        </p:nvSpPr>
        <p:spPr>
          <a:xfrm>
            <a:off x="4722829" y="2726340"/>
            <a:ext cx="4293574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7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Kills_Tot                      </a:t>
            </a:r>
            <a:r>
              <a:rPr lang="en-US" sz="11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VIF</a:t>
            </a:r>
            <a:r>
              <a:rPr lang="en-US" sz="17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72.22 (+18.43)</a:t>
            </a:r>
          </a:p>
          <a:p>
            <a:pPr>
              <a:spcAft>
                <a:spcPts val="600"/>
              </a:spcAft>
            </a:pPr>
            <a:r>
              <a:rPr lang="en-US" sz="17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Assists_Tot</a:t>
            </a:r>
            <a:r>
              <a:rPr lang="en-US" sz="17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                 </a:t>
            </a:r>
            <a:r>
              <a:rPr lang="en-US" sz="11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VIF</a:t>
            </a:r>
            <a:r>
              <a:rPr lang="en-US" sz="17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36.8 (+7.42)</a:t>
            </a:r>
          </a:p>
          <a:p>
            <a:pPr>
              <a:spcAft>
                <a:spcPts val="600"/>
              </a:spcAft>
            </a:pPr>
            <a:r>
              <a:rPr lang="en-US" sz="17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ACS_Mean</a:t>
            </a:r>
            <a:r>
              <a:rPr lang="en-US" sz="17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                 </a:t>
            </a:r>
            <a:r>
              <a:rPr lang="en-US" sz="11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VIF</a:t>
            </a:r>
            <a:r>
              <a:rPr lang="en-US" sz="17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23.58 (+0.83)</a:t>
            </a:r>
          </a:p>
          <a:p>
            <a:pPr>
              <a:spcAft>
                <a:spcPts val="600"/>
              </a:spcAft>
            </a:pPr>
            <a:r>
              <a:rPr lang="en-US" sz="17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Rating_Mean</a:t>
            </a:r>
            <a:r>
              <a:rPr lang="en-US" sz="17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             </a:t>
            </a:r>
            <a:r>
              <a:rPr lang="en-US" sz="11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VIF </a:t>
            </a:r>
            <a:r>
              <a:rPr lang="en-US" sz="17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20.56 (+7.9)</a:t>
            </a:r>
          </a:p>
          <a:p>
            <a:pPr>
              <a:spcAft>
                <a:spcPts val="600"/>
              </a:spcAft>
            </a:pPr>
            <a:r>
              <a:rPr lang="en-US" sz="17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Deaths_Tot</a:t>
            </a:r>
            <a:r>
              <a:rPr lang="en-US" sz="17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                 </a:t>
            </a:r>
            <a:r>
              <a:rPr lang="en-US" sz="11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VIF </a:t>
            </a:r>
            <a:r>
              <a:rPr lang="en-US" sz="1700" b="1" dirty="0">
                <a:solidFill>
                  <a:schemeClr val="bg1"/>
                </a:solidFill>
                <a:effectLst>
                  <a:glow rad="254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7.93 (+0.8)</a:t>
            </a:r>
            <a:endParaRPr lang="it-IT" sz="1700" b="1" dirty="0">
              <a:solidFill>
                <a:schemeClr val="bg1"/>
              </a:solidFill>
              <a:effectLst>
                <a:glow rad="254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3" name="Immagine 2" descr="Immagine che contiene ingranaggio, oggetti in metallo, cerchio, ruota&#10;&#10;Il contenuto generato dall'IA potrebbe non essere corretto.">
            <a:hlinkClick r:id="rId22" action="ppaction://hlinksldjump"/>
            <a:extLst>
              <a:ext uri="{FF2B5EF4-FFF2-40B4-BE49-F238E27FC236}">
                <a16:creationId xmlns:a16="http://schemas.microsoft.com/office/drawing/2014/main" id="{037D04E4-5A82-44E5-94FF-0EAC8EFAE3D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4" name="Immagine 3" descr="Immagine che contiene arte, bianco e nero&#10;&#10;Il contenuto generato dall'IA potrebbe non essere corretto.">
            <a:hlinkClick r:id="rId24" action="ppaction://hlinksldjump"/>
            <a:extLst>
              <a:ext uri="{FF2B5EF4-FFF2-40B4-BE49-F238E27FC236}">
                <a16:creationId xmlns:a16="http://schemas.microsoft.com/office/drawing/2014/main" id="{7D86A501-5967-9475-A4FE-399344D8D27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8" name="Immagine 7" descr="Immagine che contiene design, linea, bianco, Rettangolo&#10;&#10;Il contenuto generato dall'IA potrebbe non essere corretto.">
            <a:hlinkClick r:id="rId26" action="ppaction://hlinksldjump"/>
            <a:extLst>
              <a:ext uri="{FF2B5EF4-FFF2-40B4-BE49-F238E27FC236}">
                <a16:creationId xmlns:a16="http://schemas.microsoft.com/office/drawing/2014/main" id="{6A59A526-79F8-9AB2-E650-B2701EC3CEC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9" name="Immagine 8" descr="Immagine che contiene triangolo&#10;&#10;Il contenuto generato dall'IA potrebbe non essere corretto.">
            <a:hlinkClick r:id="rId28" action="ppaction://hlinksldjump"/>
            <a:extLst>
              <a:ext uri="{FF2B5EF4-FFF2-40B4-BE49-F238E27FC236}">
                <a16:creationId xmlns:a16="http://schemas.microsoft.com/office/drawing/2014/main" id="{64A875C1-D2D2-1CA1-51C8-F682A3C6B20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3" name="Immagine 12" descr="Immagine che contiene schermata, design&#10;&#10;Il contenuto generato dall'IA potrebbe non essere corretto.">
            <a:hlinkClick r:id="rId30" action="ppaction://hlinksldjump"/>
            <a:extLst>
              <a:ext uri="{FF2B5EF4-FFF2-40B4-BE49-F238E27FC236}">
                <a16:creationId xmlns:a16="http://schemas.microsoft.com/office/drawing/2014/main" id="{8EA54A26-59DD-9B0D-0938-B97309361AD5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15" name="Immagine 14" descr="Immagine che contiene cerchio, bianco e nero&#10;&#10;Il contenuto generato dall'IA potrebbe non essere corretto.">
            <a:hlinkClick r:id="rId32" action="ppaction://hlinksldjump"/>
            <a:extLst>
              <a:ext uri="{FF2B5EF4-FFF2-40B4-BE49-F238E27FC236}">
                <a16:creationId xmlns:a16="http://schemas.microsoft.com/office/drawing/2014/main" id="{A284BC81-096A-C551-F149-5A4B601FF7B3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19" name="Immagine 18" descr="Immagine che contiene schermata, design&#10;&#10;Il contenuto generato dall'IA potrebbe non essere corretto.">
            <a:hlinkClick r:id="rId34" action="ppaction://hlinksldjump"/>
            <a:extLst>
              <a:ext uri="{FF2B5EF4-FFF2-40B4-BE49-F238E27FC236}">
                <a16:creationId xmlns:a16="http://schemas.microsoft.com/office/drawing/2014/main" id="{D13E211D-6C5C-9667-B55B-B9B7728E20E6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23" name="Immagine 22" descr="Immagine che contiene schermata, Rettangolo, design&#10;&#10;Il contenuto generato dall'IA potrebbe non essere corretto.">
            <a:hlinkClick r:id="rId36" action="ppaction://hlinksldjump"/>
            <a:extLst>
              <a:ext uri="{FF2B5EF4-FFF2-40B4-BE49-F238E27FC236}">
                <a16:creationId xmlns:a16="http://schemas.microsoft.com/office/drawing/2014/main" id="{90CCA839-9BCF-B81F-3579-5758E8F6AA39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2053A786-1995-A2A8-847F-0BBB35058AD1}"/>
              </a:ext>
            </a:extLst>
          </p:cNvPr>
          <p:cNvCxnSpPr>
            <a:cxnSpLocks/>
          </p:cNvCxnSpPr>
          <p:nvPr/>
        </p:nvCxnSpPr>
        <p:spPr>
          <a:xfrm>
            <a:off x="6596931" y="1522920"/>
            <a:ext cx="0" cy="398880"/>
          </a:xfrm>
          <a:prstGeom prst="straightConnector1">
            <a:avLst/>
          </a:prstGeom>
          <a:ln w="25400"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F56E10F-42F1-5032-23A1-DEC3E6861937}"/>
              </a:ext>
            </a:extLst>
          </p:cNvPr>
          <p:cNvSpPr txBox="1"/>
          <p:nvPr/>
        </p:nvSpPr>
        <p:spPr>
          <a:xfrm>
            <a:off x="1681774" y="7563934"/>
            <a:ext cx="627427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Obiettivo: minimizzare l’AIC</a:t>
            </a:r>
          </a:p>
          <a:p>
            <a:endParaRPr lang="it-IT" sz="32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3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lang="it-IT" sz="3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algoritmi di selezione:</a:t>
            </a:r>
          </a:p>
          <a:p>
            <a:r>
              <a:rPr lang="it-IT" sz="32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- </a:t>
            </a:r>
            <a:r>
              <a:rPr lang="it-IT" sz="3200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Forward</a:t>
            </a:r>
            <a:endParaRPr lang="it-IT" sz="3200" b="1" i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32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- </a:t>
            </a:r>
            <a:r>
              <a:rPr lang="it-IT" sz="3200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Backward</a:t>
            </a:r>
            <a:endParaRPr lang="it-IT" sz="3200" b="1" i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32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- </a:t>
            </a:r>
            <a:r>
              <a:rPr lang="it-IT" sz="3200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Both</a:t>
            </a:r>
            <a:endParaRPr lang="it-IT" sz="32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22" name="Immagine 21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55932DB4-717F-D4B1-84D7-601F3A004CA9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413813" y="11184670"/>
            <a:ext cx="4981230" cy="1843587"/>
          </a:xfrm>
          <a:prstGeom prst="rect">
            <a:avLst/>
          </a:prstGeom>
          <a:effectLst>
            <a:glow rad="152400">
              <a:srgbClr val="FF4655">
                <a:alpha val="45000"/>
              </a:srgbClr>
            </a:glow>
          </a:effectLst>
        </p:spPr>
      </p:pic>
      <p:pic>
        <p:nvPicPr>
          <p:cNvPr id="26" name="Immagine 25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815F6797-262A-A651-2EED-9D1D715636A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r="2745"/>
          <a:stretch>
            <a:fillRect/>
          </a:stretch>
        </p:blipFill>
        <p:spPr>
          <a:xfrm>
            <a:off x="6819900" y="11184670"/>
            <a:ext cx="4981230" cy="1824472"/>
          </a:xfrm>
          <a:prstGeom prst="rect">
            <a:avLst/>
          </a:prstGeom>
          <a:effectLst>
            <a:glow rad="152400">
              <a:srgbClr val="FF4655">
                <a:alpha val="45000"/>
              </a:srgbClr>
            </a:glow>
          </a:effectLst>
        </p:spPr>
      </p:pic>
      <p:sp>
        <p:nvSpPr>
          <p:cNvPr id="33" name="Connettore 32">
            <a:extLst>
              <a:ext uri="{FF2B5EF4-FFF2-40B4-BE49-F238E27FC236}">
                <a16:creationId xmlns:a16="http://schemas.microsoft.com/office/drawing/2014/main" id="{40933D31-C90C-D010-0CBD-9B1C6260DDD2}"/>
              </a:ext>
            </a:extLst>
          </p:cNvPr>
          <p:cNvSpPr/>
          <p:nvPr/>
        </p:nvSpPr>
        <p:spPr>
          <a:xfrm>
            <a:off x="1531949" y="7790152"/>
            <a:ext cx="103976" cy="111960"/>
          </a:xfrm>
          <a:prstGeom prst="flowChartConnector">
            <a:avLst/>
          </a:prstGeom>
          <a:solidFill>
            <a:srgbClr val="FF4655"/>
          </a:solidFill>
          <a:ln>
            <a:solidFill>
              <a:srgbClr val="C13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Connettore 33">
            <a:extLst>
              <a:ext uri="{FF2B5EF4-FFF2-40B4-BE49-F238E27FC236}">
                <a16:creationId xmlns:a16="http://schemas.microsoft.com/office/drawing/2014/main" id="{25F9F48E-F1C0-4814-5ECE-D8BCCC71FA05}"/>
              </a:ext>
            </a:extLst>
          </p:cNvPr>
          <p:cNvSpPr/>
          <p:nvPr/>
        </p:nvSpPr>
        <p:spPr>
          <a:xfrm>
            <a:off x="1531949" y="8833148"/>
            <a:ext cx="103976" cy="111960"/>
          </a:xfrm>
          <a:prstGeom prst="flowChartConnector">
            <a:avLst/>
          </a:prstGeom>
          <a:solidFill>
            <a:srgbClr val="FF4655"/>
          </a:solidFill>
          <a:ln>
            <a:solidFill>
              <a:srgbClr val="C13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7" name="Parentesi graffa chiusa 36">
            <a:extLst>
              <a:ext uri="{FF2B5EF4-FFF2-40B4-BE49-F238E27FC236}">
                <a16:creationId xmlns:a16="http://schemas.microsoft.com/office/drawing/2014/main" id="{0EDAB61D-381A-18EC-144C-3CBC5B444CDD}"/>
              </a:ext>
            </a:extLst>
          </p:cNvPr>
          <p:cNvSpPr/>
          <p:nvPr/>
        </p:nvSpPr>
        <p:spPr>
          <a:xfrm>
            <a:off x="4328220" y="9227498"/>
            <a:ext cx="437410" cy="1382618"/>
          </a:xfrm>
          <a:prstGeom prst="rightBrace">
            <a:avLst>
              <a:gd name="adj1" fmla="val 46212"/>
              <a:gd name="adj2" fmla="val 50000"/>
            </a:avLst>
          </a:prstGeom>
          <a:ln>
            <a:solidFill>
              <a:srgbClr val="C1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C5013B3E-144C-E5FA-C9FB-EBCA966AF0F3}"/>
              </a:ext>
            </a:extLst>
          </p:cNvPr>
          <p:cNvSpPr txBox="1"/>
          <p:nvPr/>
        </p:nvSpPr>
        <p:spPr>
          <a:xfrm>
            <a:off x="4872948" y="9705976"/>
            <a:ext cx="2553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si è osservata una CONVERGENZA nei risultati</a:t>
            </a:r>
          </a:p>
        </p:txBody>
      </p: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E7C7BAAE-4838-312E-24F6-C05045AA471F}"/>
              </a:ext>
            </a:extLst>
          </p:cNvPr>
          <p:cNvCxnSpPr>
            <a:cxnSpLocks/>
          </p:cNvCxnSpPr>
          <p:nvPr/>
        </p:nvCxnSpPr>
        <p:spPr>
          <a:xfrm flipH="1">
            <a:off x="5333157" y="10363200"/>
            <a:ext cx="419943" cy="565374"/>
          </a:xfrm>
          <a:prstGeom prst="straightConnector1">
            <a:avLst/>
          </a:prstGeom>
          <a:ln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Immagine 40" descr="Immagine che contiene Elementi grafici, clipart, design&#10;&#10;Il contenuto generato dall'IA potrebbe non essere corretto.">
            <a:extLst>
              <a:ext uri="{FF2B5EF4-FFF2-40B4-BE49-F238E27FC236}">
                <a16:creationId xmlns:a16="http://schemas.microsoft.com/office/drawing/2014/main" id="{93A2FEDF-EBCE-F26E-03F6-A1D07DBEA46E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5" t="24349" r="5186" b="26133"/>
          <a:stretch>
            <a:fillRect/>
          </a:stretch>
        </p:blipFill>
        <p:spPr>
          <a:xfrm>
            <a:off x="12506201" y="1652780"/>
            <a:ext cx="3837808" cy="2188421"/>
          </a:xfrm>
          <a:prstGeom prst="rect">
            <a:avLst/>
          </a:prstGeom>
        </p:spPr>
      </p:pic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0ACA6C3A-2C4B-D2BC-175D-5AE4B299356F}"/>
              </a:ext>
            </a:extLst>
          </p:cNvPr>
          <p:cNvSpPr txBox="1"/>
          <p:nvPr/>
        </p:nvSpPr>
        <p:spPr>
          <a:xfrm>
            <a:off x="13047628" y="3688049"/>
            <a:ext cx="2659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>
                <a:solidFill>
                  <a:schemeClr val="bg1"/>
                </a:solidFill>
                <a:effectLst>
                  <a:glow rad="152400">
                    <a:srgbClr val="FF4655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Criterio AIC</a:t>
            </a:r>
            <a:endParaRPr lang="it-IT" sz="3600" dirty="0">
              <a:solidFill>
                <a:schemeClr val="bg1"/>
              </a:solidFill>
              <a:effectLst>
                <a:glow rad="152400">
                  <a:srgbClr val="FF4655">
                    <a:alpha val="40000"/>
                  </a:srgbClr>
                </a:glow>
              </a:effectLst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664FCCE8-FDD6-3CA5-F760-E261CD27AEF2}"/>
              </a:ext>
            </a:extLst>
          </p:cNvPr>
          <p:cNvSpPr txBox="1"/>
          <p:nvPr/>
        </p:nvSpPr>
        <p:spPr>
          <a:xfrm>
            <a:off x="12657844" y="1324495"/>
            <a:ext cx="8867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>
                <a:solidFill>
                  <a:schemeClr val="bg1"/>
                </a:solidFill>
                <a:effectLst>
                  <a:glow rad="127000">
                    <a:srgbClr val="00B0F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Bias</a:t>
            </a:r>
            <a:endParaRPr lang="it-IT" sz="2800" dirty="0">
              <a:solidFill>
                <a:schemeClr val="bg1"/>
              </a:solidFill>
              <a:effectLst>
                <a:glow rad="127000">
                  <a:srgbClr val="00B0F0">
                    <a:alpha val="40000"/>
                  </a:srgbClr>
                </a:glow>
              </a:effectLst>
            </a:endParaRPr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555E5C1E-00CC-83CD-D9E9-579472120482}"/>
              </a:ext>
            </a:extLst>
          </p:cNvPr>
          <p:cNvSpPr txBox="1"/>
          <p:nvPr/>
        </p:nvSpPr>
        <p:spPr>
          <a:xfrm>
            <a:off x="14773233" y="1324495"/>
            <a:ext cx="1697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>
                <a:solidFill>
                  <a:schemeClr val="bg1"/>
                </a:solidFill>
                <a:effectLst>
                  <a:glow rad="127000">
                    <a:srgbClr val="00B05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Variance</a:t>
            </a:r>
            <a:endParaRPr lang="it-IT" sz="2800" dirty="0">
              <a:solidFill>
                <a:schemeClr val="bg1"/>
              </a:solidFill>
              <a:effectLst>
                <a:glow rad="127000">
                  <a:srgbClr val="00B050">
                    <a:alpha val="40000"/>
                  </a:srgbClr>
                </a:glow>
              </a:effectLst>
            </a:endParaRPr>
          </a:p>
        </p:txBody>
      </p:sp>
      <p:grpSp>
        <p:nvGrpSpPr>
          <p:cNvPr id="78" name="Gruppo 77">
            <a:extLst>
              <a:ext uri="{FF2B5EF4-FFF2-40B4-BE49-F238E27FC236}">
                <a16:creationId xmlns:a16="http://schemas.microsoft.com/office/drawing/2014/main" id="{84F7155E-7D46-3A06-FAC7-6775C07C9AFE}"/>
              </a:ext>
            </a:extLst>
          </p:cNvPr>
          <p:cNvGrpSpPr/>
          <p:nvPr/>
        </p:nvGrpSpPr>
        <p:grpSpPr>
          <a:xfrm>
            <a:off x="6395150" y="2912450"/>
            <a:ext cx="382475" cy="1331127"/>
            <a:chOff x="6395150" y="2921975"/>
            <a:chExt cx="382475" cy="1331127"/>
          </a:xfrm>
        </p:grpSpPr>
        <p:cxnSp>
          <p:nvCxnSpPr>
            <p:cNvPr id="46" name="Connettore 2 45">
              <a:extLst>
                <a:ext uri="{FF2B5EF4-FFF2-40B4-BE49-F238E27FC236}">
                  <a16:creationId xmlns:a16="http://schemas.microsoft.com/office/drawing/2014/main" id="{865D2B68-5ED6-55FD-9EB8-BC4B6B2C0218}"/>
                </a:ext>
              </a:extLst>
            </p:cNvPr>
            <p:cNvCxnSpPr/>
            <p:nvPr/>
          </p:nvCxnSpPr>
          <p:spPr>
            <a:xfrm>
              <a:off x="6395150" y="2921975"/>
              <a:ext cx="382474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2 46">
              <a:extLst>
                <a:ext uri="{FF2B5EF4-FFF2-40B4-BE49-F238E27FC236}">
                  <a16:creationId xmlns:a16="http://schemas.microsoft.com/office/drawing/2014/main" id="{7623DE59-8A65-EF80-0297-8DC31DE2687E}"/>
                </a:ext>
              </a:extLst>
            </p:cNvPr>
            <p:cNvCxnSpPr/>
            <p:nvPr/>
          </p:nvCxnSpPr>
          <p:spPr>
            <a:xfrm>
              <a:off x="6395151" y="3257732"/>
              <a:ext cx="382474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2 47">
              <a:extLst>
                <a:ext uri="{FF2B5EF4-FFF2-40B4-BE49-F238E27FC236}">
                  <a16:creationId xmlns:a16="http://schemas.microsoft.com/office/drawing/2014/main" id="{1175499A-6892-2CD6-1C37-26A0C459CC5C}"/>
                </a:ext>
              </a:extLst>
            </p:cNvPr>
            <p:cNvCxnSpPr>
              <a:cxnSpLocks/>
            </p:cNvCxnSpPr>
            <p:nvPr/>
          </p:nvCxnSpPr>
          <p:spPr>
            <a:xfrm>
              <a:off x="6395150" y="3569679"/>
              <a:ext cx="382474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2 52">
              <a:extLst>
                <a:ext uri="{FF2B5EF4-FFF2-40B4-BE49-F238E27FC236}">
                  <a16:creationId xmlns:a16="http://schemas.microsoft.com/office/drawing/2014/main" id="{BF626ECE-B1D2-9FB1-5357-5D32CC28C410}"/>
                </a:ext>
              </a:extLst>
            </p:cNvPr>
            <p:cNvCxnSpPr/>
            <p:nvPr/>
          </p:nvCxnSpPr>
          <p:spPr>
            <a:xfrm>
              <a:off x="6395150" y="3926871"/>
              <a:ext cx="382474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2 58">
              <a:extLst>
                <a:ext uri="{FF2B5EF4-FFF2-40B4-BE49-F238E27FC236}">
                  <a16:creationId xmlns:a16="http://schemas.microsoft.com/office/drawing/2014/main" id="{2376976A-EDAF-831E-70FB-60700286D78A}"/>
                </a:ext>
              </a:extLst>
            </p:cNvPr>
            <p:cNvCxnSpPr/>
            <p:nvPr/>
          </p:nvCxnSpPr>
          <p:spPr>
            <a:xfrm>
              <a:off x="6395150" y="4253102"/>
              <a:ext cx="382474" cy="0"/>
            </a:xfrm>
            <a:prstGeom prst="straightConnector1">
              <a:avLst/>
            </a:prstGeom>
            <a:ln>
              <a:solidFill>
                <a:schemeClr val="tx2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6535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F802FD-167A-0E1B-D4E7-FDDE07199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CasellaDiTesto 7172">
            <a:extLst>
              <a:ext uri="{FF2B5EF4-FFF2-40B4-BE49-F238E27FC236}">
                <a16:creationId xmlns:a16="http://schemas.microsoft.com/office/drawing/2014/main" id="{08EA82AC-3447-956B-85EB-B2280C21719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81774" y="1401259"/>
            <a:ext cx="627427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Obiettivo: minimizzare l’AIC</a:t>
            </a:r>
          </a:p>
          <a:p>
            <a:endParaRPr lang="it-IT" sz="32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3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lang="it-IT" sz="32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algoritmi di selezione:</a:t>
            </a:r>
          </a:p>
          <a:p>
            <a:r>
              <a:rPr lang="it-IT" sz="32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- </a:t>
            </a:r>
            <a:r>
              <a:rPr lang="it-IT" sz="3200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Forward</a:t>
            </a:r>
            <a:endParaRPr lang="it-IT" sz="3200" b="1" i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32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- </a:t>
            </a:r>
            <a:r>
              <a:rPr lang="it-IT" sz="3200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Backward</a:t>
            </a:r>
            <a:endParaRPr lang="it-IT" sz="3200" b="1" i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32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- </a:t>
            </a:r>
            <a:r>
              <a:rPr lang="it-IT" sz="3200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Both</a:t>
            </a:r>
            <a:endParaRPr lang="it-IT" sz="32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A6326B16-2EFC-68DA-F478-5D4F4C8FB804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740E4110-3EB9-7F3B-41CA-58FE2C67C59E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3DB093CB-0CB8-B9F8-D9DE-A59B0EDCED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27AD3C1A-7C4F-6E74-8781-277AF82E4A5A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201E0531-96EC-48D2-DF9A-969CF43E9DAF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EB0766FB-F053-4CC1-CACA-42F7AFEF1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BB5AEEE5-F06B-D019-1E61-42B119CA86B7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75672B2E-FD9B-706A-136E-3CB0B6898F69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B99385C0-7A2F-6A91-8EB3-9B9C2C399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CADF49BA-4F72-EA37-14CC-60188233AF26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D3D33EFE-554F-D8BA-8EBE-3476CB8E30CA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A97848F2-90EB-F451-4746-B76F58B4E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521CB240-9C2C-1A3A-B51F-697FB80B8C9F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F2A834D9-E94A-5029-A42F-8CF1F179A4DE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1F5AD86A-C60E-52CA-0411-4EB73A2DFE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59757B76-7187-89D6-FE55-CFC272F83AD9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7782C21F-D612-7356-6F01-D9ED962EDE9D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01282F6B-72AA-4AF8-6C5E-2642BAAA9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99700337-BEE1-EEFE-B2C0-1F4D76B9F836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3A799B2C-2B2E-2133-AF03-DD03A6771DE2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E07CDC85-8C04-FE98-E123-F3DA41AAE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C8139586-724F-141D-05FF-29CFE8B28066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CD7C859D-BFEB-68AD-D136-D12EB994CA4F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31930E6C-7C2E-D498-0134-4BA99C943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5870267D-674F-E2C0-9BF8-8A3466542F2C}"/>
              </a:ext>
            </a:extLst>
          </p:cNvPr>
          <p:cNvGrpSpPr/>
          <p:nvPr/>
        </p:nvGrpSpPr>
        <p:grpSpPr>
          <a:xfrm>
            <a:off x="629695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825F12A7-E584-B79A-78AF-18C310D3DC52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133124E1-584D-6251-E20A-B3FF7AE23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2B9071DF-1D94-A3EB-B04B-FA27E1415F99}"/>
              </a:ext>
            </a:extLst>
          </p:cNvPr>
          <p:cNvSpPr/>
          <p:nvPr/>
        </p:nvSpPr>
        <p:spPr>
          <a:xfrm rot="10800000">
            <a:off x="2838" y="-592215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30" name="Immagine 29" descr="Immagine che contiene bianco, Utensile da cucina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70F45EE8-035D-58FF-6899-5147C1A5F759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1A73FEA-805F-9A26-AE22-6A734FDBF798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 err="1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Stepwise</a:t>
            </a:r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5000" b="1" dirty="0" err="1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Selection</a:t>
            </a:r>
            <a:endParaRPr lang="it-IT" sz="5000" b="1" dirty="0">
              <a:solidFill>
                <a:schemeClr val="bg1"/>
              </a:solidFill>
              <a:effectLst>
                <a:glow rad="101600">
                  <a:srgbClr val="FF0000">
                    <a:alpha val="40000"/>
                  </a:srgb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8" name="Immagine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C5FC4E78-4FC2-F1B9-0405-B5C9763583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3813" y="5021995"/>
            <a:ext cx="4981230" cy="1843587"/>
          </a:xfrm>
          <a:prstGeom prst="rect">
            <a:avLst/>
          </a:prstGeom>
          <a:effectLst>
            <a:glow rad="152400">
              <a:srgbClr val="FF4655">
                <a:alpha val="45000"/>
              </a:srgbClr>
            </a:glow>
          </a:effectLst>
        </p:spPr>
      </p:pic>
      <p:pic>
        <p:nvPicPr>
          <p:cNvPr id="10" name="Immagine 9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9AED9A4B-CD48-B02E-8EA3-3B1F63F2E24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r="2745"/>
          <a:stretch>
            <a:fillRect/>
          </a:stretch>
        </p:blipFill>
        <p:spPr>
          <a:xfrm>
            <a:off x="6819900" y="5021995"/>
            <a:ext cx="4981230" cy="1824472"/>
          </a:xfrm>
          <a:prstGeom prst="rect">
            <a:avLst/>
          </a:prstGeom>
          <a:effectLst>
            <a:glow rad="152400">
              <a:srgbClr val="FF4655">
                <a:alpha val="45000"/>
              </a:srgbClr>
            </a:glow>
          </a:effectLst>
        </p:spPr>
      </p:pic>
      <p:pic>
        <p:nvPicPr>
          <p:cNvPr id="25" name="Immagine 24" descr="Immagine che contiene Elementi grafici, clipart, design&#10;&#10;Il contenuto generato dall'IA potrebbe non essere corretto.">
            <a:extLst>
              <a:ext uri="{FF2B5EF4-FFF2-40B4-BE49-F238E27FC236}">
                <a16:creationId xmlns:a16="http://schemas.microsoft.com/office/drawing/2014/main" id="{30FA8462-F323-0834-2056-67B173E85F1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5" t="24349" r="5186" b="26133"/>
          <a:stretch>
            <a:fillRect/>
          </a:stretch>
        </p:blipFill>
        <p:spPr>
          <a:xfrm>
            <a:off x="7934201" y="1652780"/>
            <a:ext cx="3837808" cy="2188421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8697E5D0-23B1-8E37-4B0F-1D5AE5DD2EEB}"/>
              </a:ext>
            </a:extLst>
          </p:cNvPr>
          <p:cNvSpPr txBox="1"/>
          <p:nvPr/>
        </p:nvSpPr>
        <p:spPr>
          <a:xfrm>
            <a:off x="8475628" y="3688049"/>
            <a:ext cx="26597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b="1" dirty="0">
                <a:solidFill>
                  <a:schemeClr val="bg1"/>
                </a:solidFill>
                <a:effectLst>
                  <a:glow rad="152400">
                    <a:srgbClr val="FF4655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Criterio AIC</a:t>
            </a:r>
            <a:endParaRPr lang="it-IT" sz="3600" dirty="0">
              <a:solidFill>
                <a:schemeClr val="bg1"/>
              </a:solidFill>
              <a:effectLst>
                <a:glow rad="152400">
                  <a:srgbClr val="FF4655">
                    <a:alpha val="40000"/>
                  </a:srgbClr>
                </a:glow>
              </a:effectLst>
            </a:endParaRPr>
          </a:p>
        </p:txBody>
      </p:sp>
      <p:sp>
        <p:nvSpPr>
          <p:cNvPr id="7168" name="CasellaDiTesto 7167">
            <a:extLst>
              <a:ext uri="{FF2B5EF4-FFF2-40B4-BE49-F238E27FC236}">
                <a16:creationId xmlns:a16="http://schemas.microsoft.com/office/drawing/2014/main" id="{9C3490EB-07A1-7D36-448B-E931BACCAA46}"/>
              </a:ext>
            </a:extLst>
          </p:cNvPr>
          <p:cNvSpPr txBox="1"/>
          <p:nvPr/>
        </p:nvSpPr>
        <p:spPr>
          <a:xfrm>
            <a:off x="8085844" y="1324495"/>
            <a:ext cx="8867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>
                <a:solidFill>
                  <a:schemeClr val="bg1"/>
                </a:solidFill>
                <a:effectLst>
                  <a:glow rad="127000">
                    <a:srgbClr val="00B0F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Bias</a:t>
            </a:r>
            <a:endParaRPr lang="it-IT" sz="2800" dirty="0">
              <a:solidFill>
                <a:schemeClr val="bg1"/>
              </a:solidFill>
              <a:effectLst>
                <a:glow rad="127000">
                  <a:srgbClr val="00B0F0">
                    <a:alpha val="40000"/>
                  </a:srgbClr>
                </a:glow>
              </a:effectLst>
            </a:endParaRPr>
          </a:p>
        </p:txBody>
      </p:sp>
      <p:sp>
        <p:nvSpPr>
          <p:cNvPr id="7169" name="CasellaDiTesto 7168">
            <a:extLst>
              <a:ext uri="{FF2B5EF4-FFF2-40B4-BE49-F238E27FC236}">
                <a16:creationId xmlns:a16="http://schemas.microsoft.com/office/drawing/2014/main" id="{977985D9-4F4C-04EC-D469-AA4A79CA99B7}"/>
              </a:ext>
            </a:extLst>
          </p:cNvPr>
          <p:cNvSpPr txBox="1"/>
          <p:nvPr/>
        </p:nvSpPr>
        <p:spPr>
          <a:xfrm>
            <a:off x="10201233" y="1324495"/>
            <a:ext cx="1697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 err="1">
                <a:solidFill>
                  <a:schemeClr val="bg1"/>
                </a:solidFill>
                <a:effectLst>
                  <a:glow rad="127000">
                    <a:srgbClr val="00B05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Variance</a:t>
            </a:r>
            <a:endParaRPr lang="it-IT" sz="2800" dirty="0">
              <a:solidFill>
                <a:schemeClr val="bg1"/>
              </a:solidFill>
              <a:effectLst>
                <a:glow rad="127000">
                  <a:srgbClr val="00B050">
                    <a:alpha val="40000"/>
                  </a:srgbClr>
                </a:glow>
              </a:effectLst>
            </a:endParaRPr>
          </a:p>
        </p:txBody>
      </p:sp>
      <p:sp>
        <p:nvSpPr>
          <p:cNvPr id="7171" name="Connettore 7170">
            <a:extLst>
              <a:ext uri="{FF2B5EF4-FFF2-40B4-BE49-F238E27FC236}">
                <a16:creationId xmlns:a16="http://schemas.microsoft.com/office/drawing/2014/main" id="{4D0FEC06-CB1D-4FEB-BEDD-B6938C69F995}"/>
              </a:ext>
            </a:extLst>
          </p:cNvPr>
          <p:cNvSpPr/>
          <p:nvPr/>
        </p:nvSpPr>
        <p:spPr>
          <a:xfrm>
            <a:off x="1531949" y="1627477"/>
            <a:ext cx="103976" cy="111960"/>
          </a:xfrm>
          <a:prstGeom prst="flowChartConnector">
            <a:avLst/>
          </a:prstGeom>
          <a:solidFill>
            <a:srgbClr val="FF4655"/>
          </a:solidFill>
          <a:ln>
            <a:solidFill>
              <a:srgbClr val="C13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72" name="Connettore 7171">
            <a:extLst>
              <a:ext uri="{FF2B5EF4-FFF2-40B4-BE49-F238E27FC236}">
                <a16:creationId xmlns:a16="http://schemas.microsoft.com/office/drawing/2014/main" id="{40002A0D-91C6-524C-33ED-16144E2B61F9}"/>
              </a:ext>
            </a:extLst>
          </p:cNvPr>
          <p:cNvSpPr/>
          <p:nvPr/>
        </p:nvSpPr>
        <p:spPr>
          <a:xfrm>
            <a:off x="1531949" y="2670473"/>
            <a:ext cx="103976" cy="111960"/>
          </a:xfrm>
          <a:prstGeom prst="flowChartConnector">
            <a:avLst/>
          </a:prstGeom>
          <a:solidFill>
            <a:srgbClr val="FF4655"/>
          </a:solidFill>
          <a:ln>
            <a:solidFill>
              <a:srgbClr val="C13A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174" name="Parentesi graffa chiusa 7173">
            <a:extLst>
              <a:ext uri="{FF2B5EF4-FFF2-40B4-BE49-F238E27FC236}">
                <a16:creationId xmlns:a16="http://schemas.microsoft.com/office/drawing/2014/main" id="{01844F2F-177D-03FB-2880-04DFC2CB37D1}"/>
              </a:ext>
            </a:extLst>
          </p:cNvPr>
          <p:cNvSpPr/>
          <p:nvPr/>
        </p:nvSpPr>
        <p:spPr>
          <a:xfrm>
            <a:off x="4328220" y="3064823"/>
            <a:ext cx="437410" cy="1382618"/>
          </a:xfrm>
          <a:prstGeom prst="rightBrace">
            <a:avLst>
              <a:gd name="adj1" fmla="val 46212"/>
              <a:gd name="adj2" fmla="val 50000"/>
            </a:avLst>
          </a:prstGeom>
          <a:ln>
            <a:solidFill>
              <a:srgbClr val="C13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75" name="CasellaDiTesto 7174">
            <a:extLst>
              <a:ext uri="{FF2B5EF4-FFF2-40B4-BE49-F238E27FC236}">
                <a16:creationId xmlns:a16="http://schemas.microsoft.com/office/drawing/2014/main" id="{0E26AD41-DCA4-18F5-E418-4A5DBD1457C2}"/>
              </a:ext>
            </a:extLst>
          </p:cNvPr>
          <p:cNvSpPr txBox="1"/>
          <p:nvPr/>
        </p:nvSpPr>
        <p:spPr>
          <a:xfrm>
            <a:off x="4872948" y="3543301"/>
            <a:ext cx="2553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si è osservata una CONVERGENZA nei risultati</a:t>
            </a:r>
          </a:p>
        </p:txBody>
      </p:sp>
      <p:cxnSp>
        <p:nvCxnSpPr>
          <p:cNvPr id="7180" name="Connettore 2 7179">
            <a:extLst>
              <a:ext uri="{FF2B5EF4-FFF2-40B4-BE49-F238E27FC236}">
                <a16:creationId xmlns:a16="http://schemas.microsoft.com/office/drawing/2014/main" id="{E66A716D-1B95-C3A6-D14E-9671D521B0D5}"/>
              </a:ext>
            </a:extLst>
          </p:cNvPr>
          <p:cNvCxnSpPr>
            <a:cxnSpLocks/>
          </p:cNvCxnSpPr>
          <p:nvPr/>
        </p:nvCxnSpPr>
        <p:spPr>
          <a:xfrm flipH="1">
            <a:off x="5333157" y="4200525"/>
            <a:ext cx="419943" cy="565374"/>
          </a:xfrm>
          <a:prstGeom prst="straightConnector1">
            <a:avLst/>
          </a:prstGeom>
          <a:ln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magine 2" descr="Immagine che contiene ingranaggio, oggetti in metallo, cerchio, ruota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5C3D605E-5C7D-2322-7A6B-2D29E4B8080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4" name="Immagine 3" descr="Immagine che contiene arte, bianco e nero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22685CF2-4103-3890-53FB-F618CE16C06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5" name="Immagine 4" descr="Immagine che contiene design, linea, bianco, Rettangol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24CEC1F3-9424-1023-45BD-92330F6C311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7" name="Immagine 6" descr="Immagine che contiene triangol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DDE5F824-3328-61B3-C586-F65A4E40DC6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9" name="Immagine 8" descr="Immagine che contiene schermata, design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6C92E6B4-0453-8EA1-1D82-6B01C685008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11" name="Immagine 10" descr="Immagine che contiene cerchio, bianco e ner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C8CD14A6-7D22-7F81-B810-D10A81BE197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13" name="Immagine 12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8611F56A-AF7D-C3F7-B608-A2E783F1B98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15" name="Immagine 14" descr="Immagine che contiene schermata, Rettangolo, design&#10;&#10;Il contenuto generato dall'IA potrebbe non essere corretto.">
            <a:hlinkClick r:id="rId29" action="ppaction://hlinksldjump"/>
            <a:extLst>
              <a:ext uri="{FF2B5EF4-FFF2-40B4-BE49-F238E27FC236}">
                <a16:creationId xmlns:a16="http://schemas.microsoft.com/office/drawing/2014/main" id="{28167ECF-79DF-6E56-CBD9-CFED0B7F599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9153CBE-B87E-18D1-496B-18CB5417C570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 t="-1" b="1673"/>
          <a:stretch>
            <a:fillRect/>
          </a:stretch>
        </p:blipFill>
        <p:spPr>
          <a:xfrm>
            <a:off x="1159835" y="7324546"/>
            <a:ext cx="10895639" cy="1152704"/>
          </a:xfrm>
          <a:prstGeom prst="rect">
            <a:avLst/>
          </a:prstGeom>
          <a:effectLst>
            <a:glow rad="152400">
              <a:srgbClr val="FF4655">
                <a:alpha val="45000"/>
              </a:srgbClr>
            </a:glow>
          </a:effectLst>
        </p:spPr>
      </p:pic>
      <p:sp>
        <p:nvSpPr>
          <p:cNvPr id="19" name="!!Connettore 28">
            <a:extLst>
              <a:ext uri="{FF2B5EF4-FFF2-40B4-BE49-F238E27FC236}">
                <a16:creationId xmlns:a16="http://schemas.microsoft.com/office/drawing/2014/main" id="{815558F6-1F98-0653-C28E-D4AB7F9BF848}"/>
              </a:ext>
            </a:extLst>
          </p:cNvPr>
          <p:cNvSpPr/>
          <p:nvPr/>
        </p:nvSpPr>
        <p:spPr>
          <a:xfrm>
            <a:off x="-6606320" y="2140645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1E31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!!Connettore 30">
            <a:extLst>
              <a:ext uri="{FF2B5EF4-FFF2-40B4-BE49-F238E27FC236}">
                <a16:creationId xmlns:a16="http://schemas.microsoft.com/office/drawing/2014/main" id="{F3E39CF5-2639-FEB4-EBF8-DDE6E6A7F8DB}"/>
              </a:ext>
            </a:extLst>
          </p:cNvPr>
          <p:cNvSpPr/>
          <p:nvPr/>
        </p:nvSpPr>
        <p:spPr>
          <a:xfrm>
            <a:off x="-6606320" y="3375576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1E31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77" name="Elaborazione alternativa 7176">
            <a:extLst>
              <a:ext uri="{FF2B5EF4-FFF2-40B4-BE49-F238E27FC236}">
                <a16:creationId xmlns:a16="http://schemas.microsoft.com/office/drawing/2014/main" id="{C56C0A6F-0D1F-594A-ECD6-503E657C8438}"/>
              </a:ext>
            </a:extLst>
          </p:cNvPr>
          <p:cNvSpPr/>
          <p:nvPr/>
        </p:nvSpPr>
        <p:spPr>
          <a:xfrm>
            <a:off x="1410046" y="-3657057"/>
            <a:ext cx="6489056" cy="3257008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178" name="CasellaDiTesto 7177">
            <a:extLst>
              <a:ext uri="{FF2B5EF4-FFF2-40B4-BE49-F238E27FC236}">
                <a16:creationId xmlns:a16="http://schemas.microsoft.com/office/drawing/2014/main" id="{28BEE3F7-37DB-60BD-DCC7-5A93888719EB}"/>
              </a:ext>
            </a:extLst>
          </p:cNvPr>
          <p:cNvSpPr txBox="1"/>
          <p:nvPr/>
        </p:nvSpPr>
        <p:spPr>
          <a:xfrm>
            <a:off x="1709895" y="-3534823"/>
            <a:ext cx="6168468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LASSO (</a:t>
            </a:r>
            <a:r>
              <a:rPr lang="el-GR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β</a:t>
            </a:r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l-GR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→</a:t>
            </a:r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l-GR" sz="31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0</a:t>
            </a:r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): </a:t>
            </a:r>
            <a:r>
              <a:rPr lang="it-IT" sz="25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azzera i coefficienti delle variabili ritenute non significative.</a:t>
            </a:r>
          </a:p>
          <a:p>
            <a:endParaRPr lang="it-IT" sz="25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Ridge (</a:t>
            </a:r>
            <a:r>
              <a:rPr lang="el-GR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β</a:t>
            </a:r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≈ </a:t>
            </a:r>
            <a:r>
              <a:rPr lang="el-GR" sz="31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0</a:t>
            </a:r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): </a:t>
            </a:r>
            <a:r>
              <a:rPr lang="it-IT" sz="25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contrae i coefficienti senza annullarli, si è scelto di preservare le </a:t>
            </a:r>
            <a:r>
              <a:rPr lang="it-IT" sz="31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lang="it-IT" sz="25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variabili con coefficienti maggiori in valore assoluto.</a:t>
            </a:r>
          </a:p>
        </p:txBody>
      </p:sp>
      <p:sp>
        <p:nvSpPr>
          <p:cNvPr id="7179" name="!!Connettore 28">
            <a:extLst>
              <a:ext uri="{FF2B5EF4-FFF2-40B4-BE49-F238E27FC236}">
                <a16:creationId xmlns:a16="http://schemas.microsoft.com/office/drawing/2014/main" id="{63D130E3-9BEA-7B15-0E0C-0760DB486564}"/>
              </a:ext>
            </a:extLst>
          </p:cNvPr>
          <p:cNvSpPr/>
          <p:nvPr/>
        </p:nvSpPr>
        <p:spPr>
          <a:xfrm>
            <a:off x="1585180" y="-3288605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1E31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81" name="!!Connettore 30">
            <a:extLst>
              <a:ext uri="{FF2B5EF4-FFF2-40B4-BE49-F238E27FC236}">
                <a16:creationId xmlns:a16="http://schemas.microsoft.com/office/drawing/2014/main" id="{132EC56B-6105-174D-7D2E-CCD5001475A9}"/>
              </a:ext>
            </a:extLst>
          </p:cNvPr>
          <p:cNvSpPr/>
          <p:nvPr/>
        </p:nvSpPr>
        <p:spPr>
          <a:xfrm>
            <a:off x="1585180" y="-2053674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1E31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82" name="!!sdofflow">
            <a:extLst>
              <a:ext uri="{FF2B5EF4-FFF2-40B4-BE49-F238E27FC236}">
                <a16:creationId xmlns:a16="http://schemas.microsoft.com/office/drawing/2014/main" id="{7FD52DA6-FC80-2D70-DFF7-42EF026041A0}"/>
              </a:ext>
            </a:extLst>
          </p:cNvPr>
          <p:cNvSpPr/>
          <p:nvPr/>
        </p:nvSpPr>
        <p:spPr>
          <a:xfrm rot="5400000" flipV="1">
            <a:off x="13104525" y="1353968"/>
            <a:ext cx="3302462" cy="4048003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183" name="CasellaDiTesto 7182">
            <a:extLst>
              <a:ext uri="{FF2B5EF4-FFF2-40B4-BE49-F238E27FC236}">
                <a16:creationId xmlns:a16="http://schemas.microsoft.com/office/drawing/2014/main" id="{1C7C8B91-F72B-C5B1-16D6-2F80B011FB37}"/>
              </a:ext>
            </a:extLst>
          </p:cNvPr>
          <p:cNvSpPr txBox="1"/>
          <p:nvPr/>
        </p:nvSpPr>
        <p:spPr>
          <a:xfrm>
            <a:off x="13680026" y="1200580"/>
            <a:ext cx="2263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effectLst>
                  <a:glow rad="63500">
                    <a:srgbClr val="FF4655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lang="it-IT" sz="2400" b="1" dirty="0">
                <a:solidFill>
                  <a:schemeClr val="bg1"/>
                </a:solidFill>
                <a:effectLst>
                  <a:glow rad="63500">
                    <a:srgbClr val="FF4655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set candidati</a:t>
            </a:r>
            <a:endParaRPr lang="it-IT" sz="2400" dirty="0">
              <a:solidFill>
                <a:schemeClr val="bg1"/>
              </a:solidFill>
              <a:effectLst>
                <a:glow rad="63500">
                  <a:srgbClr val="FF4655">
                    <a:alpha val="40000"/>
                  </a:srgbClr>
                </a:glow>
              </a:effectLst>
            </a:endParaRPr>
          </a:p>
        </p:txBody>
      </p:sp>
      <p:sp>
        <p:nvSpPr>
          <p:cNvPr id="7184" name="!!peter">
            <a:extLst>
              <a:ext uri="{FF2B5EF4-FFF2-40B4-BE49-F238E27FC236}">
                <a16:creationId xmlns:a16="http://schemas.microsoft.com/office/drawing/2014/main" id="{66C7B6DF-981C-EAFC-DE46-1F932ADBA265}"/>
              </a:ext>
            </a:extLst>
          </p:cNvPr>
          <p:cNvSpPr txBox="1"/>
          <p:nvPr/>
        </p:nvSpPr>
        <p:spPr>
          <a:xfrm>
            <a:off x="13789833" y="1868167"/>
            <a:ext cx="2044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effectLst>
                  <a:glow rad="127000">
                    <a:srgbClr val="00B0F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Set </a:t>
            </a:r>
            <a:r>
              <a:rPr lang="it-IT" sz="2400" b="1" dirty="0" err="1">
                <a:solidFill>
                  <a:schemeClr val="bg1"/>
                </a:solidFill>
                <a:effectLst>
                  <a:glow rad="127000">
                    <a:srgbClr val="00B0F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Stepwise</a:t>
            </a:r>
            <a:endParaRPr lang="it-IT" sz="2400" dirty="0">
              <a:solidFill>
                <a:schemeClr val="bg1"/>
              </a:solidFill>
              <a:effectLst>
                <a:glow rad="127000">
                  <a:srgbClr val="00B0F0">
                    <a:alpha val="40000"/>
                  </a:srgbClr>
                </a:glow>
              </a:effectLst>
            </a:endParaRPr>
          </a:p>
        </p:txBody>
      </p:sp>
      <p:sp>
        <p:nvSpPr>
          <p:cNvPr id="7185" name="!!marchio">
            <a:extLst>
              <a:ext uri="{FF2B5EF4-FFF2-40B4-BE49-F238E27FC236}">
                <a16:creationId xmlns:a16="http://schemas.microsoft.com/office/drawing/2014/main" id="{6AC06BD3-6E42-9C7A-EB03-FE88D527588C}"/>
              </a:ext>
            </a:extLst>
          </p:cNvPr>
          <p:cNvSpPr txBox="1"/>
          <p:nvPr/>
        </p:nvSpPr>
        <p:spPr>
          <a:xfrm>
            <a:off x="13966966" y="2987376"/>
            <a:ext cx="1689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effectLst>
                  <a:glow rad="127000">
                    <a:srgbClr val="00B05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Set LASSO</a:t>
            </a:r>
            <a:endParaRPr lang="it-IT" sz="2400" dirty="0">
              <a:solidFill>
                <a:schemeClr val="bg1"/>
              </a:solidFill>
              <a:effectLst>
                <a:glow rad="127000">
                  <a:srgbClr val="00B050">
                    <a:alpha val="40000"/>
                  </a:srgbClr>
                </a:glow>
              </a:effectLst>
            </a:endParaRPr>
          </a:p>
        </p:txBody>
      </p:sp>
      <p:sp>
        <p:nvSpPr>
          <p:cNvPr id="7186" name="!!losa">
            <a:extLst>
              <a:ext uri="{FF2B5EF4-FFF2-40B4-BE49-F238E27FC236}">
                <a16:creationId xmlns:a16="http://schemas.microsoft.com/office/drawing/2014/main" id="{72393E35-808A-FBE4-5BE3-42029EC892B2}"/>
              </a:ext>
            </a:extLst>
          </p:cNvPr>
          <p:cNvSpPr txBox="1"/>
          <p:nvPr/>
        </p:nvSpPr>
        <p:spPr>
          <a:xfrm>
            <a:off x="14034290" y="4099977"/>
            <a:ext cx="1555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effectLst>
                  <a:glow rad="127000">
                    <a:schemeClr val="accent2">
                      <a:lumMod val="75000"/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Set Ridge</a:t>
            </a:r>
            <a:endParaRPr lang="it-IT" sz="2400" dirty="0">
              <a:solidFill>
                <a:schemeClr val="bg1"/>
              </a:solidFill>
              <a:effectLst>
                <a:glow rad="127000">
                  <a:schemeClr val="accent2">
                    <a:lumMod val="75000"/>
                    <a:alpha val="40000"/>
                  </a:schemeClr>
                </a:glow>
              </a:effectLst>
            </a:endParaRPr>
          </a:p>
        </p:txBody>
      </p:sp>
      <p:sp>
        <p:nvSpPr>
          <p:cNvPr id="7187" name="CasellaDiTesto 7186">
            <a:extLst>
              <a:ext uri="{FF2B5EF4-FFF2-40B4-BE49-F238E27FC236}">
                <a16:creationId xmlns:a16="http://schemas.microsoft.com/office/drawing/2014/main" id="{F1127FD6-DBFF-E851-9188-3CAF22C12766}"/>
              </a:ext>
            </a:extLst>
          </p:cNvPr>
          <p:cNvSpPr txBox="1"/>
          <p:nvPr/>
        </p:nvSpPr>
        <p:spPr>
          <a:xfrm>
            <a:off x="12844063" y="2339774"/>
            <a:ext cx="32896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Rating_Max</a:t>
            </a:r>
            <a:r>
              <a:rPr lang="en-US" sz="13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Rating_SD</a:t>
            </a:r>
            <a:r>
              <a:rPr lang="en-US" sz="13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FirstDeaths_Tot</a:t>
            </a:r>
            <a:endParaRPr lang="it-IT" sz="1300" dirty="0">
              <a:solidFill>
                <a:schemeClr val="bg1"/>
              </a:solidFill>
              <a:effectLst>
                <a:glow rad="50800">
                  <a:srgbClr val="FF4655">
                    <a:alpha val="50000"/>
                  </a:srgbClr>
                </a:glow>
              </a:effectLst>
            </a:endParaRPr>
          </a:p>
        </p:txBody>
      </p:sp>
      <p:sp>
        <p:nvSpPr>
          <p:cNvPr id="7188" name="CasellaDiTesto 7187">
            <a:extLst>
              <a:ext uri="{FF2B5EF4-FFF2-40B4-BE49-F238E27FC236}">
                <a16:creationId xmlns:a16="http://schemas.microsoft.com/office/drawing/2014/main" id="{297001F1-2D90-B8E7-E0A0-CBA04874E903}"/>
              </a:ext>
            </a:extLst>
          </p:cNvPr>
          <p:cNvSpPr txBox="1"/>
          <p:nvPr/>
        </p:nvSpPr>
        <p:spPr>
          <a:xfrm>
            <a:off x="12858554" y="3482723"/>
            <a:ext cx="343074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KAST_Mean</a:t>
            </a:r>
            <a:r>
              <a:rPr lang="en-US" sz="13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Rating_Max</a:t>
            </a:r>
            <a:r>
              <a:rPr lang="en-US" sz="13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FirstDeaths_Tot</a:t>
            </a:r>
            <a:endParaRPr lang="it-IT" sz="1300" dirty="0">
              <a:solidFill>
                <a:schemeClr val="bg1"/>
              </a:solidFill>
              <a:effectLst>
                <a:glow rad="50800">
                  <a:srgbClr val="FF4655">
                    <a:alpha val="50000"/>
                  </a:srgbClr>
                </a:glow>
              </a:effectLst>
            </a:endParaRPr>
          </a:p>
        </p:txBody>
      </p:sp>
      <p:sp>
        <p:nvSpPr>
          <p:cNvPr id="7189" name="CasellaDiTesto 7188">
            <a:extLst>
              <a:ext uri="{FF2B5EF4-FFF2-40B4-BE49-F238E27FC236}">
                <a16:creationId xmlns:a16="http://schemas.microsoft.com/office/drawing/2014/main" id="{F655A882-F257-0C7C-331D-49C627CFC561}"/>
              </a:ext>
            </a:extLst>
          </p:cNvPr>
          <p:cNvSpPr txBox="1"/>
          <p:nvPr/>
        </p:nvSpPr>
        <p:spPr>
          <a:xfrm>
            <a:off x="12845152" y="4571584"/>
            <a:ext cx="36711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Kill_Concentration</a:t>
            </a:r>
            <a:r>
              <a:rPr lang="en-US" sz="13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KAST_Mean</a:t>
            </a:r>
            <a:r>
              <a:rPr lang="en-US" sz="13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Rating_Max</a:t>
            </a:r>
            <a:endParaRPr lang="it-IT" sz="1300" dirty="0">
              <a:solidFill>
                <a:schemeClr val="bg1"/>
              </a:solidFill>
              <a:effectLst>
                <a:glow rad="50800">
                  <a:srgbClr val="FF4655">
                    <a:alpha val="5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86764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4F668-1B6C-2D30-23EC-CA978113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sdofflow">
            <a:extLst>
              <a:ext uri="{FF2B5EF4-FFF2-40B4-BE49-F238E27FC236}">
                <a16:creationId xmlns:a16="http://schemas.microsoft.com/office/drawing/2014/main" id="{04260878-016E-A6A6-0B57-BD0F0D50D3D8}"/>
              </a:ext>
            </a:extLst>
          </p:cNvPr>
          <p:cNvSpPr/>
          <p:nvPr/>
        </p:nvSpPr>
        <p:spPr>
          <a:xfrm rot="5400000" flipV="1">
            <a:off x="8780175" y="1353968"/>
            <a:ext cx="3302462" cy="4048003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7" name="Elaborazione alternativa 26">
            <a:extLst>
              <a:ext uri="{FF2B5EF4-FFF2-40B4-BE49-F238E27FC236}">
                <a16:creationId xmlns:a16="http://schemas.microsoft.com/office/drawing/2014/main" id="{14D278D7-EEAE-0929-E7A5-209B0A0C83E8}"/>
              </a:ext>
            </a:extLst>
          </p:cNvPr>
          <p:cNvSpPr/>
          <p:nvPr/>
        </p:nvSpPr>
        <p:spPr>
          <a:xfrm>
            <a:off x="1410046" y="1772193"/>
            <a:ext cx="6489056" cy="3257008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3D75A83E-6E5F-DF11-02CE-E9443C71EADD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692B36D6-3134-039F-4F02-AA7A418BBA49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32DED89A-979E-0E55-DA02-C0E81E1B8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FABD4D39-0D11-99F2-0694-51F48B08776F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3B8BF019-84F9-9283-49F8-AFE5F7FCDACA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8A0CD353-DF99-D6D8-F293-3B265DC87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F536DEA9-99CA-EA95-425A-D44EC29A6EE3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0D5426B0-E27C-D20C-7585-9142A004E923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696AB45F-8793-2498-CF43-03A12CAE5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8EFA72C4-2374-3EE7-FAB1-DD165EAEA903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56336912-ED1E-3586-A5FF-1AF71116A8AA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5DD236EC-F6E4-C1DD-6100-275D34AB2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BB283E0A-8084-3A6F-D4C9-E814A7B12560}"/>
              </a:ext>
            </a:extLst>
          </p:cNvPr>
          <p:cNvGrpSpPr/>
          <p:nvPr/>
        </p:nvGrpSpPr>
        <p:grpSpPr>
          <a:xfrm>
            <a:off x="-728597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9FBBF236-0170-6F14-AA23-8A7CE5E89304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698B0084-E557-13A1-7FD9-869EA5F7B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906C5BA9-E0D3-134A-AA73-8F82242969C5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EE9B4905-7DCD-B3A4-409B-2FBD4FF832CF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E03F1B0A-36BB-6DBA-AE96-4C95DBE02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3669DA62-6FE6-3656-2E90-11C2368445D9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E92195A8-F07E-08D6-CBE8-C8834BBC518A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4629BC0A-693E-A721-4FB0-B1E9645D5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2117FB44-5CAF-0815-1F92-B0B48831D91B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0D63D078-A78D-DB1B-EF74-FF4779BBCFA7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5CAE9F59-415D-6101-E8FD-1C16A29A814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8B792927-BB80-BA71-527C-54F7E5148B58}"/>
              </a:ext>
            </a:extLst>
          </p:cNvPr>
          <p:cNvGrpSpPr/>
          <p:nvPr/>
        </p:nvGrpSpPr>
        <p:grpSpPr>
          <a:xfrm>
            <a:off x="629695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74C4BCFE-4079-1F66-3711-1926C59D78AA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E762D8CF-1975-71A9-0F47-0BE0ADDDD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4DFC6B2C-689E-5D5A-9DFE-E55A9B5CF662}"/>
              </a:ext>
            </a:extLst>
          </p:cNvPr>
          <p:cNvSpPr/>
          <p:nvPr/>
        </p:nvSpPr>
        <p:spPr>
          <a:xfrm rot="10800000">
            <a:off x="2838" y="-592215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30" name="Immagine 29" descr="Immagine che contiene bianco, Utensile da cucina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F9055670-33A9-2E21-9A19-105CD888457B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25AA45D-7E53-7FC8-860C-134E2178843D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LASSO &amp; Ridge </a:t>
            </a:r>
            <a:r>
              <a:rPr lang="it-IT" sz="5000" b="1" dirty="0" err="1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Selection</a:t>
            </a:r>
            <a:endParaRPr lang="it-IT" sz="5000" b="1" dirty="0">
              <a:solidFill>
                <a:schemeClr val="bg1"/>
              </a:solidFill>
              <a:effectLst>
                <a:glow rad="101600">
                  <a:srgbClr val="FF0000">
                    <a:alpha val="40000"/>
                  </a:srgb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23175D0-5106-9863-847A-86A7E7DB570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-1" b="1673"/>
          <a:stretch>
            <a:fillRect/>
          </a:stretch>
        </p:blipFill>
        <p:spPr>
          <a:xfrm>
            <a:off x="1159835" y="5705296"/>
            <a:ext cx="10895639" cy="1152704"/>
          </a:xfrm>
          <a:prstGeom prst="rect">
            <a:avLst/>
          </a:prstGeom>
          <a:effectLst>
            <a:glow rad="152400">
              <a:srgbClr val="FF4655">
                <a:alpha val="45000"/>
              </a:srgbClr>
            </a:glow>
          </a:effec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1AEF98C-F7A7-A6F9-860E-FA7B9DBD403E}"/>
              </a:ext>
            </a:extLst>
          </p:cNvPr>
          <p:cNvSpPr txBox="1"/>
          <p:nvPr/>
        </p:nvSpPr>
        <p:spPr>
          <a:xfrm>
            <a:off x="9355676" y="1200580"/>
            <a:ext cx="2263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effectLst>
                  <a:glow rad="63500">
                    <a:srgbClr val="FF4655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lang="it-IT" sz="2400" b="1" dirty="0">
                <a:solidFill>
                  <a:schemeClr val="bg1"/>
                </a:solidFill>
                <a:effectLst>
                  <a:glow rad="63500">
                    <a:srgbClr val="FF4655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set candidati</a:t>
            </a:r>
            <a:endParaRPr lang="it-IT" sz="2400" dirty="0">
              <a:solidFill>
                <a:schemeClr val="bg1"/>
              </a:solidFill>
              <a:effectLst>
                <a:glow rad="63500">
                  <a:srgbClr val="FF4655">
                    <a:alpha val="40000"/>
                  </a:srgbClr>
                </a:glow>
              </a:effectLst>
            </a:endParaRPr>
          </a:p>
        </p:txBody>
      </p:sp>
      <p:sp>
        <p:nvSpPr>
          <p:cNvPr id="9" name="!!peter">
            <a:extLst>
              <a:ext uri="{FF2B5EF4-FFF2-40B4-BE49-F238E27FC236}">
                <a16:creationId xmlns:a16="http://schemas.microsoft.com/office/drawing/2014/main" id="{05BCC0A1-3714-D0CB-206B-F6DDBF424B2D}"/>
              </a:ext>
            </a:extLst>
          </p:cNvPr>
          <p:cNvSpPr txBox="1"/>
          <p:nvPr/>
        </p:nvSpPr>
        <p:spPr>
          <a:xfrm>
            <a:off x="9465483" y="1868167"/>
            <a:ext cx="2044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effectLst>
                  <a:glow rad="127000">
                    <a:srgbClr val="00B0F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Set </a:t>
            </a:r>
            <a:r>
              <a:rPr lang="it-IT" sz="2400" b="1" dirty="0" err="1">
                <a:solidFill>
                  <a:schemeClr val="bg1"/>
                </a:solidFill>
                <a:effectLst>
                  <a:glow rad="127000">
                    <a:srgbClr val="00B0F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Stepwise</a:t>
            </a:r>
            <a:endParaRPr lang="it-IT" sz="2400" dirty="0">
              <a:solidFill>
                <a:schemeClr val="bg1"/>
              </a:solidFill>
              <a:effectLst>
                <a:glow rad="127000">
                  <a:srgbClr val="00B0F0">
                    <a:alpha val="40000"/>
                  </a:srgbClr>
                </a:glow>
              </a:effectLst>
            </a:endParaRPr>
          </a:p>
        </p:txBody>
      </p:sp>
      <p:sp>
        <p:nvSpPr>
          <p:cNvPr id="10" name="!!marchio">
            <a:extLst>
              <a:ext uri="{FF2B5EF4-FFF2-40B4-BE49-F238E27FC236}">
                <a16:creationId xmlns:a16="http://schemas.microsoft.com/office/drawing/2014/main" id="{F69703E3-2B49-795F-9BA4-F396589DC16B}"/>
              </a:ext>
            </a:extLst>
          </p:cNvPr>
          <p:cNvSpPr txBox="1"/>
          <p:nvPr/>
        </p:nvSpPr>
        <p:spPr>
          <a:xfrm>
            <a:off x="9642616" y="2987376"/>
            <a:ext cx="1689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effectLst>
                  <a:glow rad="127000">
                    <a:srgbClr val="00B05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Set LASSO</a:t>
            </a:r>
            <a:endParaRPr lang="it-IT" sz="2400" dirty="0">
              <a:solidFill>
                <a:schemeClr val="bg1"/>
              </a:solidFill>
              <a:effectLst>
                <a:glow rad="127000">
                  <a:srgbClr val="00B050">
                    <a:alpha val="40000"/>
                  </a:srgbClr>
                </a:glow>
              </a:effectLst>
            </a:endParaRPr>
          </a:p>
        </p:txBody>
      </p:sp>
      <p:sp>
        <p:nvSpPr>
          <p:cNvPr id="11" name="!!losa">
            <a:extLst>
              <a:ext uri="{FF2B5EF4-FFF2-40B4-BE49-F238E27FC236}">
                <a16:creationId xmlns:a16="http://schemas.microsoft.com/office/drawing/2014/main" id="{44360EF9-BE35-1AB7-0C95-9CC37094D14D}"/>
              </a:ext>
            </a:extLst>
          </p:cNvPr>
          <p:cNvSpPr txBox="1"/>
          <p:nvPr/>
        </p:nvSpPr>
        <p:spPr>
          <a:xfrm>
            <a:off x="9709940" y="4099977"/>
            <a:ext cx="1555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chemeClr val="bg1"/>
                </a:solidFill>
                <a:effectLst>
                  <a:glow rad="127000">
                    <a:schemeClr val="accent2">
                      <a:lumMod val="75000"/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Set Ridge</a:t>
            </a:r>
            <a:endParaRPr lang="it-IT" sz="2400" dirty="0">
              <a:solidFill>
                <a:schemeClr val="bg1"/>
              </a:solidFill>
              <a:effectLst>
                <a:glow rad="127000">
                  <a:schemeClr val="accent2">
                    <a:lumMod val="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9741EDB-347D-7C07-B6C6-D7FC0FD2A70D}"/>
              </a:ext>
            </a:extLst>
          </p:cNvPr>
          <p:cNvSpPr txBox="1"/>
          <p:nvPr/>
        </p:nvSpPr>
        <p:spPr>
          <a:xfrm>
            <a:off x="8519713" y="2339774"/>
            <a:ext cx="32896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Rating_Max</a:t>
            </a:r>
            <a:r>
              <a:rPr lang="en-US" sz="13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Rating_SD</a:t>
            </a:r>
            <a:r>
              <a:rPr lang="en-US" sz="13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FirstDeaths_Tot</a:t>
            </a:r>
            <a:endParaRPr lang="it-IT" sz="1300" dirty="0">
              <a:solidFill>
                <a:schemeClr val="bg1"/>
              </a:solidFill>
              <a:effectLst>
                <a:glow rad="50800">
                  <a:srgbClr val="FF4655">
                    <a:alpha val="50000"/>
                  </a:srgbClr>
                </a:glow>
              </a:effectLst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8F3F0D0-2980-3DD9-7269-9A764BABABC9}"/>
              </a:ext>
            </a:extLst>
          </p:cNvPr>
          <p:cNvSpPr txBox="1"/>
          <p:nvPr/>
        </p:nvSpPr>
        <p:spPr>
          <a:xfrm>
            <a:off x="8534204" y="3482723"/>
            <a:ext cx="343074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KAST_Mean</a:t>
            </a:r>
            <a:r>
              <a:rPr lang="en-US" sz="13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Rating_Max</a:t>
            </a:r>
            <a:r>
              <a:rPr lang="en-US" sz="13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FirstDeaths_Tot</a:t>
            </a:r>
            <a:endParaRPr lang="it-IT" sz="1300" dirty="0">
              <a:solidFill>
                <a:schemeClr val="bg1"/>
              </a:solidFill>
              <a:effectLst>
                <a:glow rad="50800">
                  <a:srgbClr val="FF4655">
                    <a:alpha val="50000"/>
                  </a:srgbClr>
                </a:glow>
              </a:effectLst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C7A5CD5-F0EE-CC18-5AEC-4ED8DD1FDB41}"/>
              </a:ext>
            </a:extLst>
          </p:cNvPr>
          <p:cNvSpPr txBox="1"/>
          <p:nvPr/>
        </p:nvSpPr>
        <p:spPr>
          <a:xfrm>
            <a:off x="8520802" y="4571584"/>
            <a:ext cx="367119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Kill_Concentration</a:t>
            </a:r>
            <a:r>
              <a:rPr lang="en-US" sz="13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KAST_Mean</a:t>
            </a:r>
            <a:r>
              <a:rPr lang="en-US" sz="13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1300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Rating_Max</a:t>
            </a:r>
            <a:endParaRPr lang="it-IT" sz="1300" dirty="0">
              <a:solidFill>
                <a:schemeClr val="bg1"/>
              </a:solidFill>
              <a:effectLst>
                <a:glow rad="50800">
                  <a:srgbClr val="FF4655">
                    <a:alpha val="50000"/>
                  </a:srgbClr>
                </a:glow>
              </a:effectLst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573525B-26A2-DBE3-564D-9DA4F5127655}"/>
              </a:ext>
            </a:extLst>
          </p:cNvPr>
          <p:cNvSpPr txBox="1"/>
          <p:nvPr/>
        </p:nvSpPr>
        <p:spPr>
          <a:xfrm>
            <a:off x="1709895" y="1894427"/>
            <a:ext cx="6168468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LASSO (</a:t>
            </a:r>
            <a:r>
              <a:rPr lang="el-GR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β</a:t>
            </a:r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l-GR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→</a:t>
            </a:r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l-GR" sz="31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0</a:t>
            </a:r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): </a:t>
            </a:r>
            <a:r>
              <a:rPr lang="it-IT" sz="25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azzera i coefficienti delle variabili ritenute non significative.</a:t>
            </a:r>
          </a:p>
          <a:p>
            <a:endParaRPr lang="it-IT" sz="25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Ridge (</a:t>
            </a:r>
            <a:r>
              <a:rPr lang="el-GR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β</a:t>
            </a:r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≈ </a:t>
            </a:r>
            <a:r>
              <a:rPr lang="el-GR" sz="31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0</a:t>
            </a:r>
            <a:r>
              <a:rPr lang="it-IT" sz="2500" b="1" dirty="0">
                <a:solidFill>
                  <a:srgbClr val="1E3144"/>
                </a:solidFill>
                <a:effectLst>
                  <a:glow rad="25400">
                    <a:srgbClr val="C13A48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): </a:t>
            </a:r>
            <a:r>
              <a:rPr lang="it-IT" sz="25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contrae i coefficienti senza annullarli, si è scelto di preservare le </a:t>
            </a:r>
            <a:r>
              <a:rPr lang="it-IT" sz="31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lang="it-IT" sz="25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variabili con coefficienti maggiori in valore assoluto.</a:t>
            </a:r>
          </a:p>
        </p:txBody>
      </p:sp>
      <p:sp>
        <p:nvSpPr>
          <p:cNvPr id="29" name="!!Connettore 28">
            <a:extLst>
              <a:ext uri="{FF2B5EF4-FFF2-40B4-BE49-F238E27FC236}">
                <a16:creationId xmlns:a16="http://schemas.microsoft.com/office/drawing/2014/main" id="{D1C7D05A-3E1A-55EC-5119-DF5783CCC04E}"/>
              </a:ext>
            </a:extLst>
          </p:cNvPr>
          <p:cNvSpPr/>
          <p:nvPr/>
        </p:nvSpPr>
        <p:spPr>
          <a:xfrm>
            <a:off x="1585180" y="2140645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1E31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!!Connettore 30">
            <a:extLst>
              <a:ext uri="{FF2B5EF4-FFF2-40B4-BE49-F238E27FC236}">
                <a16:creationId xmlns:a16="http://schemas.microsoft.com/office/drawing/2014/main" id="{C85040FF-054D-3F29-29FE-140583B0702D}"/>
              </a:ext>
            </a:extLst>
          </p:cNvPr>
          <p:cNvSpPr/>
          <p:nvPr/>
        </p:nvSpPr>
        <p:spPr>
          <a:xfrm>
            <a:off x="1585180" y="3375576"/>
            <a:ext cx="103976" cy="111960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1E31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 descr="Immagine che contiene ingranaggio, oggetti in metallo, cerchio, ruota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A875AB2C-A181-FD73-D162-681F660A590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4" name="Immagine 3" descr="Immagine che contiene arte, bianco e nero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E66E554A-BC3B-003B-DC4B-9B34A08E7CA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19" name="Immagine 18" descr="Immagine che contiene design, linea, bianco, Rettangolo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6614963E-91F0-E6CE-687B-19841DD155B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21" name="Immagine 20" descr="Immagine che contiene triangol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787691FD-1D74-F04D-1EA8-51964BFF402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25" name="Immagine 24" descr="Immagine che contiene schermata, design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71C75AA5-F2BF-8BD2-F777-FC5018D8C03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33" name="Immagine 32" descr="Immagine che contiene cerchio, bianco e ner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CBAFDDDF-9223-A7E8-0FB0-FCE773F628C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35" name="Immagine 34" descr="Immagine che contiene schermata, design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CFF2057C-A3A6-F9F4-821F-27E590C789C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37" name="Immagine 36" descr="Immagine che contiene schermata, Rettangolo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5207E8AD-9A22-6784-2F11-15BF7FDD039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829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9FAAC0-CEA2-F458-9E99-F9A7B876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olo rettangolo 2">
            <a:extLst>
              <a:ext uri="{FF2B5EF4-FFF2-40B4-BE49-F238E27FC236}">
                <a16:creationId xmlns:a16="http://schemas.microsoft.com/office/drawing/2014/main" id="{E0310858-CEF7-4CF2-D762-2B62BA004870}"/>
              </a:ext>
            </a:extLst>
          </p:cNvPr>
          <p:cNvSpPr>
            <a:spLocks/>
          </p:cNvSpPr>
          <p:nvPr/>
        </p:nvSpPr>
        <p:spPr>
          <a:xfrm flipH="1">
            <a:off x="4829167" y="-1933575"/>
            <a:ext cx="8048625" cy="11934824"/>
          </a:xfrm>
          <a:prstGeom prst="rtTriangle">
            <a:avLst/>
          </a:prstGeom>
          <a:solidFill>
            <a:srgbClr val="FF4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4B1EA976-2B45-E438-6D63-C2717697F5DC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DCE0D7F6-2179-5006-A5EA-51934D78FAB8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5749309F-406F-9F97-59D3-F98A495BC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2DFDDF0F-7D10-F776-6DBB-21D3300BBEF0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BD0FB456-7728-027E-4CC2-D495A3D6CFCD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C47252F9-6515-FA1A-6658-471EA1D70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3A669FAE-DBB0-F27E-652C-001B0A458D5A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CCD87045-FE23-FB79-7434-526585C15F9F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60343EDE-6D3C-17DE-A2EC-6733E0F33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376D872A-3AFC-8435-4B78-DFFF3F5D5F54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2030CE85-DFCA-FC23-A1BC-A766215032A2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39E663D0-0E86-852A-C9C7-3B97F5657E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4065257B-6929-9819-8F1C-274DED000CC8}"/>
              </a:ext>
            </a:extLst>
          </p:cNvPr>
          <p:cNvGrpSpPr/>
          <p:nvPr/>
        </p:nvGrpSpPr>
        <p:grpSpPr>
          <a:xfrm>
            <a:off x="614428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BB6FD08D-AB0F-7C2C-4756-5B280A14DBC3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61F24E04-7FFD-B1A7-F5A6-1C01AFA07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23B98D7A-3AE9-EB59-0330-163D707AAC4F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E09F5A38-2E15-15E8-F75E-2AC1F801A33E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1798F353-E388-79D5-A771-EB40EF482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CF80CFEA-4EB9-9E91-B507-D49251CB428F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0E642F2E-8BB9-4510-AF89-3720F904754C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9B1BF552-85E4-6135-290A-97DC19CC3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536B1BB6-3335-6A94-F50C-4FA0B46B276A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00FBCB40-7EE6-9134-362F-017F6DB0C285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0BB34941-1113-1365-3856-760F6B5BA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91120FDC-DBBC-A1C5-E213-88DC93884719}"/>
              </a:ext>
            </a:extLst>
          </p:cNvPr>
          <p:cNvGrpSpPr/>
          <p:nvPr/>
        </p:nvGrpSpPr>
        <p:grpSpPr>
          <a:xfrm>
            <a:off x="-7133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9E4B9157-959B-220E-0E70-D7A9E0B52374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5EF64A6C-29AA-98B1-4E04-313EE8983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8A2478E1-9B51-378C-C436-BE397ADAE77B}"/>
              </a:ext>
            </a:extLst>
          </p:cNvPr>
          <p:cNvSpPr/>
          <p:nvPr/>
        </p:nvSpPr>
        <p:spPr>
          <a:xfrm rot="10800000">
            <a:off x="2838" y="-516015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30" name="Immagine 29" descr="Immagine che contiene bianco, Utensile da cucina, bianco e nero, monocromatico&#10;&#10;Il contenuto generato dall'IA potrebbe non essere corretto.">
            <a:hlinkClick r:id="rId11" action="ppaction://hlinksldjump"/>
            <a:extLst>
              <a:ext uri="{FF2B5EF4-FFF2-40B4-BE49-F238E27FC236}">
                <a16:creationId xmlns:a16="http://schemas.microsoft.com/office/drawing/2014/main" id="{981FEAEF-B14D-7626-332D-06D056C071FA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34" name="Immagine 33" descr="Immagine che contiene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5D48ABF0-78F2-A8CD-076B-1063097767E2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4" name="Immagine 3" descr="Immagine che contiene ingranaggio, oggetti in metallo, cerchio, ruota&#10;&#10;Il contenuto generato dall'IA potrebbe non essere corretto.">
            <a:hlinkClick r:id="rId14" action="ppaction://hlinksldjump"/>
            <a:extLst>
              <a:ext uri="{FF2B5EF4-FFF2-40B4-BE49-F238E27FC236}">
                <a16:creationId xmlns:a16="http://schemas.microsoft.com/office/drawing/2014/main" id="{D67BB739-6643-6B82-25A7-5339951D865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7" name="Immagine 6" descr="Immagine che contiene cerchio, bianco e nero&#10;&#10;Il contenuto generato dall'IA potrebbe non essere corretto.">
            <a:hlinkClick r:id="rId16" action="ppaction://hlinksldjump"/>
            <a:extLst>
              <a:ext uri="{FF2B5EF4-FFF2-40B4-BE49-F238E27FC236}">
                <a16:creationId xmlns:a16="http://schemas.microsoft.com/office/drawing/2014/main" id="{9926C35E-F58C-BED1-A64E-2290707752A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8" name="Immagine 7" descr="Immagine che contiene schermata, design&#10;&#10;Il contenuto generato dall'IA potrebbe non essere corretto.">
            <a:hlinkClick r:id="rId18" action="ppaction://hlinksldjump"/>
            <a:extLst>
              <a:ext uri="{FF2B5EF4-FFF2-40B4-BE49-F238E27FC236}">
                <a16:creationId xmlns:a16="http://schemas.microsoft.com/office/drawing/2014/main" id="{BF7304CB-7ED0-99CA-B8B5-2E7DABF7DE5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9" name="Immagine 8" descr="Immagine che contiene schermata, Rettangolo, design&#10;&#10;Il contenuto generato dall'IA potrebbe non essere corretto.">
            <a:hlinkClick r:id="rId20" action="ppaction://hlinksldjump"/>
            <a:extLst>
              <a:ext uri="{FF2B5EF4-FFF2-40B4-BE49-F238E27FC236}">
                <a16:creationId xmlns:a16="http://schemas.microsoft.com/office/drawing/2014/main" id="{712B8CC3-1531-102D-0B8A-AFB3AC0F552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10" name="Immagine 9" descr="Immagine che contiene design, linea, bianco, Rettangolo&#10;&#10;Il contenuto generato dall'IA potrebbe non essere corretto.">
            <a:hlinkClick r:id="rId22" action="ppaction://hlinksldjump"/>
            <a:extLst>
              <a:ext uri="{FF2B5EF4-FFF2-40B4-BE49-F238E27FC236}">
                <a16:creationId xmlns:a16="http://schemas.microsoft.com/office/drawing/2014/main" id="{DF5CFDBE-5F0D-2E25-912B-E12B277D937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11" name="Immagine 10" descr="Immagine che contiene triangolo&#10;&#10;Il contenuto generato dall'IA potrebbe non essere corretto.">
            <a:hlinkClick r:id="rId24" action="ppaction://hlinksldjump"/>
            <a:extLst>
              <a:ext uri="{FF2B5EF4-FFF2-40B4-BE49-F238E27FC236}">
                <a16:creationId xmlns:a16="http://schemas.microsoft.com/office/drawing/2014/main" id="{0DBFAA77-E2F2-1603-E2E3-0185FE7E904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3" name="Immagine 12" descr="Immagine che contiene schermata, design&#10;&#10;Il contenuto generato dall'IA potrebbe non essere corretto.">
            <a:hlinkClick r:id="rId26" action="ppaction://hlinksldjump"/>
            <a:extLst>
              <a:ext uri="{FF2B5EF4-FFF2-40B4-BE49-F238E27FC236}">
                <a16:creationId xmlns:a16="http://schemas.microsoft.com/office/drawing/2014/main" id="{16613767-4FA6-AEC3-0670-9255DBBFE0A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17" name="Picture 2">
            <a:extLst>
              <a:ext uri="{FF2B5EF4-FFF2-40B4-BE49-F238E27FC236}">
                <a16:creationId xmlns:a16="http://schemas.microsoft.com/office/drawing/2014/main" id="{95249262-0FB3-7E5B-0A50-4061511FBCF5}"/>
              </a:ext>
            </a:extLst>
          </p:cNvPr>
          <p:cNvPicPr>
            <a:picLocks noChangeAspect="1"/>
          </p:cNvPicPr>
          <p:nvPr/>
        </p:nvPicPr>
        <p:blipFill>
          <a:blip r:embed="rId28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21" y="958237"/>
            <a:ext cx="7770881" cy="6105692"/>
          </a:xfrm>
          <a:prstGeom prst="rect">
            <a:avLst/>
          </a:prstGeom>
          <a:noFill/>
          <a:effectLst>
            <a:glow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55FF511-3A44-2CE7-28C1-B90F23B673AD}"/>
              </a:ext>
            </a:extLst>
          </p:cNvPr>
          <p:cNvSpPr txBox="1"/>
          <p:nvPr/>
        </p:nvSpPr>
        <p:spPr>
          <a:xfrm>
            <a:off x="2419350" y="1905506"/>
            <a:ext cx="8172450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96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Model </a:t>
            </a:r>
            <a:r>
              <a:rPr lang="it-IT" sz="9600" b="1" dirty="0" err="1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Selection</a:t>
            </a:r>
            <a:endParaRPr lang="it-IT" sz="9600" b="1" dirty="0">
              <a:solidFill>
                <a:schemeClr val="bg1"/>
              </a:solidFill>
              <a:effectLst>
                <a:glow rad="101600">
                  <a:srgbClr val="FF0000">
                    <a:alpha val="40000"/>
                  </a:srgb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C47FEEFD-6815-E93B-D7BC-3DF0E9E8AA9D}"/>
              </a:ext>
            </a:extLst>
          </p:cNvPr>
          <p:cNvSpPr txBox="1"/>
          <p:nvPr/>
        </p:nvSpPr>
        <p:spPr>
          <a:xfrm>
            <a:off x="-6171147" y="2270239"/>
            <a:ext cx="590887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10</a:t>
            </a:r>
            <a:r>
              <a:rPr lang="it-IT" sz="32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-Fold Cross </a:t>
            </a:r>
            <a:r>
              <a:rPr lang="it-IT" sz="3200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Validation</a:t>
            </a:r>
            <a:r>
              <a:rPr lang="it-IT" sz="32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pPr algn="ctr"/>
            <a:r>
              <a:rPr lang="it-IT" sz="36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</a:p>
          <a:p>
            <a:pPr algn="ctr"/>
            <a:endParaRPr lang="it-IT" sz="32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determinare il set di variabili più performante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B942CA7A-E62C-7FC8-0946-B3585474933B}"/>
              </a:ext>
            </a:extLst>
          </p:cNvPr>
          <p:cNvCxnSpPr>
            <a:cxnSpLocks/>
          </p:cNvCxnSpPr>
          <p:nvPr/>
        </p:nvCxnSpPr>
        <p:spPr>
          <a:xfrm>
            <a:off x="-3216712" y="3035379"/>
            <a:ext cx="0" cy="843310"/>
          </a:xfrm>
          <a:prstGeom prst="straightConnector1">
            <a:avLst/>
          </a:prstGeom>
          <a:ln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ttangolo con angoli in alto arrotondati 21">
            <a:extLst>
              <a:ext uri="{FF2B5EF4-FFF2-40B4-BE49-F238E27FC236}">
                <a16:creationId xmlns:a16="http://schemas.microsoft.com/office/drawing/2014/main" id="{8E27ED88-E7D5-3D50-81C8-6B6C7A3211F6}"/>
              </a:ext>
            </a:extLst>
          </p:cNvPr>
          <p:cNvSpPr/>
          <p:nvPr/>
        </p:nvSpPr>
        <p:spPr>
          <a:xfrm>
            <a:off x="4559300" y="7184220"/>
            <a:ext cx="8256409" cy="1365121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0B9F4FA-AA7A-571A-FF39-0C52F5F81F95}"/>
              </a:ext>
            </a:extLst>
          </p:cNvPr>
          <p:cNvSpPr txBox="1"/>
          <p:nvPr/>
        </p:nvSpPr>
        <p:spPr>
          <a:xfrm>
            <a:off x="4559300" y="7238304"/>
            <a:ext cx="762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🔒 Confronto effettuato sul Training Set, il Test Set è ancora ISOLATO</a:t>
            </a:r>
            <a:endParaRPr lang="it-IT" dirty="0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96D4EB53-4BB0-2065-EA3D-48627A2ED54D}"/>
              </a:ext>
            </a:extLst>
          </p:cNvPr>
          <p:cNvSpPr/>
          <p:nvPr/>
        </p:nvSpPr>
        <p:spPr>
          <a:xfrm>
            <a:off x="16506550" y="3429000"/>
            <a:ext cx="1416796" cy="2507347"/>
          </a:xfrm>
          <a:prstGeom prst="rect">
            <a:avLst/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1016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120D184E-6707-30D6-A620-0007ACAB387A}"/>
              </a:ext>
            </a:extLst>
          </p:cNvPr>
          <p:cNvSpPr/>
          <p:nvPr/>
        </p:nvSpPr>
        <p:spPr>
          <a:xfrm>
            <a:off x="15095759" y="1726738"/>
            <a:ext cx="1416796" cy="3974300"/>
          </a:xfrm>
          <a:prstGeom prst="rect">
            <a:avLst/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1016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8800" dirty="0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A119064F-7CF6-CBB0-0A11-4D03CA45F92E}"/>
              </a:ext>
            </a:extLst>
          </p:cNvPr>
          <p:cNvSpPr/>
          <p:nvPr/>
        </p:nvSpPr>
        <p:spPr>
          <a:xfrm>
            <a:off x="13684968" y="2552700"/>
            <a:ext cx="1416796" cy="3148338"/>
          </a:xfrm>
          <a:prstGeom prst="rect">
            <a:avLst/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1016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9" name="Rettangolo con angoli in alto arrotondati 28">
            <a:extLst>
              <a:ext uri="{FF2B5EF4-FFF2-40B4-BE49-F238E27FC236}">
                <a16:creationId xmlns:a16="http://schemas.microsoft.com/office/drawing/2014/main" id="{07CBA65C-DDF8-6680-37AC-81711E869C86}"/>
              </a:ext>
            </a:extLst>
          </p:cNvPr>
          <p:cNvSpPr/>
          <p:nvPr/>
        </p:nvSpPr>
        <p:spPr>
          <a:xfrm>
            <a:off x="13134975" y="5516944"/>
            <a:ext cx="5195208" cy="484034"/>
          </a:xfrm>
          <a:prstGeom prst="round2SameRect">
            <a:avLst/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1016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Podio basato sull’accuratezza stimata tramite  CV</a:t>
            </a:r>
            <a:endParaRPr lang="it-IT" sz="1600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3E14E646-1172-184F-7AD1-EB66FEDDD506}"/>
              </a:ext>
            </a:extLst>
          </p:cNvPr>
          <p:cNvSpPr txBox="1"/>
          <p:nvPr/>
        </p:nvSpPr>
        <p:spPr>
          <a:xfrm>
            <a:off x="14702733" y="1199368"/>
            <a:ext cx="220284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600" b="1" dirty="0">
                <a:solidFill>
                  <a:schemeClr val="bg1"/>
                </a:solidFill>
                <a:effectLst>
                  <a:glow rad="127000">
                    <a:srgbClr val="00B0F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Set </a:t>
            </a:r>
            <a:r>
              <a:rPr lang="it-IT" sz="2600" b="1" dirty="0" err="1">
                <a:solidFill>
                  <a:schemeClr val="bg1"/>
                </a:solidFill>
                <a:effectLst>
                  <a:glow rad="127000">
                    <a:srgbClr val="00B0F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Stepwise</a:t>
            </a:r>
            <a:endParaRPr lang="it-IT" sz="2600" dirty="0">
              <a:solidFill>
                <a:schemeClr val="bg1"/>
              </a:solidFill>
              <a:effectLst>
                <a:glow rad="127000">
                  <a:srgbClr val="00B0F0">
                    <a:alpha val="40000"/>
                  </a:srgbClr>
                </a:glow>
              </a:effectLst>
            </a:endParaRP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F5D2AF2-9119-EDC6-C77B-CEEF8C305F8A}"/>
              </a:ext>
            </a:extLst>
          </p:cNvPr>
          <p:cNvSpPr txBox="1"/>
          <p:nvPr/>
        </p:nvSpPr>
        <p:spPr>
          <a:xfrm>
            <a:off x="13725203" y="2153888"/>
            <a:ext cx="13276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effectLst>
                  <a:glow rad="127000">
                    <a:schemeClr val="accent2">
                      <a:lumMod val="75000"/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Set Ridge</a:t>
            </a:r>
            <a:endParaRPr lang="it-IT" sz="2000" dirty="0">
              <a:solidFill>
                <a:schemeClr val="bg1"/>
              </a:solidFill>
              <a:effectLst>
                <a:glow rad="127000">
                  <a:schemeClr val="accent2">
                    <a:lumMod val="75000"/>
                    <a:alpha val="40000"/>
                  </a:schemeClr>
                </a:glow>
              </a:effectLst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724CC9A6-909A-985A-6CA1-7D12B60F0C45}"/>
              </a:ext>
            </a:extLst>
          </p:cNvPr>
          <p:cNvSpPr txBox="1"/>
          <p:nvPr/>
        </p:nvSpPr>
        <p:spPr>
          <a:xfrm>
            <a:off x="16526959" y="3029882"/>
            <a:ext cx="1438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effectLst>
                  <a:glow rad="127000">
                    <a:srgbClr val="00B05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Set LASSO</a:t>
            </a:r>
            <a:endParaRPr lang="it-IT" sz="2000" dirty="0">
              <a:solidFill>
                <a:schemeClr val="bg1"/>
              </a:solidFill>
              <a:effectLst>
                <a:glow rad="127000">
                  <a:srgbClr val="00B050">
                    <a:alpha val="40000"/>
                  </a:srgbClr>
                </a:glow>
              </a:effectLst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1A41D4F7-153A-98CE-DF58-A25BFAF263A3}"/>
              </a:ext>
            </a:extLst>
          </p:cNvPr>
          <p:cNvSpPr txBox="1"/>
          <p:nvPr/>
        </p:nvSpPr>
        <p:spPr>
          <a:xfrm>
            <a:off x="15009861" y="1747908"/>
            <a:ext cx="15937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0" dirty="0"/>
              <a:t>🥇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C83E45FB-6780-224C-A19C-FB4553E4C7B0}"/>
              </a:ext>
            </a:extLst>
          </p:cNvPr>
          <p:cNvSpPr txBox="1"/>
          <p:nvPr/>
        </p:nvSpPr>
        <p:spPr>
          <a:xfrm>
            <a:off x="13606541" y="2584694"/>
            <a:ext cx="15937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0" dirty="0"/>
              <a:t>🥈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D582E978-1890-1A93-8360-0763BCB07EED}"/>
              </a:ext>
            </a:extLst>
          </p:cNvPr>
          <p:cNvSpPr txBox="1"/>
          <p:nvPr/>
        </p:nvSpPr>
        <p:spPr>
          <a:xfrm>
            <a:off x="16449213" y="3457034"/>
            <a:ext cx="15937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0" dirty="0"/>
              <a:t>🥉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21850B9C-E629-E31D-6592-552C328F4A2D}"/>
              </a:ext>
            </a:extLst>
          </p:cNvPr>
          <p:cNvSpPr txBox="1"/>
          <p:nvPr/>
        </p:nvSpPr>
        <p:spPr>
          <a:xfrm>
            <a:off x="16548998" y="4965889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solidFill>
                  <a:schemeClr val="bg1"/>
                </a:solidFill>
                <a:effectLst>
                  <a:glow rad="127000">
                    <a:srgbClr val="00B05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71.79 %</a:t>
            </a:r>
            <a:endParaRPr lang="it-IT" sz="3200" dirty="0">
              <a:solidFill>
                <a:schemeClr val="bg1"/>
              </a:solidFill>
              <a:effectLst>
                <a:glow rad="127000">
                  <a:srgbClr val="00B050">
                    <a:alpha val="40000"/>
                  </a:srgbClr>
                </a:glow>
              </a:effectLst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17A0F2E0-0BCF-BB73-41D9-35C13C6B9496}"/>
              </a:ext>
            </a:extLst>
          </p:cNvPr>
          <p:cNvSpPr txBox="1"/>
          <p:nvPr/>
        </p:nvSpPr>
        <p:spPr>
          <a:xfrm>
            <a:off x="13717528" y="4959390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solidFill>
                  <a:schemeClr val="bg1"/>
                </a:solidFill>
                <a:effectLst>
                  <a:glow rad="127000">
                    <a:schemeClr val="accent2">
                      <a:lumMod val="75000"/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73.33 %</a:t>
            </a:r>
            <a:endParaRPr lang="it-IT" sz="3200" dirty="0">
              <a:solidFill>
                <a:schemeClr val="bg1"/>
              </a:solidFill>
              <a:effectLst>
                <a:glow rad="127000">
                  <a:schemeClr val="accent2">
                    <a:lumMod val="75000"/>
                    <a:alpha val="40000"/>
                  </a:schemeClr>
                </a:glow>
              </a:effectLst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22D0AF4F-2A85-6836-0B6F-41A0CF52C46F}"/>
              </a:ext>
            </a:extLst>
          </p:cNvPr>
          <p:cNvSpPr txBox="1"/>
          <p:nvPr/>
        </p:nvSpPr>
        <p:spPr>
          <a:xfrm>
            <a:off x="15132788" y="4961830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solidFill>
                  <a:schemeClr val="bg1"/>
                </a:solidFill>
                <a:effectLst>
                  <a:glow rad="127000">
                    <a:srgbClr val="156082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74.36 %</a:t>
            </a:r>
            <a:endParaRPr lang="it-IT" sz="3200" dirty="0">
              <a:solidFill>
                <a:schemeClr val="bg1"/>
              </a:solidFill>
              <a:effectLst>
                <a:glow rad="127000">
                  <a:srgbClr val="156082">
                    <a:alpha val="40000"/>
                  </a:srgb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887502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3D9A12-2217-1D3E-C0B4-FC68C2E9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tangolo 16">
            <a:extLst>
              <a:ext uri="{FF2B5EF4-FFF2-40B4-BE49-F238E27FC236}">
                <a16:creationId xmlns:a16="http://schemas.microsoft.com/office/drawing/2014/main" id="{F9109CE8-5B03-A50E-090F-34904BE442E7}"/>
              </a:ext>
            </a:extLst>
          </p:cNvPr>
          <p:cNvSpPr/>
          <p:nvPr/>
        </p:nvSpPr>
        <p:spPr>
          <a:xfrm>
            <a:off x="10048600" y="3429000"/>
            <a:ext cx="1416796" cy="2507347"/>
          </a:xfrm>
          <a:prstGeom prst="rect">
            <a:avLst/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1016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D463B9C-4384-785E-1175-84DFBEADEE5E}"/>
              </a:ext>
            </a:extLst>
          </p:cNvPr>
          <p:cNvSpPr/>
          <p:nvPr/>
        </p:nvSpPr>
        <p:spPr>
          <a:xfrm>
            <a:off x="8637809" y="1726738"/>
            <a:ext cx="1416796" cy="3974300"/>
          </a:xfrm>
          <a:prstGeom prst="rect">
            <a:avLst/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1016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8800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586659D-8864-7F76-23DE-8073D4876472}"/>
              </a:ext>
            </a:extLst>
          </p:cNvPr>
          <p:cNvSpPr/>
          <p:nvPr/>
        </p:nvSpPr>
        <p:spPr>
          <a:xfrm>
            <a:off x="7227018" y="2552700"/>
            <a:ext cx="1416796" cy="3148338"/>
          </a:xfrm>
          <a:prstGeom prst="rect">
            <a:avLst/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1016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A840C1B4-D699-05ED-6944-3B3ACD72876E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71C3B023-CD9B-5F1A-965D-C5C416DE0CCB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F2C61A3A-1F05-9CB7-8E26-CB92EFEC2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393463D5-C551-3EC0-DBF1-371283FFCFBB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2DCFD1A3-F4A2-0794-49FA-10C2C3CD9E12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B46D117E-6258-7509-7B5D-F88C1208B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374711FD-BC5A-52A8-0B38-C622C6E1F1DA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3111592D-425C-FABE-4EE5-FCD13E69C4A9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9A04B3EB-5175-95E8-12C8-349DFBF63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9F4ECFB6-219C-4F4C-A22D-C81793CA3831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FEADD1E4-2757-A884-C703-B8FA0911C013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35993704-DF32-3A0A-4401-3258FEF93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7398C048-302A-01DC-8D69-C4CF1F65F830}"/>
              </a:ext>
            </a:extLst>
          </p:cNvPr>
          <p:cNvGrpSpPr/>
          <p:nvPr/>
        </p:nvGrpSpPr>
        <p:grpSpPr>
          <a:xfrm>
            <a:off x="614428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6FB146CB-B227-B2CD-8D15-9F24A4E846BE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B3D56306-6E88-132E-511B-F0664128A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47D8D781-F077-0E54-D3CF-DEED60931F03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4FBFD7C4-C294-2DE8-78E3-BCD326F5AE3F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F4A2A05B-06DA-3BAB-F388-81F5DD553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9674283F-3E5F-A1FC-A391-80973B30370F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E7F1F734-E5D7-A16B-0A09-4E844981E5E6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9A696F7E-1037-7008-AA5D-9F969FF26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98BE1D4D-5E25-2D74-0764-7115A040623B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788937BB-C7EA-DDA0-C94B-7099DC3C5394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F763CCBF-0A53-DF60-C88A-061BDA533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2FF1B5C6-B70C-2F66-E259-B14CFFBCD2FA}"/>
              </a:ext>
            </a:extLst>
          </p:cNvPr>
          <p:cNvGrpSpPr/>
          <p:nvPr/>
        </p:nvGrpSpPr>
        <p:grpSpPr>
          <a:xfrm>
            <a:off x="-7133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7EF795D9-61AE-B3B8-E1BB-2B226F244895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135ABC18-0432-DD0D-E878-E729C8314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4CE6F605-B970-9C71-CB26-1C0BF7BBA7DE}"/>
              </a:ext>
            </a:extLst>
          </p:cNvPr>
          <p:cNvSpPr/>
          <p:nvPr/>
        </p:nvSpPr>
        <p:spPr>
          <a:xfrm rot="10800000">
            <a:off x="2838" y="-516015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34" name="Immagine 33" descr="Immagine che contiene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A1BD3EA8-8303-15CA-CF20-FF87AF98A072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3B9185F-93BE-FA1B-73B1-EBB38C965C2A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Confronto con Cross </a:t>
            </a:r>
            <a:r>
              <a:rPr lang="it-IT" sz="5000" b="1" dirty="0" err="1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Validation</a:t>
            </a:r>
            <a:endParaRPr lang="it-IT" sz="5000" b="1" dirty="0">
              <a:solidFill>
                <a:schemeClr val="bg1"/>
              </a:solidFill>
              <a:effectLst>
                <a:glow rad="101600">
                  <a:srgbClr val="FF0000">
                    <a:alpha val="40000"/>
                  </a:srgb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8" name="Rettangolo con angoli in alto arrotondati 7">
            <a:extLst>
              <a:ext uri="{FF2B5EF4-FFF2-40B4-BE49-F238E27FC236}">
                <a16:creationId xmlns:a16="http://schemas.microsoft.com/office/drawing/2014/main" id="{BD7297BC-F84C-4A8C-5FB9-D3A19C02C803}"/>
              </a:ext>
            </a:extLst>
          </p:cNvPr>
          <p:cNvSpPr/>
          <p:nvPr/>
        </p:nvSpPr>
        <p:spPr>
          <a:xfrm>
            <a:off x="4559300" y="6422220"/>
            <a:ext cx="8256409" cy="1365121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D2A0CDE-D2CE-5A66-2711-8D6C63717339}"/>
              </a:ext>
            </a:extLst>
          </p:cNvPr>
          <p:cNvSpPr txBox="1"/>
          <p:nvPr/>
        </p:nvSpPr>
        <p:spPr>
          <a:xfrm>
            <a:off x="10250392" y="67913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3C26CB5-143B-22DF-64AF-0BA2B0DCF914}"/>
              </a:ext>
            </a:extLst>
          </p:cNvPr>
          <p:cNvSpPr txBox="1"/>
          <p:nvPr/>
        </p:nvSpPr>
        <p:spPr>
          <a:xfrm>
            <a:off x="4559300" y="6476304"/>
            <a:ext cx="762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🔒 Confronto effettuato sul Training Set, il Test Set è ancora ISOLATO</a:t>
            </a:r>
            <a:endParaRPr lang="it-IT" dirty="0"/>
          </a:p>
        </p:txBody>
      </p:sp>
      <p:sp>
        <p:nvSpPr>
          <p:cNvPr id="11" name="Rettangolo con angoli in alto arrotondati 10">
            <a:extLst>
              <a:ext uri="{FF2B5EF4-FFF2-40B4-BE49-F238E27FC236}">
                <a16:creationId xmlns:a16="http://schemas.microsoft.com/office/drawing/2014/main" id="{1B892669-809E-4D6B-E8C3-60FE783BEFBA}"/>
              </a:ext>
            </a:extLst>
          </p:cNvPr>
          <p:cNvSpPr/>
          <p:nvPr/>
        </p:nvSpPr>
        <p:spPr>
          <a:xfrm>
            <a:off x="6677025" y="5516944"/>
            <a:ext cx="5195208" cy="484034"/>
          </a:xfrm>
          <a:prstGeom prst="round2SameRect">
            <a:avLst/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1016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Podio basato sull’accuratezza stimata tramite  CV</a:t>
            </a:r>
            <a:endParaRPr lang="it-IT" sz="1600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7027B817-BF19-93C1-F01F-17EF3791716F}"/>
              </a:ext>
            </a:extLst>
          </p:cNvPr>
          <p:cNvSpPr txBox="1"/>
          <p:nvPr/>
        </p:nvSpPr>
        <p:spPr>
          <a:xfrm>
            <a:off x="8244783" y="1199368"/>
            <a:ext cx="220284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600" b="1" dirty="0">
                <a:solidFill>
                  <a:schemeClr val="bg1"/>
                </a:solidFill>
                <a:effectLst>
                  <a:glow rad="127000">
                    <a:srgbClr val="00B0F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Set </a:t>
            </a:r>
            <a:r>
              <a:rPr lang="it-IT" sz="2600" b="1" dirty="0" err="1">
                <a:solidFill>
                  <a:schemeClr val="bg1"/>
                </a:solidFill>
                <a:effectLst>
                  <a:glow rad="127000">
                    <a:srgbClr val="00B0F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Stepwise</a:t>
            </a:r>
            <a:endParaRPr lang="it-IT" sz="2600" dirty="0">
              <a:solidFill>
                <a:schemeClr val="bg1"/>
              </a:solidFill>
              <a:effectLst>
                <a:glow rad="127000">
                  <a:srgbClr val="00B0F0">
                    <a:alpha val="40000"/>
                  </a:srgbClr>
                </a:glow>
              </a:effectLst>
            </a:endParaRP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03E81BEC-7B84-59D4-15A6-E114B21739E0}"/>
              </a:ext>
            </a:extLst>
          </p:cNvPr>
          <p:cNvSpPr txBox="1"/>
          <p:nvPr/>
        </p:nvSpPr>
        <p:spPr>
          <a:xfrm>
            <a:off x="7267253" y="2153888"/>
            <a:ext cx="13276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effectLst>
                  <a:glow rad="127000">
                    <a:schemeClr val="accent2">
                      <a:lumMod val="75000"/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Set Ridge</a:t>
            </a:r>
            <a:endParaRPr lang="it-IT" sz="2000" dirty="0">
              <a:solidFill>
                <a:schemeClr val="bg1"/>
              </a:solidFill>
              <a:effectLst>
                <a:glow rad="127000">
                  <a:schemeClr val="accent2">
                    <a:lumMod val="75000"/>
                    <a:alpha val="40000"/>
                  </a:schemeClr>
                </a:glow>
              </a:effectLst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B043E1A5-4A5A-2F5D-5100-DD9A1AB588C5}"/>
              </a:ext>
            </a:extLst>
          </p:cNvPr>
          <p:cNvSpPr txBox="1"/>
          <p:nvPr/>
        </p:nvSpPr>
        <p:spPr>
          <a:xfrm>
            <a:off x="10069009" y="3029882"/>
            <a:ext cx="14382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dirty="0">
                <a:solidFill>
                  <a:schemeClr val="bg1"/>
                </a:solidFill>
                <a:effectLst>
                  <a:glow rad="127000">
                    <a:srgbClr val="00B05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Set LASSO</a:t>
            </a:r>
            <a:endParaRPr lang="it-IT" sz="2000" dirty="0">
              <a:solidFill>
                <a:schemeClr val="bg1"/>
              </a:solidFill>
              <a:effectLst>
                <a:glow rad="127000">
                  <a:srgbClr val="00B050">
                    <a:alpha val="40000"/>
                  </a:srgbClr>
                </a:glow>
              </a:effectLst>
            </a:endParaRP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CFDE005-D563-BF18-6C3C-4E13417BBBB4}"/>
              </a:ext>
            </a:extLst>
          </p:cNvPr>
          <p:cNvSpPr txBox="1"/>
          <p:nvPr/>
        </p:nvSpPr>
        <p:spPr>
          <a:xfrm>
            <a:off x="8551911" y="1747908"/>
            <a:ext cx="15937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0" dirty="0"/>
              <a:t>🥇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94980DB-A5DF-42FF-6342-8B1F28B670F4}"/>
              </a:ext>
            </a:extLst>
          </p:cNvPr>
          <p:cNvSpPr txBox="1"/>
          <p:nvPr/>
        </p:nvSpPr>
        <p:spPr>
          <a:xfrm>
            <a:off x="7148591" y="2584694"/>
            <a:ext cx="15937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0" dirty="0"/>
              <a:t>🥈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20F2B0C-EC38-C543-77BB-9D81612416D5}"/>
              </a:ext>
            </a:extLst>
          </p:cNvPr>
          <p:cNvSpPr txBox="1"/>
          <p:nvPr/>
        </p:nvSpPr>
        <p:spPr>
          <a:xfrm>
            <a:off x="9991263" y="3457034"/>
            <a:ext cx="15937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8000" dirty="0"/>
              <a:t>🥉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664787F0-E12A-F180-210D-28364DD83700}"/>
              </a:ext>
            </a:extLst>
          </p:cNvPr>
          <p:cNvSpPr txBox="1"/>
          <p:nvPr/>
        </p:nvSpPr>
        <p:spPr>
          <a:xfrm>
            <a:off x="10091048" y="4965889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solidFill>
                  <a:schemeClr val="bg1"/>
                </a:solidFill>
                <a:effectLst>
                  <a:glow rad="127000">
                    <a:srgbClr val="00B05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71.79 %</a:t>
            </a:r>
            <a:endParaRPr lang="it-IT" sz="3200" dirty="0">
              <a:solidFill>
                <a:schemeClr val="bg1"/>
              </a:solidFill>
              <a:effectLst>
                <a:glow rad="127000">
                  <a:srgbClr val="00B050">
                    <a:alpha val="40000"/>
                  </a:srgbClr>
                </a:glow>
              </a:effectLst>
            </a:endParaRP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8BCDF744-3D33-064C-8E78-F51F25B8584C}"/>
              </a:ext>
            </a:extLst>
          </p:cNvPr>
          <p:cNvSpPr txBox="1"/>
          <p:nvPr/>
        </p:nvSpPr>
        <p:spPr>
          <a:xfrm>
            <a:off x="7259578" y="4959390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solidFill>
                  <a:schemeClr val="bg1"/>
                </a:solidFill>
                <a:effectLst>
                  <a:glow rad="127000">
                    <a:schemeClr val="accent2">
                      <a:lumMod val="75000"/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73.33 %</a:t>
            </a:r>
            <a:endParaRPr lang="it-IT" sz="3200" dirty="0">
              <a:solidFill>
                <a:schemeClr val="bg1"/>
              </a:solidFill>
              <a:effectLst>
                <a:glow rad="127000">
                  <a:schemeClr val="accent2">
                    <a:lumMod val="75000"/>
                    <a:alpha val="40000"/>
                  </a:schemeClr>
                </a:glow>
              </a:effectLst>
            </a:endParaRP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AD10A266-E087-0CAF-9831-FFE63DD6B9BD}"/>
              </a:ext>
            </a:extLst>
          </p:cNvPr>
          <p:cNvSpPr txBox="1"/>
          <p:nvPr/>
        </p:nvSpPr>
        <p:spPr>
          <a:xfrm>
            <a:off x="8674838" y="4961830"/>
            <a:ext cx="13308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solidFill>
                  <a:schemeClr val="bg1"/>
                </a:solidFill>
                <a:effectLst>
                  <a:glow rad="127000">
                    <a:srgbClr val="156082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74.36 %</a:t>
            </a:r>
            <a:endParaRPr lang="it-IT" sz="3200" dirty="0">
              <a:solidFill>
                <a:schemeClr val="bg1"/>
              </a:solidFill>
              <a:effectLst>
                <a:glow rad="127000">
                  <a:srgbClr val="156082">
                    <a:alpha val="40000"/>
                  </a:srgbClr>
                </a:glow>
              </a:effectLst>
            </a:endParaRP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A2BBF6B6-E2EC-D62E-DBC4-3BD94337DFD1}"/>
              </a:ext>
            </a:extLst>
          </p:cNvPr>
          <p:cNvSpPr txBox="1"/>
          <p:nvPr/>
        </p:nvSpPr>
        <p:spPr>
          <a:xfrm>
            <a:off x="867828" y="2270239"/>
            <a:ext cx="590887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4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10</a:t>
            </a:r>
            <a:r>
              <a:rPr lang="it-IT" sz="32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-Fold Cross </a:t>
            </a:r>
            <a:r>
              <a:rPr lang="it-IT" sz="3200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Validation</a:t>
            </a:r>
            <a:r>
              <a:rPr lang="it-IT" sz="32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pPr algn="ctr"/>
            <a:r>
              <a:rPr lang="it-IT" sz="3600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   </a:t>
            </a:r>
          </a:p>
          <a:p>
            <a:pPr algn="ctr"/>
            <a:endParaRPr lang="it-IT" sz="3200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it-IT" sz="2400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determinare il set di variabili più performante</a:t>
            </a:r>
          </a:p>
        </p:txBody>
      </p: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99C90A1E-AC5F-7AAA-3DA9-F2F5E7FCA124}"/>
              </a:ext>
            </a:extLst>
          </p:cNvPr>
          <p:cNvCxnSpPr>
            <a:cxnSpLocks/>
          </p:cNvCxnSpPr>
          <p:nvPr/>
        </p:nvCxnSpPr>
        <p:spPr>
          <a:xfrm>
            <a:off x="3822263" y="3035379"/>
            <a:ext cx="0" cy="843310"/>
          </a:xfrm>
          <a:prstGeom prst="straightConnector1">
            <a:avLst/>
          </a:prstGeom>
          <a:ln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magine 1" descr="Immagine che contiene bianco, Utensile da cucina, bianco e nero, monocromatico&#10;&#10;Il contenuto generato dall'IA potrebbe non essere corretto.">
            <a:hlinkClick r:id="rId12" action="ppaction://hlinksldjump"/>
            <a:extLst>
              <a:ext uri="{FF2B5EF4-FFF2-40B4-BE49-F238E27FC236}">
                <a16:creationId xmlns:a16="http://schemas.microsoft.com/office/drawing/2014/main" id="{9952A00D-A27E-E1B7-FBCA-E383A188E1C7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4" name="Immagine 3" descr="Immagine che contiene ingranaggio, oggetti in metallo, cerchio, ruota&#10;&#10;Il contenuto generato dall'IA potrebbe non essere corretto.">
            <a:hlinkClick r:id="rId14" action="ppaction://hlinksldjump"/>
            <a:extLst>
              <a:ext uri="{FF2B5EF4-FFF2-40B4-BE49-F238E27FC236}">
                <a16:creationId xmlns:a16="http://schemas.microsoft.com/office/drawing/2014/main" id="{B576734D-E308-A57F-7E15-DE15DF7097A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5" name="Immagine 4" descr="Immagine che contiene cerchio, bianco e nero&#10;&#10;Il contenuto generato dall'IA potrebbe non essere corretto.">
            <a:hlinkClick r:id="rId16" action="ppaction://hlinksldjump"/>
            <a:extLst>
              <a:ext uri="{FF2B5EF4-FFF2-40B4-BE49-F238E27FC236}">
                <a16:creationId xmlns:a16="http://schemas.microsoft.com/office/drawing/2014/main" id="{EA2C42D0-2E01-93D6-22A7-94D662AFC29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7" name="Immagine 6" descr="Immagine che contiene schermata, design&#10;&#10;Il contenuto generato dall'IA potrebbe non essere corretto.">
            <a:hlinkClick r:id="rId18" action="ppaction://hlinksldjump"/>
            <a:extLst>
              <a:ext uri="{FF2B5EF4-FFF2-40B4-BE49-F238E27FC236}">
                <a16:creationId xmlns:a16="http://schemas.microsoft.com/office/drawing/2014/main" id="{F9953A27-DBA3-FBD2-623A-616BE69471E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21" name="Immagine 20" descr="Immagine che contiene schermata, Rettangolo, design&#10;&#10;Il contenuto generato dall'IA potrebbe non essere corretto.">
            <a:hlinkClick r:id="rId20" action="ppaction://hlinksldjump"/>
            <a:extLst>
              <a:ext uri="{FF2B5EF4-FFF2-40B4-BE49-F238E27FC236}">
                <a16:creationId xmlns:a16="http://schemas.microsoft.com/office/drawing/2014/main" id="{422F17E2-0F94-F8DA-2E07-BB6B1ABF8DF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43" name="Immagine 42" descr="Immagine che contiene design, linea, bianco, Rettangolo&#10;&#10;Il contenuto generato dall'IA potrebbe non essere corretto.">
            <a:hlinkClick r:id="rId22" action="ppaction://hlinksldjump"/>
            <a:extLst>
              <a:ext uri="{FF2B5EF4-FFF2-40B4-BE49-F238E27FC236}">
                <a16:creationId xmlns:a16="http://schemas.microsoft.com/office/drawing/2014/main" id="{C59AE9D1-1896-4525-FC78-4A51F4A13A8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45" name="Immagine 44" descr="Immagine che contiene triangolo&#10;&#10;Il contenuto generato dall'IA potrebbe non essere corretto.">
            <a:hlinkClick r:id="rId24" action="ppaction://hlinksldjump"/>
            <a:extLst>
              <a:ext uri="{FF2B5EF4-FFF2-40B4-BE49-F238E27FC236}">
                <a16:creationId xmlns:a16="http://schemas.microsoft.com/office/drawing/2014/main" id="{144F6F00-A9F4-2C28-9BCD-57C6B3013CA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47" name="Immagine 46" descr="Immagine che contiene schermata, design&#10;&#10;Il contenuto generato dall'IA potrebbe non essere corretto.">
            <a:hlinkClick r:id="rId26" action="ppaction://hlinksldjump"/>
            <a:extLst>
              <a:ext uri="{FF2B5EF4-FFF2-40B4-BE49-F238E27FC236}">
                <a16:creationId xmlns:a16="http://schemas.microsoft.com/office/drawing/2014/main" id="{645C22B2-5DFE-8C28-A499-42D45E247D8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sp>
        <p:nvSpPr>
          <p:cNvPr id="14" name="Elaborazione alternativa 13">
            <a:extLst>
              <a:ext uri="{FF2B5EF4-FFF2-40B4-BE49-F238E27FC236}">
                <a16:creationId xmlns:a16="http://schemas.microsoft.com/office/drawing/2014/main" id="{1444EB6C-0295-56F9-95DC-025E604D2BC6}"/>
              </a:ext>
            </a:extLst>
          </p:cNvPr>
          <p:cNvSpPr/>
          <p:nvPr/>
        </p:nvSpPr>
        <p:spPr>
          <a:xfrm>
            <a:off x="2102390" y="-3490780"/>
            <a:ext cx="5537200" cy="822956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Test di interazione: </a:t>
            </a:r>
            <a:r>
              <a:rPr lang="it-IT" sz="2000" b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Rating_Max</a:t>
            </a:r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2000" dirty="0"/>
              <a:t>×</a:t>
            </a:r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2000" b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Rating_SD</a:t>
            </a:r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(Talento </a:t>
            </a:r>
            <a:r>
              <a:rPr lang="it-IT" sz="2000" dirty="0"/>
              <a:t>× </a:t>
            </a:r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Equilibrio)</a:t>
            </a:r>
          </a:p>
        </p:txBody>
      </p:sp>
      <p:sp>
        <p:nvSpPr>
          <p:cNvPr id="18" name="Elaborazione alternativa 17">
            <a:extLst>
              <a:ext uri="{FF2B5EF4-FFF2-40B4-BE49-F238E27FC236}">
                <a16:creationId xmlns:a16="http://schemas.microsoft.com/office/drawing/2014/main" id="{327820B7-EC4E-5AA4-333A-8432024CD75A}"/>
              </a:ext>
            </a:extLst>
          </p:cNvPr>
          <p:cNvSpPr/>
          <p:nvPr/>
        </p:nvSpPr>
        <p:spPr>
          <a:xfrm>
            <a:off x="6483890" y="-2310605"/>
            <a:ext cx="5537200" cy="822956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Likelihood</a:t>
            </a:r>
            <a:r>
              <a:rPr lang="it-IT" sz="20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Ratio Test,</a:t>
            </a:r>
          </a:p>
          <a:p>
            <a:pPr algn="ctr"/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applicato mediante analisi della devianza</a:t>
            </a:r>
          </a:p>
        </p:txBody>
      </p:sp>
      <p:sp>
        <p:nvSpPr>
          <p:cNvPr id="22" name="Elaborazione alternativa 21">
            <a:extLst>
              <a:ext uri="{FF2B5EF4-FFF2-40B4-BE49-F238E27FC236}">
                <a16:creationId xmlns:a16="http://schemas.microsoft.com/office/drawing/2014/main" id="{7D2C34EC-B650-62B6-2A60-9204B5CFF670}"/>
              </a:ext>
            </a:extLst>
          </p:cNvPr>
          <p:cNvSpPr/>
          <p:nvPr/>
        </p:nvSpPr>
        <p:spPr>
          <a:xfrm>
            <a:off x="2102390" y="-1178158"/>
            <a:ext cx="5537200" cy="822956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Interazione NON SIGNIFICATIVA,</a:t>
            </a:r>
          </a:p>
          <a:p>
            <a:pPr algn="ctr"/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p-</a:t>
            </a:r>
            <a:r>
              <a:rPr lang="it-IT" sz="2000" b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value</a:t>
            </a:r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pari a </a:t>
            </a:r>
            <a:r>
              <a:rPr lang="it-IT" sz="2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0.74 (</a:t>
            </a:r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maggiore di </a:t>
            </a:r>
            <a:r>
              <a:rPr lang="it-IT" sz="2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0.05)</a:t>
            </a:r>
          </a:p>
        </p:txBody>
      </p:sp>
      <p:cxnSp>
        <p:nvCxnSpPr>
          <p:cNvPr id="26" name="Connettore a gomito 25">
            <a:extLst>
              <a:ext uri="{FF2B5EF4-FFF2-40B4-BE49-F238E27FC236}">
                <a16:creationId xmlns:a16="http://schemas.microsoft.com/office/drawing/2014/main" id="{78C58A32-B5A8-E608-6EB0-19E448E078B6}"/>
              </a:ext>
            </a:extLst>
          </p:cNvPr>
          <p:cNvCxnSpPr>
            <a:cxnSpLocks/>
          </p:cNvCxnSpPr>
          <p:nvPr/>
        </p:nvCxnSpPr>
        <p:spPr>
          <a:xfrm>
            <a:off x="7812372" y="-3069875"/>
            <a:ext cx="1476408" cy="581847"/>
          </a:xfrm>
          <a:prstGeom prst="bentConnector3">
            <a:avLst>
              <a:gd name="adj1" fmla="val 100063"/>
            </a:avLst>
          </a:prstGeom>
          <a:ln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a gomito 29">
            <a:extLst>
              <a:ext uri="{FF2B5EF4-FFF2-40B4-BE49-F238E27FC236}">
                <a16:creationId xmlns:a16="http://schemas.microsoft.com/office/drawing/2014/main" id="{8FC95C27-37EC-02FF-EDED-C07E4230A74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64001" y="-1893070"/>
            <a:ext cx="1371628" cy="482346"/>
          </a:xfrm>
          <a:prstGeom prst="bentConnector3">
            <a:avLst>
              <a:gd name="adj1" fmla="val 99999"/>
            </a:avLst>
          </a:prstGeom>
          <a:ln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ttangolo con angoli in alto arrotondati 45">
            <a:extLst>
              <a:ext uri="{FF2B5EF4-FFF2-40B4-BE49-F238E27FC236}">
                <a16:creationId xmlns:a16="http://schemas.microsoft.com/office/drawing/2014/main" id="{232013C2-9138-42B5-B277-D6A7F8D8FF9E}"/>
              </a:ext>
            </a:extLst>
          </p:cNvPr>
          <p:cNvSpPr/>
          <p:nvPr/>
        </p:nvSpPr>
        <p:spPr>
          <a:xfrm>
            <a:off x="1415931" y="8134225"/>
            <a:ext cx="4136456" cy="1441308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8" name="Immagine 4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47C5A06C-4D14-A6F9-2AB1-CCE8CB26C30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999886" y="7219673"/>
            <a:ext cx="6192114" cy="1981477"/>
          </a:xfrm>
          <a:prstGeom prst="rect">
            <a:avLst/>
          </a:prstGeom>
          <a:effectLst>
            <a:glow rad="152400">
              <a:srgbClr val="FF4655">
                <a:alpha val="40000"/>
              </a:srgbClr>
            </a:glow>
          </a:effectLst>
        </p:spPr>
      </p:pic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63DDDC36-0119-E72A-D49F-3051AF4F42B3}"/>
              </a:ext>
            </a:extLst>
          </p:cNvPr>
          <p:cNvSpPr txBox="1"/>
          <p:nvPr/>
        </p:nvSpPr>
        <p:spPr>
          <a:xfrm>
            <a:off x="1262295" y="8210411"/>
            <a:ext cx="4412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Il modello resta quindi invariato, si riportano a lato le stime finali degli </a:t>
            </a:r>
            <a:r>
              <a:rPr lang="it-IT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odds</a:t>
            </a:r>
            <a:r>
              <a:rPr lang="it-IT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ratio 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 dei </a:t>
            </a:r>
            <a:r>
              <a:rPr lang="it-IT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p-</a:t>
            </a:r>
            <a:r>
              <a:rPr lang="it-IT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value</a:t>
            </a:r>
            <a:r>
              <a:rPr lang="it-IT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associati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26253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1267F-6812-ED56-850F-953B73C4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ttangolo con angoli in alto arrotondati 70">
            <a:extLst>
              <a:ext uri="{FF2B5EF4-FFF2-40B4-BE49-F238E27FC236}">
                <a16:creationId xmlns:a16="http://schemas.microsoft.com/office/drawing/2014/main" id="{E84595F3-EA82-306D-0CD8-CC764FACC206}"/>
              </a:ext>
            </a:extLst>
          </p:cNvPr>
          <p:cNvSpPr/>
          <p:nvPr/>
        </p:nvSpPr>
        <p:spPr>
          <a:xfrm>
            <a:off x="1415931" y="5791075"/>
            <a:ext cx="4136456" cy="1441308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403B324B-2FB9-BE51-4C50-7E02E78E579D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68C34FDB-51F0-3FF1-4B25-B94E2DE218D3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DE8DB9B0-3618-36DF-D952-4F6183038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125BDE49-1708-5A3B-4E34-F8A42FFDAFB4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A93C9737-5244-22BF-A3F1-EFF3293AB636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AD1BAC94-4EB8-0389-73DF-4FD7FE195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5EAC1F54-5A0E-163E-35F9-D2F3AD4C5AC9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03033285-4618-2878-C6AA-07B3B4A490C9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1ACE67D9-FD4D-2F42-B2C4-4A2AEB675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3B15394C-D506-06BD-FBF2-A2491C374250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4BC12CFE-279C-7DA8-7650-768F720637EA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970A7B16-A7BE-BC60-E1F0-A9BE6B0C1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2A7BD641-8A38-2384-65F7-A2ED9EFCBA31}"/>
              </a:ext>
            </a:extLst>
          </p:cNvPr>
          <p:cNvGrpSpPr/>
          <p:nvPr/>
        </p:nvGrpSpPr>
        <p:grpSpPr>
          <a:xfrm>
            <a:off x="614428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A0915D13-89A9-4CD1-CC36-7CD6445D5522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CF0E1E5E-76BC-95A7-C9F5-7057D047C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5489F242-ECDB-52F7-EF77-CBBDC6FB7A76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5902702B-3D1D-74B1-9404-5CE927E3999D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722D1C9B-B29C-6AE3-2DC5-0C56AA4C2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6F4B718E-7D1C-2046-4156-83ABF546DB1D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80538F8B-C1C7-1DE6-8C71-D32D66E6EFB6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AD3CC0E5-F8B8-A860-81BC-877398B04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24869C13-182A-64B0-6B74-C72FBD20B555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99013261-8F3C-365B-D5D1-332348C51D3F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01D3BA9C-5E9F-AB86-6203-2C33812FC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D84ADFD4-17F8-2A66-788F-64098D608AD5}"/>
              </a:ext>
            </a:extLst>
          </p:cNvPr>
          <p:cNvGrpSpPr/>
          <p:nvPr/>
        </p:nvGrpSpPr>
        <p:grpSpPr>
          <a:xfrm>
            <a:off x="-7133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BE7F1726-C220-F26E-ACC3-E02B23E3C4E9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D621E425-32D6-E20C-AF94-B07F14A05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B6CC851F-9445-6AF2-2DF8-98ABA8936047}"/>
              </a:ext>
            </a:extLst>
          </p:cNvPr>
          <p:cNvSpPr/>
          <p:nvPr/>
        </p:nvSpPr>
        <p:spPr>
          <a:xfrm rot="10800000">
            <a:off x="2838" y="-516015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34" name="Immagine 33" descr="Immagine che contiene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AE0AE0E6-D336-B87B-3E1B-2D2EEADDF2AF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7C7054A-13FA-E6A4-F97E-C9F79DAD19C0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Rifinitura del modello</a:t>
            </a:r>
          </a:p>
        </p:txBody>
      </p:sp>
      <p:pic>
        <p:nvPicPr>
          <p:cNvPr id="5" name="Immagine 4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94B2556C-670F-5D0D-1FEF-188B0EDEE5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99886" y="4876523"/>
            <a:ext cx="6192114" cy="1981477"/>
          </a:xfrm>
          <a:prstGeom prst="rect">
            <a:avLst/>
          </a:prstGeom>
          <a:effectLst>
            <a:glow rad="152400">
              <a:srgbClr val="FF4655">
                <a:alpha val="40000"/>
              </a:srgbClr>
            </a:glow>
          </a:effectLst>
        </p:spPr>
      </p:pic>
      <p:sp>
        <p:nvSpPr>
          <p:cNvPr id="8" name="Elaborazione alternativa 7">
            <a:extLst>
              <a:ext uri="{FF2B5EF4-FFF2-40B4-BE49-F238E27FC236}">
                <a16:creationId xmlns:a16="http://schemas.microsoft.com/office/drawing/2014/main" id="{6982F262-C35E-138D-4B2C-C0728765523F}"/>
              </a:ext>
            </a:extLst>
          </p:cNvPr>
          <p:cNvSpPr/>
          <p:nvPr/>
        </p:nvSpPr>
        <p:spPr>
          <a:xfrm>
            <a:off x="2102390" y="1262195"/>
            <a:ext cx="5537200" cy="822956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Test di interazione: </a:t>
            </a:r>
            <a:r>
              <a:rPr lang="it-IT" sz="2000" b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Rating_Max</a:t>
            </a:r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2000" dirty="0"/>
              <a:t>×</a:t>
            </a:r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sz="2000" b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Rating_SD</a:t>
            </a:r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(Talento </a:t>
            </a:r>
            <a:r>
              <a:rPr lang="it-IT" sz="2000" dirty="0"/>
              <a:t>× </a:t>
            </a:r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Equilibrio)</a:t>
            </a:r>
          </a:p>
        </p:txBody>
      </p:sp>
      <p:sp>
        <p:nvSpPr>
          <p:cNvPr id="9" name="Elaborazione alternativa 8">
            <a:extLst>
              <a:ext uri="{FF2B5EF4-FFF2-40B4-BE49-F238E27FC236}">
                <a16:creationId xmlns:a16="http://schemas.microsoft.com/office/drawing/2014/main" id="{7DDA5145-8D0E-D6C5-1B8D-E601E866D71E}"/>
              </a:ext>
            </a:extLst>
          </p:cNvPr>
          <p:cNvSpPr/>
          <p:nvPr/>
        </p:nvSpPr>
        <p:spPr>
          <a:xfrm>
            <a:off x="6483890" y="2442370"/>
            <a:ext cx="5537200" cy="822956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Likelihood</a:t>
            </a:r>
            <a:r>
              <a:rPr lang="it-IT" sz="20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Ratio Test,</a:t>
            </a:r>
          </a:p>
          <a:p>
            <a:pPr algn="ctr"/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applicato mediante analisi della devianza</a:t>
            </a:r>
          </a:p>
        </p:txBody>
      </p:sp>
      <p:sp>
        <p:nvSpPr>
          <p:cNvPr id="10" name="Elaborazione alternativa 9">
            <a:extLst>
              <a:ext uri="{FF2B5EF4-FFF2-40B4-BE49-F238E27FC236}">
                <a16:creationId xmlns:a16="http://schemas.microsoft.com/office/drawing/2014/main" id="{5865F236-A9D8-D43C-1123-40D6636E8426}"/>
              </a:ext>
            </a:extLst>
          </p:cNvPr>
          <p:cNvSpPr/>
          <p:nvPr/>
        </p:nvSpPr>
        <p:spPr>
          <a:xfrm>
            <a:off x="2102390" y="3574817"/>
            <a:ext cx="5537200" cy="822956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Interazione NON SIGNIFICATIVA,</a:t>
            </a:r>
          </a:p>
          <a:p>
            <a:pPr algn="ctr"/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p-</a:t>
            </a:r>
            <a:r>
              <a:rPr lang="it-IT" sz="2000" b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value</a:t>
            </a:r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pari a </a:t>
            </a:r>
            <a:r>
              <a:rPr lang="it-IT" sz="2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0.74 (</a:t>
            </a:r>
            <a:r>
              <a:rPr lang="it-IT" sz="20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maggiore di </a:t>
            </a:r>
            <a:r>
              <a:rPr lang="it-IT" sz="24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0.05)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B5CDE81-8186-F300-266D-E4468B549E96}"/>
              </a:ext>
            </a:extLst>
          </p:cNvPr>
          <p:cNvSpPr txBox="1"/>
          <p:nvPr/>
        </p:nvSpPr>
        <p:spPr>
          <a:xfrm>
            <a:off x="1262295" y="5867261"/>
            <a:ext cx="4412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Il modello resta quindi invariato, si riportano a lato le stime finali degli </a:t>
            </a:r>
            <a:r>
              <a:rPr lang="it-IT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odds</a:t>
            </a:r>
            <a:r>
              <a:rPr lang="it-IT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ratio 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 dei </a:t>
            </a:r>
            <a:r>
              <a:rPr lang="it-IT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p-</a:t>
            </a:r>
            <a:r>
              <a:rPr lang="it-IT" b="1" i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value</a:t>
            </a:r>
            <a:r>
              <a:rPr lang="it-IT" b="1" i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associati</a:t>
            </a:r>
            <a:endParaRPr lang="it-IT" dirty="0"/>
          </a:p>
        </p:txBody>
      </p:sp>
      <p:cxnSp>
        <p:nvCxnSpPr>
          <p:cNvPr id="13" name="Connettore a gomito 12">
            <a:extLst>
              <a:ext uri="{FF2B5EF4-FFF2-40B4-BE49-F238E27FC236}">
                <a16:creationId xmlns:a16="http://schemas.microsoft.com/office/drawing/2014/main" id="{BFB8C4F1-1F59-7757-7B43-36C82CF90F7A}"/>
              </a:ext>
            </a:extLst>
          </p:cNvPr>
          <p:cNvCxnSpPr>
            <a:cxnSpLocks/>
          </p:cNvCxnSpPr>
          <p:nvPr/>
        </p:nvCxnSpPr>
        <p:spPr>
          <a:xfrm>
            <a:off x="7812372" y="1683100"/>
            <a:ext cx="1476408" cy="581847"/>
          </a:xfrm>
          <a:prstGeom prst="bentConnector3">
            <a:avLst>
              <a:gd name="adj1" fmla="val 100063"/>
            </a:avLst>
          </a:prstGeom>
          <a:ln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a gomito 47">
            <a:extLst>
              <a:ext uri="{FF2B5EF4-FFF2-40B4-BE49-F238E27FC236}">
                <a16:creationId xmlns:a16="http://schemas.microsoft.com/office/drawing/2014/main" id="{E9D70B2F-4E92-6DD4-268E-D66FCC7C7612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64001" y="2859905"/>
            <a:ext cx="1371628" cy="482346"/>
          </a:xfrm>
          <a:prstGeom prst="bentConnector3">
            <a:avLst>
              <a:gd name="adj1" fmla="val 99999"/>
            </a:avLst>
          </a:prstGeom>
          <a:ln>
            <a:solidFill>
              <a:srgbClr val="C13A4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magine 2" descr="Immagine che contiene bianco, Utensile da cucina, bianco e nero, monocromatico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CF726536-8592-F696-DC9E-FDDF83D06A7E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4" name="Immagine 3" descr="Immagine che contiene ingranaggio, oggetti in metallo, cerchio, ruota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5785DF07-3F65-79D3-8D24-39E564B37A4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7" name="Immagine 6" descr="Immagine che contiene cerchio, bianco e nero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EE273F60-C215-57A8-F8FD-91F56C591B7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15" name="Immagine 14" descr="Immagine che contiene schermata, design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1236462C-4C00-28AC-1FB0-94575451BDE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17" name="Immagine 16" descr="Immagine che contiene schermata, Rettangolo, design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604EEF0A-5129-446A-E45C-6522302FCB3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19" name="Immagine 18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899B9B03-05D9-D0C7-7636-8998FE00744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21" name="Immagine 20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F4F47640-E224-417D-5A44-2DD560C6F78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23" name="Immagine 22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1BBD53DC-CB82-8393-DD63-08B83ABD05F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sp>
        <p:nvSpPr>
          <p:cNvPr id="14" name="Elaborazione alternativa 13">
            <a:extLst>
              <a:ext uri="{FF2B5EF4-FFF2-40B4-BE49-F238E27FC236}">
                <a16:creationId xmlns:a16="http://schemas.microsoft.com/office/drawing/2014/main" id="{49741C3D-F939-F6B7-CD9A-A395FCEA375A}"/>
              </a:ext>
            </a:extLst>
          </p:cNvPr>
          <p:cNvSpPr/>
          <p:nvPr/>
        </p:nvSpPr>
        <p:spPr>
          <a:xfrm>
            <a:off x="1472493" y="-2657902"/>
            <a:ext cx="2573996" cy="2271792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Analisi degli </a:t>
            </a:r>
            <a:r>
              <a:rPr lang="it-IT" b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Outlier</a:t>
            </a:r>
            <a:endParaRPr lang="it-IT" b="1" dirty="0">
              <a:solidFill>
                <a:srgbClr val="1C252E"/>
              </a:solidFill>
              <a:effectLst>
                <a:glow rad="127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endParaRPr lang="it-IT" sz="800" b="1" dirty="0">
              <a:solidFill>
                <a:srgbClr val="1C252E"/>
              </a:solidFill>
              <a:effectLst>
                <a:glow rad="127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it-IT" sz="16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Nessuna osservazione supera la soglia critica. Il modello è stabile e non viene distorto da singoli </a:t>
            </a:r>
            <a:r>
              <a:rPr lang="it-IT" sz="1600" b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outlier</a:t>
            </a:r>
            <a:r>
              <a:rPr lang="it-IT" sz="16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influenti.</a:t>
            </a:r>
            <a:endParaRPr lang="it-IT" sz="1600" dirty="0"/>
          </a:p>
        </p:txBody>
      </p:sp>
      <p:sp>
        <p:nvSpPr>
          <p:cNvPr id="18" name="Elaborazione alternativa 17">
            <a:extLst>
              <a:ext uri="{FF2B5EF4-FFF2-40B4-BE49-F238E27FC236}">
                <a16:creationId xmlns:a16="http://schemas.microsoft.com/office/drawing/2014/main" id="{51B41AA7-BAEF-03C1-AEF2-327596393D26}"/>
              </a:ext>
            </a:extLst>
          </p:cNvPr>
          <p:cNvSpPr/>
          <p:nvPr/>
        </p:nvSpPr>
        <p:spPr>
          <a:xfrm>
            <a:off x="1472493" y="7585888"/>
            <a:ext cx="2573996" cy="227179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Residui vs Leva</a:t>
            </a:r>
          </a:p>
          <a:p>
            <a:pPr algn="ctr"/>
            <a:endParaRPr lang="it-IT" sz="800" b="1" dirty="0">
              <a:solidFill>
                <a:srgbClr val="1C252E"/>
              </a:solidFill>
              <a:effectLst>
                <a:glow rad="127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it-IT" sz="16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 residui più marcati occupano la zona a leva medio-bassa: gli errori di predizione riguardano match statisticamente standard.</a:t>
            </a:r>
            <a:endParaRPr lang="it-IT" sz="1600" dirty="0"/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40421CBF-AC24-572D-AC7D-7D801D46F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2926" y="1314023"/>
            <a:ext cx="7167905" cy="5119932"/>
          </a:xfrm>
          <a:prstGeom prst="rect">
            <a:avLst/>
          </a:prstGeom>
          <a:noFill/>
          <a:effectLst>
            <a:glow rad="152400">
              <a:srgbClr val="FF4655">
                <a:alpha val="45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52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D21049-028F-18D6-28BF-2243497F4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uppo 67">
            <a:extLst>
              <a:ext uri="{FF2B5EF4-FFF2-40B4-BE49-F238E27FC236}">
                <a16:creationId xmlns:a16="http://schemas.microsoft.com/office/drawing/2014/main" id="{B34F9937-9F1E-CCF5-5316-224DF5FCB15B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8941ECC2-9684-A0A1-6423-A899A9788710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136DE4A1-7D2E-F06F-4601-FEB5DAE4F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0347A473-D815-F2C2-0A21-49215AFA5385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EFEF6903-8217-947A-E316-D230C54BD08A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839CE773-14B1-C915-5200-CB396DA1A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9A9B42B5-725F-5BD4-F8CA-8B170F286F5C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0B40ACBA-33C1-069D-0DAD-866EDD361B48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EAA49C5F-1BCC-1AB3-CFE5-626BF5B7F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F70EB40F-438D-DF48-A0A6-D210E533B4D7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C5EC6B0F-7586-C513-180A-706CE8127F03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D1B4A4D5-2CD8-41AC-916D-CA26524077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386E600A-18CB-45CC-7F3F-CE86AEDFB529}"/>
              </a:ext>
            </a:extLst>
          </p:cNvPr>
          <p:cNvGrpSpPr/>
          <p:nvPr/>
        </p:nvGrpSpPr>
        <p:grpSpPr>
          <a:xfrm>
            <a:off x="614428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14624CC0-0310-5B82-D214-EA10529D306D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CA7D3FF8-458D-036F-D20D-FC25F65C9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2F393956-FF01-3D32-24D5-9287612EEC2E}"/>
              </a:ext>
            </a:extLst>
          </p:cNvPr>
          <p:cNvGrpSpPr/>
          <p:nvPr/>
        </p:nvGrpSpPr>
        <p:grpSpPr>
          <a:xfrm>
            <a:off x="-7285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FCD2EA71-B594-7686-781C-DDC548D1BB2F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8149E7C0-D619-9B25-DE1E-37AD3B732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C2FE406D-4B48-EADD-4D2E-104CF562F799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FCC730CC-248E-EA7D-A328-FD119D581998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A77E3EF2-1D5A-6E12-30A3-28BB2CC29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38E7DBCC-4049-C12A-10D4-9334E45844F1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2FF8AA24-99D9-1CE3-2291-4D9AECA101CA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F5E6754E-E0B4-05CB-B9C9-B6A28DC97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61A2CB65-BA5C-DC99-3CED-E804D3C2686C}"/>
              </a:ext>
            </a:extLst>
          </p:cNvPr>
          <p:cNvGrpSpPr/>
          <p:nvPr/>
        </p:nvGrpSpPr>
        <p:grpSpPr>
          <a:xfrm>
            <a:off x="-7133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AF6E61BF-C1FF-D4A7-EC4F-AD52FB575944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18478026-EC40-5C42-A1D2-730E97850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6967FBFC-4DB2-FE60-811F-4550B2D65BD8}"/>
              </a:ext>
            </a:extLst>
          </p:cNvPr>
          <p:cNvSpPr/>
          <p:nvPr/>
        </p:nvSpPr>
        <p:spPr>
          <a:xfrm rot="10800000">
            <a:off x="2838" y="-516015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34" name="Immagine 33" descr="Immagine che contiene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D239EC09-6A9F-AE82-F6D2-6B409E0CADF6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D6FBDCE-011F-08BE-2C79-9834251CB927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Diagnostica del modello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0AFACBE-DA0B-D07F-A787-4BC97FE7F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976" y="1314023"/>
            <a:ext cx="7167905" cy="5119932"/>
          </a:xfrm>
          <a:prstGeom prst="rect">
            <a:avLst/>
          </a:prstGeom>
          <a:noFill/>
          <a:effectLst>
            <a:glow rad="152400">
              <a:srgbClr val="FF4655">
                <a:alpha val="45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aborazione alternativa 2">
            <a:extLst>
              <a:ext uri="{FF2B5EF4-FFF2-40B4-BE49-F238E27FC236}">
                <a16:creationId xmlns:a16="http://schemas.microsoft.com/office/drawing/2014/main" id="{0E6BA6DE-23F8-DF46-9E32-BD49956E210A}"/>
              </a:ext>
            </a:extLst>
          </p:cNvPr>
          <p:cNvSpPr/>
          <p:nvPr/>
        </p:nvSpPr>
        <p:spPr>
          <a:xfrm>
            <a:off x="1472493" y="1314023"/>
            <a:ext cx="2573996" cy="2271792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Analisi degli </a:t>
            </a:r>
            <a:r>
              <a:rPr lang="it-IT" b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Outlier</a:t>
            </a:r>
            <a:endParaRPr lang="it-IT" b="1" dirty="0">
              <a:solidFill>
                <a:srgbClr val="1C252E"/>
              </a:solidFill>
              <a:effectLst>
                <a:glow rad="127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endParaRPr lang="it-IT" sz="800" b="1" dirty="0">
              <a:solidFill>
                <a:srgbClr val="1C252E"/>
              </a:solidFill>
              <a:effectLst>
                <a:glow rad="127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it-IT" sz="16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Nessuna osservazione supera la soglia critica. Il modello è stabile e non viene distorto da singoli </a:t>
            </a:r>
            <a:r>
              <a:rPr lang="it-IT" sz="1600" b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outlier</a:t>
            </a:r>
            <a:r>
              <a:rPr lang="it-IT" sz="16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influenti.</a:t>
            </a:r>
            <a:endParaRPr lang="it-IT" sz="1600" dirty="0"/>
          </a:p>
        </p:txBody>
      </p:sp>
      <p:sp>
        <p:nvSpPr>
          <p:cNvPr id="7" name="Elaborazione alternativa 6">
            <a:extLst>
              <a:ext uri="{FF2B5EF4-FFF2-40B4-BE49-F238E27FC236}">
                <a16:creationId xmlns:a16="http://schemas.microsoft.com/office/drawing/2014/main" id="{C6A99963-981D-0F5C-A5BC-ADD6E99328B7}"/>
              </a:ext>
            </a:extLst>
          </p:cNvPr>
          <p:cNvSpPr/>
          <p:nvPr/>
        </p:nvSpPr>
        <p:spPr>
          <a:xfrm>
            <a:off x="1472493" y="4194988"/>
            <a:ext cx="2573996" cy="227179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Residui vs Leva</a:t>
            </a:r>
          </a:p>
          <a:p>
            <a:pPr algn="ctr"/>
            <a:endParaRPr lang="it-IT" sz="800" b="1" dirty="0">
              <a:solidFill>
                <a:srgbClr val="1C252E"/>
              </a:solidFill>
              <a:effectLst>
                <a:glow rad="127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it-IT" sz="1600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 residui più marcati occupano la zona a leva medio-bassa: gli errori di predizione riguardano match statisticamente standard.</a:t>
            </a:r>
            <a:endParaRPr lang="it-IT" sz="1600" dirty="0"/>
          </a:p>
        </p:txBody>
      </p:sp>
      <p:pic>
        <p:nvPicPr>
          <p:cNvPr id="4" name="Immagine 3" descr="Immagine che contiene bianco, Utensile da cucina, bianco e nero, monocromatico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27AC9D03-3E5B-27F9-E584-0DCEEC4F608F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5" name="Immagine 4" descr="Immagine che contiene ingranaggio, oggetti in metallo, cerchio, ruota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E76934B7-B20E-2B69-0911-F5AE0988833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8" name="Immagine 7" descr="Immagine che contiene cerchio, bianco e nero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E59891CA-030F-83B3-1DC4-F540BECEB17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9" name="Immagine 8" descr="Immagine che contiene schermata, design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2A25FA23-13EC-3BD2-7DC4-8D5D9B4F439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10" name="Immagine 9" descr="Immagine che contiene schermata, Rettangolo, design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F444A5E8-6628-E929-C8C0-D871233E6D6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11" name="Immagine 10" descr="Immagine che contiene design, linea, bianco, Rettangolo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84A78CA2-3B1F-DF28-66CD-F39E95BB8D5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13" name="Immagine 12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0014F3FC-4589-0A25-DDA9-271813028B2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5" name="Immagine 14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644EA142-8A9D-27BD-C2C5-BB17C7BE25B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00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B8EFB-ED91-A90E-8F14-659010A0E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2F50342C-F27B-625E-2AEB-3A903BB5E24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21" y="958237"/>
            <a:ext cx="7770881" cy="6105692"/>
          </a:xfrm>
          <a:prstGeom prst="rect">
            <a:avLst/>
          </a:prstGeom>
          <a:noFill/>
          <a:effectLst>
            <a:glow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angolo rettangolo 2">
            <a:extLst>
              <a:ext uri="{FF2B5EF4-FFF2-40B4-BE49-F238E27FC236}">
                <a16:creationId xmlns:a16="http://schemas.microsoft.com/office/drawing/2014/main" id="{3E362ABC-A7B3-0356-F903-1D77AC7B19EE}"/>
              </a:ext>
            </a:extLst>
          </p:cNvPr>
          <p:cNvSpPr>
            <a:spLocks/>
          </p:cNvSpPr>
          <p:nvPr/>
        </p:nvSpPr>
        <p:spPr>
          <a:xfrm flipH="1">
            <a:off x="4829167" y="-1933575"/>
            <a:ext cx="8048625" cy="11934824"/>
          </a:xfrm>
          <a:prstGeom prst="rtTriangle">
            <a:avLst/>
          </a:prstGeom>
          <a:solidFill>
            <a:srgbClr val="FF4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0F18BC79-00BA-5258-F7C4-22E92290122F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D6816658-577B-971F-5673-AF8A7C52A88A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E02C4E8E-5124-7157-6B37-E3B8AD14D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93F0DF6A-B323-B819-E883-4EDA9BC75851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EF851AC9-C9EE-6DB9-6EB6-718D2A46BC2F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2659FE6E-281A-9284-B562-466F7E162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2B02FDA9-5E5C-D58D-E450-CC58281A8E62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757A1DBD-4FBA-313C-0230-E93D7205BD27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D6085BD8-C1EB-595D-DFE3-B83300060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ECFCAA37-294D-58AD-3CF7-4685B0911442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40527BF5-3CB0-6F72-46AE-35B0C36F879D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18B6FC15-59A4-C693-5564-67B010549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D135F314-8B78-89BE-6FCA-E2016D4704FC}"/>
              </a:ext>
            </a:extLst>
          </p:cNvPr>
          <p:cNvGrpSpPr/>
          <p:nvPr/>
        </p:nvGrpSpPr>
        <p:grpSpPr>
          <a:xfrm>
            <a:off x="-680972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C71533A3-000D-89B6-16BC-64C07EFDCFC7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F573EA8A-1492-2BD1-47C9-18DAA36F6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35DC4694-DBE1-5E3F-F42D-C49AB1DE0770}"/>
              </a:ext>
            </a:extLst>
          </p:cNvPr>
          <p:cNvGrpSpPr/>
          <p:nvPr/>
        </p:nvGrpSpPr>
        <p:grpSpPr>
          <a:xfrm>
            <a:off x="633478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3D509981-D570-FAE2-9AA1-8EE41E6F1CB5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B783810E-BEB3-F669-9FC7-87B708554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2010F9E6-63E3-7465-41F0-7DF095482A42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11CC7349-AD2B-84C1-8649-A8CA2E2D3DB7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847D1D14-8433-B963-82D3-0F2F1F793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3EB873BB-1046-718D-99CB-C5A61D6908AF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B88EC62C-3C64-BD5E-D66D-FB9BFD1CB550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3BBF0D19-26D4-0BC1-3D39-074131C7B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6AFB1FA1-51F2-2889-D399-3AC5203DD0C7}"/>
              </a:ext>
            </a:extLst>
          </p:cNvPr>
          <p:cNvGrpSpPr/>
          <p:nvPr/>
        </p:nvGrpSpPr>
        <p:grpSpPr>
          <a:xfrm>
            <a:off x="-7133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1CFF9702-F838-0A6A-C52F-9A12A239AA1E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7CF3C0A2-B409-8A5B-D5A1-5C8A25946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CFFFC287-8537-26EC-C81A-8BADBFCF8A42}"/>
              </a:ext>
            </a:extLst>
          </p:cNvPr>
          <p:cNvSpPr/>
          <p:nvPr/>
        </p:nvSpPr>
        <p:spPr>
          <a:xfrm rot="10800000">
            <a:off x="2838" y="-444578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34" name="Immagine 33" descr="Immagine che contiene arte, bianco e nero&#10;&#10;Il contenuto generato dall'IA potrebbe non essere corretto.">
            <a:hlinkClick r:id="rId12" action="ppaction://hlinksldjump"/>
            <a:extLst>
              <a:ext uri="{FF2B5EF4-FFF2-40B4-BE49-F238E27FC236}">
                <a16:creationId xmlns:a16="http://schemas.microsoft.com/office/drawing/2014/main" id="{10B723A9-B1E3-58C6-0619-A325B56F3FEB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38" name="Immagine 37" descr="Immagine che contiene design, linea, bianco, Rettangolo&#10;&#10;Il contenuto generato dall'IA potrebbe non essere corretto.">
            <a:extLst>
              <a:ext uri="{FF2B5EF4-FFF2-40B4-BE49-F238E27FC236}">
                <a16:creationId xmlns:a16="http://schemas.microsoft.com/office/drawing/2014/main" id="{7928DE93-2A2C-3AC1-70DC-2A9BECEA78FE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744FC4F1-6DCB-2E10-4DF9-820600EAA040}"/>
              </a:ext>
            </a:extLst>
          </p:cNvPr>
          <p:cNvSpPr txBox="1"/>
          <p:nvPr/>
        </p:nvSpPr>
        <p:spPr>
          <a:xfrm>
            <a:off x="2609850" y="1905506"/>
            <a:ext cx="8172450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96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Analisi di performance</a:t>
            </a:r>
          </a:p>
        </p:txBody>
      </p:sp>
      <p:pic>
        <p:nvPicPr>
          <p:cNvPr id="4" name="Immagine 3" descr="Immagine che contiene bianco, Utensile da cucina, bianco e nero, monocromatico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2F723AF8-1D3A-FB1F-115A-A5647D78002C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7" name="Immagine 6" descr="Immagine che contiene ingranaggio, oggetti in metallo, cerchio, ruota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072DD827-696D-30D2-4D93-F5D5443FB37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8" name="Immagine 7" descr="Immagine che contiene cerchio, bianco e ner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7380719F-D49F-0557-8569-ECB3A189840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9" name="Immagine 8" descr="Immagine che contiene schermata, design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AA2448ED-D4AB-DA18-2B64-5EFBE5B093A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10" name="Immagine 9" descr="Immagine che contiene schermata, Rettangolo, design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3F24C305-756C-4272-4DB5-C9C947A1F29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11" name="Immagine 10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FE3B3D43-AB03-95B8-EF4A-C84CE4D2B82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3" name="Immagine 12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0CEEA91A-83B8-F529-4020-69574552702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sp>
        <p:nvSpPr>
          <p:cNvPr id="14" name="Trapezio 13">
            <a:extLst>
              <a:ext uri="{FF2B5EF4-FFF2-40B4-BE49-F238E27FC236}">
                <a16:creationId xmlns:a16="http://schemas.microsoft.com/office/drawing/2014/main" id="{28F2CB24-3A1B-744D-F32E-E066DB34CA28}"/>
              </a:ext>
            </a:extLst>
          </p:cNvPr>
          <p:cNvSpPr/>
          <p:nvPr/>
        </p:nvSpPr>
        <p:spPr>
          <a:xfrm rot="5400000" flipH="1">
            <a:off x="9664353" y="9456214"/>
            <a:ext cx="2188570" cy="1023120"/>
          </a:xfrm>
          <a:prstGeom prst="trapezoid">
            <a:avLst>
              <a:gd name="adj" fmla="val 39186"/>
            </a:avLst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1524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Trapezio 14">
            <a:extLst>
              <a:ext uri="{FF2B5EF4-FFF2-40B4-BE49-F238E27FC236}">
                <a16:creationId xmlns:a16="http://schemas.microsoft.com/office/drawing/2014/main" id="{6B907990-DB52-B23B-3647-3078053F6AC6}"/>
              </a:ext>
            </a:extLst>
          </p:cNvPr>
          <p:cNvSpPr/>
          <p:nvPr/>
        </p:nvSpPr>
        <p:spPr>
          <a:xfrm rot="16200000">
            <a:off x="1300575" y="9456214"/>
            <a:ext cx="2188570" cy="1023120"/>
          </a:xfrm>
          <a:prstGeom prst="trapezoid">
            <a:avLst>
              <a:gd name="adj" fmla="val 39186"/>
            </a:avLst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1524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9E661F07-67C2-9CCA-3608-B451AE4DB7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7"/>
          <a:stretch>
            <a:fillRect/>
          </a:stretch>
        </p:blipFill>
        <p:spPr bwMode="auto">
          <a:xfrm>
            <a:off x="2906417" y="7354172"/>
            <a:ext cx="7402283" cy="5198175"/>
          </a:xfrm>
          <a:prstGeom prst="rect">
            <a:avLst/>
          </a:prstGeom>
          <a:noFill/>
          <a:effectLst>
            <a:glow rad="152400">
              <a:srgbClr val="FF4655">
                <a:alpha val="45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ttangolo con angoli in alto arrotondati 20">
            <a:extLst>
              <a:ext uri="{FF2B5EF4-FFF2-40B4-BE49-F238E27FC236}">
                <a16:creationId xmlns:a16="http://schemas.microsoft.com/office/drawing/2014/main" id="{832A329B-F6D7-9A47-19A6-F757011B078A}"/>
              </a:ext>
            </a:extLst>
          </p:cNvPr>
          <p:cNvSpPr/>
          <p:nvPr/>
        </p:nvSpPr>
        <p:spPr>
          <a:xfrm rot="5400000" flipV="1">
            <a:off x="17835191" y="4710488"/>
            <a:ext cx="1065199" cy="2369375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E847A6D9-AA90-0FA7-8FC9-5DC8A310D8BF}"/>
              </a:ext>
            </a:extLst>
          </p:cNvPr>
          <p:cNvSpPr txBox="1"/>
          <p:nvPr/>
        </p:nvSpPr>
        <p:spPr>
          <a:xfrm>
            <a:off x="17249777" y="5447291"/>
            <a:ext cx="152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🔓 Metriche calcolate sul Test Set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8081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18ACA-F6C3-A327-44C4-D3E1B050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apezio 6">
            <a:extLst>
              <a:ext uri="{FF2B5EF4-FFF2-40B4-BE49-F238E27FC236}">
                <a16:creationId xmlns:a16="http://schemas.microsoft.com/office/drawing/2014/main" id="{59C9D85C-71AC-B41B-A604-1B793DF15F0B}"/>
              </a:ext>
            </a:extLst>
          </p:cNvPr>
          <p:cNvSpPr/>
          <p:nvPr/>
        </p:nvSpPr>
        <p:spPr>
          <a:xfrm rot="5400000" flipH="1">
            <a:off x="9664353" y="3331639"/>
            <a:ext cx="2188570" cy="1023120"/>
          </a:xfrm>
          <a:prstGeom prst="trapezoid">
            <a:avLst>
              <a:gd name="adj" fmla="val 39186"/>
            </a:avLst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1524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Trapezio 4">
            <a:extLst>
              <a:ext uri="{FF2B5EF4-FFF2-40B4-BE49-F238E27FC236}">
                <a16:creationId xmlns:a16="http://schemas.microsoft.com/office/drawing/2014/main" id="{C52CD5ED-B94B-8E4A-73C8-73A50F307422}"/>
              </a:ext>
            </a:extLst>
          </p:cNvPr>
          <p:cNvSpPr/>
          <p:nvPr/>
        </p:nvSpPr>
        <p:spPr>
          <a:xfrm rot="16200000">
            <a:off x="1300575" y="3331639"/>
            <a:ext cx="2188570" cy="1023120"/>
          </a:xfrm>
          <a:prstGeom prst="trapezoid">
            <a:avLst>
              <a:gd name="adj" fmla="val 39186"/>
            </a:avLst>
          </a:prstGeom>
          <a:solidFill>
            <a:srgbClr val="FF4655"/>
          </a:solidFill>
          <a:ln>
            <a:solidFill>
              <a:srgbClr val="C13A48"/>
            </a:solidFill>
          </a:ln>
          <a:effectLst>
            <a:glow rad="1524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716D8734-6F99-5DCB-7F9A-E18C75AD3B0D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DEA26D33-0556-2105-7300-3FAEC1ACDCD6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4C11863E-461D-E15B-75F6-15414AFA80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4C845AC4-E3B3-0B64-978F-AFDED3045A82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162A0CCD-5D43-B091-BB2E-9C579FE5CB27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0B90AC7E-6C52-6AE7-E126-84E234A86E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F1B325EA-50EE-ACFF-A6FB-3854BFC83B11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C4D3C073-27AE-BECE-D681-BA8A7E4CA92A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A71B5631-68AD-55B5-C09E-2D31849E2E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CE3E9CC7-FE83-1065-8D78-1D25E6427941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8C5D8B67-1879-EB9D-1EA2-E7EF382C3B4D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F722D5CF-4C66-FBC9-F5D2-0DBF3E92C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AB5AEA82-8785-DA7D-59FA-2C43A9B7E443}"/>
              </a:ext>
            </a:extLst>
          </p:cNvPr>
          <p:cNvGrpSpPr/>
          <p:nvPr/>
        </p:nvGrpSpPr>
        <p:grpSpPr>
          <a:xfrm>
            <a:off x="-680972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E6FE922C-A527-58C8-E428-899BF13F1525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23AC1954-FBE3-7A07-DA13-9E17005D2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55FDEA8F-BF93-7F99-5429-222188E27EBF}"/>
              </a:ext>
            </a:extLst>
          </p:cNvPr>
          <p:cNvGrpSpPr/>
          <p:nvPr/>
        </p:nvGrpSpPr>
        <p:grpSpPr>
          <a:xfrm>
            <a:off x="633478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C261FD2A-4A86-94EB-3D24-1B6786B276AD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2EE32F1C-1DE4-0796-F381-185C46F5D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83041871-654B-387D-C5DA-57B72F2A1BD5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3D8C2061-19A0-741E-8B5A-C822756912F2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25B40683-297C-18DB-4263-DBAB0B2A9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3FDAD4FD-75CB-5659-6A90-31D7E7EF6F1F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55AD2E10-4E2D-64FD-0DC9-3EC26D6D765F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04DE8E2F-9692-25AD-9D4D-D52DBBDF5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88DEECED-9EED-C7BB-DA99-78E420202DBD}"/>
              </a:ext>
            </a:extLst>
          </p:cNvPr>
          <p:cNvGrpSpPr/>
          <p:nvPr/>
        </p:nvGrpSpPr>
        <p:grpSpPr>
          <a:xfrm>
            <a:off x="-7133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48CC81BD-1C72-F875-9C6F-31AA48C859E3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D04114EA-8748-328C-7028-3322B308C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B336C170-9D37-C76F-68CF-F772C6D2416B}"/>
              </a:ext>
            </a:extLst>
          </p:cNvPr>
          <p:cNvSpPr/>
          <p:nvPr/>
        </p:nvSpPr>
        <p:spPr>
          <a:xfrm rot="10800000">
            <a:off x="2838" y="-444578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38" name="Immagine 37" descr="Immagine che contiene design, linea, bianco, Rettangolo&#10;&#10;Il contenuto generato dall'IA potrebbe non essere corretto.">
            <a:extLst>
              <a:ext uri="{FF2B5EF4-FFF2-40B4-BE49-F238E27FC236}">
                <a16:creationId xmlns:a16="http://schemas.microsoft.com/office/drawing/2014/main" id="{571DBBA6-3C85-0F3E-522E-F9E9FA9CB5BB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BBBEC0E-EF78-442D-15C3-CBE0AED91CA0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Curva ROC e AUC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0989349-E7C0-8989-66CA-CDBC36B65F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27"/>
          <a:stretch>
            <a:fillRect/>
          </a:stretch>
        </p:blipFill>
        <p:spPr bwMode="auto">
          <a:xfrm>
            <a:off x="2906417" y="1229597"/>
            <a:ext cx="7402283" cy="5198175"/>
          </a:xfrm>
          <a:prstGeom prst="rect">
            <a:avLst/>
          </a:prstGeom>
          <a:noFill/>
          <a:effectLst>
            <a:glow rad="152400">
              <a:srgbClr val="FF4655">
                <a:alpha val="45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tangolo con angoli in alto arrotondati 1">
            <a:extLst>
              <a:ext uri="{FF2B5EF4-FFF2-40B4-BE49-F238E27FC236}">
                <a16:creationId xmlns:a16="http://schemas.microsoft.com/office/drawing/2014/main" id="{03FAD07A-7D21-E994-BE8D-FC6471A0C1F1}"/>
              </a:ext>
            </a:extLst>
          </p:cNvPr>
          <p:cNvSpPr/>
          <p:nvPr/>
        </p:nvSpPr>
        <p:spPr>
          <a:xfrm rot="5400000" flipV="1">
            <a:off x="11262941" y="4710488"/>
            <a:ext cx="1065199" cy="2369375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1" dirty="0">
              <a:solidFill>
                <a:schemeClr val="bg1"/>
              </a:solidFill>
              <a:effectLst>
                <a:glow rad="63500">
                  <a:schemeClr val="tx2">
                    <a:alpha val="40000"/>
                  </a:schemeClr>
                </a:glo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FC13734-5AAA-4E7D-BC3C-230FB329F7CB}"/>
              </a:ext>
            </a:extLst>
          </p:cNvPr>
          <p:cNvSpPr txBox="1"/>
          <p:nvPr/>
        </p:nvSpPr>
        <p:spPr>
          <a:xfrm>
            <a:off x="10677527" y="5447291"/>
            <a:ext cx="15295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🔓 Metriche calcolate sul Test Set</a:t>
            </a:r>
            <a:endParaRPr lang="it-IT" dirty="0"/>
          </a:p>
        </p:txBody>
      </p:sp>
      <p:pic>
        <p:nvPicPr>
          <p:cNvPr id="8" name="Immagine 7" descr="Immagine che contiene arte, bianco e nero&#10;&#10;Il contenuto generato dall'IA potrebbe non essere corretto.">
            <a:hlinkClick r:id="rId13" action="ppaction://hlinksldjump"/>
            <a:extLst>
              <a:ext uri="{FF2B5EF4-FFF2-40B4-BE49-F238E27FC236}">
                <a16:creationId xmlns:a16="http://schemas.microsoft.com/office/drawing/2014/main" id="{4C784D11-280C-5A22-44E6-8D84BB2D1B01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9" name="Immagine 8" descr="Immagine che contiene bianco, Utensile da cucina, bianco e nero, monocromatico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A1C2806A-F3D2-631B-DC48-4F03A8D35ECE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10" name="Immagine 9" descr="Immagine che contiene ingranaggio, oggetti in metallo, cerchio, ruota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FAF63BFF-2D1E-6129-2FF0-9B2E134C780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11" name="Immagine 10" descr="Immagine che contiene cerchio, bianco e nero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C37B088D-2375-9EDC-DDB3-445FDF3ED0A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13" name="Immagine 12" descr="Immagine che contiene schermata, design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09CD0A7F-B2EF-502A-D381-28439D7EAD4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15" name="Immagine 14" descr="Immagine che contiene schermata, Rettangolo, design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51616554-C09F-1737-EDFC-E5910233BD8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17" name="Immagine 16" descr="Immagine che contiene triangolo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1540CD3E-385C-059E-D8E8-6B5A3202378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9" name="Immagine 18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A2AE7AF4-2045-C858-7B83-11917C9838D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14" name="Immagine 13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11947F1E-0B2A-E999-CF36-56C31F65B534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/>
          <a:stretch>
            <a:fillRect/>
          </a:stretch>
        </p:blipFill>
        <p:spPr>
          <a:xfrm>
            <a:off x="1676748" y="-2756573"/>
            <a:ext cx="4943128" cy="2334731"/>
          </a:xfrm>
          <a:custGeom>
            <a:avLst/>
            <a:gdLst>
              <a:gd name="csX0" fmla="*/ 1957040 w 4943128"/>
              <a:gd name="csY0" fmla="*/ 0 h 2334731"/>
              <a:gd name="csX1" fmla="*/ 4943128 w 4943128"/>
              <a:gd name="csY1" fmla="*/ 0 h 2334731"/>
              <a:gd name="csX2" fmla="*/ 4943128 w 4943128"/>
              <a:gd name="csY2" fmla="*/ 2334731 h 2334731"/>
              <a:gd name="csX3" fmla="*/ 0 w 4943128"/>
              <a:gd name="csY3" fmla="*/ 2334731 h 2334731"/>
              <a:gd name="csX4" fmla="*/ 0 w 4943128"/>
              <a:gd name="csY4" fmla="*/ 570585 h 2334731"/>
              <a:gd name="csX5" fmla="*/ 1957040 w 4943128"/>
              <a:gd name="csY5" fmla="*/ 570585 h 2334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943128" h="2334731">
                <a:moveTo>
                  <a:pt x="1957040" y="0"/>
                </a:moveTo>
                <a:lnTo>
                  <a:pt x="4943128" y="0"/>
                </a:lnTo>
                <a:lnTo>
                  <a:pt x="4943128" y="2334731"/>
                </a:lnTo>
                <a:lnTo>
                  <a:pt x="0" y="2334731"/>
                </a:lnTo>
                <a:lnTo>
                  <a:pt x="0" y="570585"/>
                </a:lnTo>
                <a:lnTo>
                  <a:pt x="1957040" y="570585"/>
                </a:lnTo>
                <a:close/>
              </a:path>
            </a:pathLst>
          </a:custGeom>
          <a:effectLst>
            <a:glow rad="152400">
              <a:srgbClr val="FF4655">
                <a:alpha val="45000"/>
              </a:srgbClr>
            </a:glow>
          </a:effectLst>
        </p:spPr>
      </p:pic>
      <p:sp>
        <p:nvSpPr>
          <p:cNvPr id="18" name="Elaborazione alternativa 17">
            <a:extLst>
              <a:ext uri="{FF2B5EF4-FFF2-40B4-BE49-F238E27FC236}">
                <a16:creationId xmlns:a16="http://schemas.microsoft.com/office/drawing/2014/main" id="{3E63D29B-6F10-6CC0-B03C-6B31FB3DDE24}"/>
              </a:ext>
            </a:extLst>
          </p:cNvPr>
          <p:cNvSpPr/>
          <p:nvPr/>
        </p:nvSpPr>
        <p:spPr>
          <a:xfrm>
            <a:off x="7067551" y="-2756574"/>
            <a:ext cx="4795532" cy="233473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F2023EC-7EF4-F1D8-8E65-41BE5E238FCA}"/>
              </a:ext>
            </a:extLst>
          </p:cNvPr>
          <p:cNvSpPr txBox="1"/>
          <p:nvPr/>
        </p:nvSpPr>
        <p:spPr>
          <a:xfrm>
            <a:off x="7364859" y="-2464332"/>
            <a:ext cx="44869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Soglia (</a:t>
            </a:r>
            <a:r>
              <a:rPr lang="it-IT" b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cut</a:t>
            </a:r>
            <a:r>
              <a:rPr lang="it-IT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-off): </a:t>
            </a:r>
            <a:r>
              <a:rPr lang="it-IT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ottimizzata con l’indice di </a:t>
            </a:r>
            <a:r>
              <a:rPr lang="it-IT" b="1" i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Youden</a:t>
            </a:r>
            <a:r>
              <a:rPr lang="it-IT" b="1" i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(anziché lo standard di 0.5).</a:t>
            </a:r>
          </a:p>
          <a:p>
            <a:r>
              <a:rPr lang="it-IT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Obiettivo: </a:t>
            </a:r>
            <a:r>
              <a:rPr lang="it-IT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massimizzare l'equilibrio tra sensitività e specificità.</a:t>
            </a:r>
          </a:p>
          <a:p>
            <a:r>
              <a:rPr lang="it-IT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Metodo: </a:t>
            </a:r>
            <a:r>
              <a:rPr lang="it-IT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soglia calibrata sul Training Set, ma applicata sul Test Set.</a:t>
            </a:r>
            <a:endParaRPr lang="it-IT" sz="1600" dirty="0">
              <a:solidFill>
                <a:schemeClr val="bg1"/>
              </a:solidFill>
            </a:endParaRPr>
          </a:p>
          <a:p>
            <a:endParaRPr lang="it-IT" dirty="0"/>
          </a:p>
        </p:txBody>
      </p:sp>
      <p:sp>
        <p:nvSpPr>
          <p:cNvPr id="22" name="!!Connettore 1">
            <a:extLst>
              <a:ext uri="{FF2B5EF4-FFF2-40B4-BE49-F238E27FC236}">
                <a16:creationId xmlns:a16="http://schemas.microsoft.com/office/drawing/2014/main" id="{3C348209-FADA-9F47-DD3B-A778AADF111C}"/>
              </a:ext>
            </a:extLst>
          </p:cNvPr>
          <p:cNvSpPr/>
          <p:nvPr/>
        </p:nvSpPr>
        <p:spPr>
          <a:xfrm flipV="1">
            <a:off x="7272313" y="-2314575"/>
            <a:ext cx="71112" cy="76572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!!Connettore 2">
            <a:extLst>
              <a:ext uri="{FF2B5EF4-FFF2-40B4-BE49-F238E27FC236}">
                <a16:creationId xmlns:a16="http://schemas.microsoft.com/office/drawing/2014/main" id="{65935B7E-B5EF-06AF-B806-3359F6063C5D}"/>
              </a:ext>
            </a:extLst>
          </p:cNvPr>
          <p:cNvSpPr/>
          <p:nvPr/>
        </p:nvSpPr>
        <p:spPr>
          <a:xfrm flipV="1">
            <a:off x="7272313" y="-1774643"/>
            <a:ext cx="71112" cy="76572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!!Connettore 3">
            <a:extLst>
              <a:ext uri="{FF2B5EF4-FFF2-40B4-BE49-F238E27FC236}">
                <a16:creationId xmlns:a16="http://schemas.microsoft.com/office/drawing/2014/main" id="{73A74578-5F82-6FF4-162B-60467D4DD512}"/>
              </a:ext>
            </a:extLst>
          </p:cNvPr>
          <p:cNvSpPr/>
          <p:nvPr/>
        </p:nvSpPr>
        <p:spPr>
          <a:xfrm flipV="1">
            <a:off x="7272126" y="-1212056"/>
            <a:ext cx="71112" cy="76572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7" name="Immagine 26" descr="Immagine che contiene testo, Carattere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162E9EBA-B2AB-FE2C-9002-49DCBCA9DC3F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676747" y="7393529"/>
            <a:ext cx="10186336" cy="2655947"/>
          </a:xfrm>
          <a:prstGeom prst="rect">
            <a:avLst/>
          </a:prstGeom>
          <a:effectLst>
            <a:glow rad="152400">
              <a:srgbClr val="FF4655">
                <a:alpha val="45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3908238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62FBA4-FDD2-B126-1EF5-200D229A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uppo 67">
            <a:extLst>
              <a:ext uri="{FF2B5EF4-FFF2-40B4-BE49-F238E27FC236}">
                <a16:creationId xmlns:a16="http://schemas.microsoft.com/office/drawing/2014/main" id="{B4CE4056-D438-0D95-9286-81EBFB036895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542D6EE5-90F5-D508-922B-B37702346781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EE12045F-9132-13C7-4FD6-09449D36C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F50723B0-7289-ABD0-27ED-1CDFB6A31BE7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91A3F423-D833-1ED0-1076-DC23C2418C89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3589BB59-263F-3B24-823E-F6F28A246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8C3D0832-4DC3-6429-05BD-AEDE3689ABCF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799208E2-6513-0B5E-287F-8EEC5534CC7D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1E1D3EAA-6743-0411-8B6F-012308F25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1462803C-2337-2D70-0E8C-AC6A5A6969BA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DDBA09C8-6E07-1832-61B8-370342ECA731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E5AA5DF9-16F8-CDD1-23C1-7125E4645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79A167EF-C8A3-72BA-18CD-7C4C28D0757C}"/>
              </a:ext>
            </a:extLst>
          </p:cNvPr>
          <p:cNvGrpSpPr/>
          <p:nvPr/>
        </p:nvGrpSpPr>
        <p:grpSpPr>
          <a:xfrm>
            <a:off x="-680972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95804697-A872-E1B1-0F8A-B872BBEEDBB7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B9D69FD8-E42D-437F-8207-31E7B20CA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63C144C2-32A4-9591-F1A3-659E7F12C0F7}"/>
              </a:ext>
            </a:extLst>
          </p:cNvPr>
          <p:cNvGrpSpPr/>
          <p:nvPr/>
        </p:nvGrpSpPr>
        <p:grpSpPr>
          <a:xfrm>
            <a:off x="633478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2F000A62-348B-6771-06D5-C87C53CFF858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FE2C0182-A118-003F-DBB7-6B12BCC243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D9C33403-2C69-0CEF-6045-9A85EB1AE838}"/>
              </a:ext>
            </a:extLst>
          </p:cNvPr>
          <p:cNvGrpSpPr/>
          <p:nvPr/>
        </p:nvGrpSpPr>
        <p:grpSpPr>
          <a:xfrm>
            <a:off x="-7144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9309F5DC-57CF-85F0-4815-FCF5AE8F6A18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A225529C-CDCF-8EDC-CAC1-CCFFF63EA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2F2A38D7-C504-5F8D-A7CC-C41BCF35BE77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FD47CAF0-071E-BA19-0190-9E258CE7196A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DA41A621-43D3-2FF0-FA8C-881820C16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976433F7-DE50-856F-F1CD-640CFC09B6C0}"/>
              </a:ext>
            </a:extLst>
          </p:cNvPr>
          <p:cNvGrpSpPr/>
          <p:nvPr/>
        </p:nvGrpSpPr>
        <p:grpSpPr>
          <a:xfrm>
            <a:off x="-7133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838C5A15-5598-A6FE-12BD-7582CEA1BE4B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DD2DB10F-1B28-DC44-E419-160C95D27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A5E3F8F5-7A93-E79B-492D-DCC953632FDD}"/>
              </a:ext>
            </a:extLst>
          </p:cNvPr>
          <p:cNvSpPr/>
          <p:nvPr/>
        </p:nvSpPr>
        <p:spPr>
          <a:xfrm rot="10800000">
            <a:off x="2838" y="-444578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38" name="Immagine 37" descr="Immagine che contiene design, linea, bianco, Rettangolo&#10;&#10;Il contenuto generato dall'IA potrebbe non essere corretto.">
            <a:extLst>
              <a:ext uri="{FF2B5EF4-FFF2-40B4-BE49-F238E27FC236}">
                <a16:creationId xmlns:a16="http://schemas.microsoft.com/office/drawing/2014/main" id="{8AD15CBD-3ED1-12C4-4A68-488D8B757693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AD9078E8-8CE6-26D6-3027-C3AC57924B58}"/>
              </a:ext>
            </a:extLst>
          </p:cNvPr>
          <p:cNvSpPr txBox="1"/>
          <p:nvPr/>
        </p:nvSpPr>
        <p:spPr>
          <a:xfrm>
            <a:off x="1472493" y="161926"/>
            <a:ext cx="9947215" cy="86177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z="50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Altre metriche di performance</a:t>
            </a:r>
          </a:p>
        </p:txBody>
      </p:sp>
      <p:pic>
        <p:nvPicPr>
          <p:cNvPr id="13" name="Immagine 1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6A9615B2-EA18-53F4-27FB-20FB88B68C1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1676748" y="1205827"/>
            <a:ext cx="4943128" cy="2334731"/>
          </a:xfrm>
          <a:custGeom>
            <a:avLst/>
            <a:gdLst>
              <a:gd name="csX0" fmla="*/ 1957040 w 4943128"/>
              <a:gd name="csY0" fmla="*/ 0 h 2334731"/>
              <a:gd name="csX1" fmla="*/ 4943128 w 4943128"/>
              <a:gd name="csY1" fmla="*/ 0 h 2334731"/>
              <a:gd name="csX2" fmla="*/ 4943128 w 4943128"/>
              <a:gd name="csY2" fmla="*/ 2334731 h 2334731"/>
              <a:gd name="csX3" fmla="*/ 0 w 4943128"/>
              <a:gd name="csY3" fmla="*/ 2334731 h 2334731"/>
              <a:gd name="csX4" fmla="*/ 0 w 4943128"/>
              <a:gd name="csY4" fmla="*/ 570585 h 2334731"/>
              <a:gd name="csX5" fmla="*/ 1957040 w 4943128"/>
              <a:gd name="csY5" fmla="*/ 570585 h 2334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4943128" h="2334731">
                <a:moveTo>
                  <a:pt x="1957040" y="0"/>
                </a:moveTo>
                <a:lnTo>
                  <a:pt x="4943128" y="0"/>
                </a:lnTo>
                <a:lnTo>
                  <a:pt x="4943128" y="2334731"/>
                </a:lnTo>
                <a:lnTo>
                  <a:pt x="0" y="2334731"/>
                </a:lnTo>
                <a:lnTo>
                  <a:pt x="0" y="570585"/>
                </a:lnTo>
                <a:lnTo>
                  <a:pt x="1957040" y="570585"/>
                </a:lnTo>
                <a:close/>
              </a:path>
            </a:pathLst>
          </a:custGeom>
          <a:effectLst>
            <a:glow rad="152400">
              <a:srgbClr val="FF4655">
                <a:alpha val="45000"/>
              </a:srgbClr>
            </a:glow>
          </a:effectLst>
        </p:spPr>
      </p:pic>
      <p:pic>
        <p:nvPicPr>
          <p:cNvPr id="8" name="Immagine 7" descr="Immagine che contiene testo, Carattere, schermata, numero&#10;&#10;Il contenuto generato dall'IA potrebbe non essere corretto.">
            <a:extLst>
              <a:ext uri="{FF2B5EF4-FFF2-40B4-BE49-F238E27FC236}">
                <a16:creationId xmlns:a16="http://schemas.microsoft.com/office/drawing/2014/main" id="{B387864D-FF79-839C-8DEA-0207DAC50F9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76747" y="3907379"/>
            <a:ext cx="10186336" cy="2655947"/>
          </a:xfrm>
          <a:prstGeom prst="rect">
            <a:avLst/>
          </a:prstGeom>
          <a:effectLst>
            <a:glow rad="152400">
              <a:srgbClr val="FF4655">
                <a:alpha val="45000"/>
              </a:srgbClr>
            </a:glow>
          </a:effectLst>
        </p:spPr>
      </p:pic>
      <p:sp>
        <p:nvSpPr>
          <p:cNvPr id="15" name="Elaborazione alternativa 14">
            <a:extLst>
              <a:ext uri="{FF2B5EF4-FFF2-40B4-BE49-F238E27FC236}">
                <a16:creationId xmlns:a16="http://schemas.microsoft.com/office/drawing/2014/main" id="{4CEC911D-419B-E825-9762-F443D7CEC3A9}"/>
              </a:ext>
            </a:extLst>
          </p:cNvPr>
          <p:cNvSpPr/>
          <p:nvPr/>
        </p:nvSpPr>
        <p:spPr>
          <a:xfrm>
            <a:off x="7067551" y="1205826"/>
            <a:ext cx="4795532" cy="2334731"/>
          </a:xfrm>
          <a:prstGeom prst="flowChartAlternateProcess">
            <a:avLst/>
          </a:prstGeom>
          <a:solidFill>
            <a:srgbClr val="FF4655"/>
          </a:solidFill>
          <a:ln w="25400">
            <a:solidFill>
              <a:srgbClr val="C13A48"/>
            </a:solidFill>
          </a:ln>
          <a:effectLst>
            <a:glow rad="76200">
              <a:srgbClr val="FF4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0EA1336-467E-3D33-11BD-A8D6D269C5FB}"/>
              </a:ext>
            </a:extLst>
          </p:cNvPr>
          <p:cNvSpPr txBox="1"/>
          <p:nvPr/>
        </p:nvSpPr>
        <p:spPr>
          <a:xfrm>
            <a:off x="7364859" y="1498068"/>
            <a:ext cx="44869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Soglia (</a:t>
            </a:r>
            <a:r>
              <a:rPr lang="it-IT" b="1" dirty="0" err="1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cut</a:t>
            </a:r>
            <a:r>
              <a:rPr lang="it-IT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-off): </a:t>
            </a:r>
            <a:r>
              <a:rPr lang="it-IT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ottimizzata con l’indice di </a:t>
            </a:r>
            <a:r>
              <a:rPr lang="it-IT" b="1" i="1" dirty="0" err="1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Youden</a:t>
            </a:r>
            <a:r>
              <a:rPr lang="it-IT" b="1" i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it-IT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(anziché lo standard di 0.5).</a:t>
            </a:r>
          </a:p>
          <a:p>
            <a:r>
              <a:rPr lang="it-IT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Obiettivo: </a:t>
            </a:r>
            <a:r>
              <a:rPr lang="it-IT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massimizzare l'equilibrio tra sensitività e specificità.</a:t>
            </a:r>
          </a:p>
          <a:p>
            <a:r>
              <a:rPr lang="it-IT" b="1" dirty="0">
                <a:solidFill>
                  <a:srgbClr val="1C252E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Metodo: </a:t>
            </a:r>
            <a:r>
              <a:rPr lang="it-IT" b="1" dirty="0">
                <a:solidFill>
                  <a:schemeClr val="bg1"/>
                </a:solidFill>
                <a:effectLst>
                  <a:glow rad="127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soglia calibrata sul Training Set, ma applicata sul Test Set.</a:t>
            </a:r>
            <a:endParaRPr lang="it-IT" sz="1600" dirty="0">
              <a:solidFill>
                <a:schemeClr val="bg1"/>
              </a:solidFill>
            </a:endParaRPr>
          </a:p>
          <a:p>
            <a:endParaRPr lang="it-IT" dirty="0"/>
          </a:p>
        </p:txBody>
      </p:sp>
      <p:sp>
        <p:nvSpPr>
          <p:cNvPr id="19" name="!!Connettore 1">
            <a:extLst>
              <a:ext uri="{FF2B5EF4-FFF2-40B4-BE49-F238E27FC236}">
                <a16:creationId xmlns:a16="http://schemas.microsoft.com/office/drawing/2014/main" id="{32CDF0D6-2FCA-2180-867E-93B0BF904D33}"/>
              </a:ext>
            </a:extLst>
          </p:cNvPr>
          <p:cNvSpPr/>
          <p:nvPr/>
        </p:nvSpPr>
        <p:spPr>
          <a:xfrm flipV="1">
            <a:off x="7272313" y="1647825"/>
            <a:ext cx="71112" cy="76572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!!Connettore 2">
            <a:extLst>
              <a:ext uri="{FF2B5EF4-FFF2-40B4-BE49-F238E27FC236}">
                <a16:creationId xmlns:a16="http://schemas.microsoft.com/office/drawing/2014/main" id="{E37144F2-EA1B-C6A9-CD9C-9D7698D88E60}"/>
              </a:ext>
            </a:extLst>
          </p:cNvPr>
          <p:cNvSpPr/>
          <p:nvPr/>
        </p:nvSpPr>
        <p:spPr>
          <a:xfrm flipV="1">
            <a:off x="7272313" y="2187757"/>
            <a:ext cx="71112" cy="76572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!!Connettore 3">
            <a:extLst>
              <a:ext uri="{FF2B5EF4-FFF2-40B4-BE49-F238E27FC236}">
                <a16:creationId xmlns:a16="http://schemas.microsoft.com/office/drawing/2014/main" id="{1648B8A6-A7AA-10D2-1BC7-D74BE97F77F0}"/>
              </a:ext>
            </a:extLst>
          </p:cNvPr>
          <p:cNvSpPr/>
          <p:nvPr/>
        </p:nvSpPr>
        <p:spPr>
          <a:xfrm flipV="1">
            <a:off x="7272126" y="2750344"/>
            <a:ext cx="71112" cy="76572"/>
          </a:xfrm>
          <a:prstGeom prst="flowChartConnector">
            <a:avLst/>
          </a:prstGeom>
          <a:solidFill>
            <a:srgbClr val="1C252E"/>
          </a:solidFill>
          <a:ln>
            <a:solidFill>
              <a:srgbClr val="0F19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" name="Immagine 2" descr="Immagine che contiene arte, bianco e nero&#10;&#10;Il contenuto generato dall'IA potrebbe non essere corretto.">
            <a:hlinkClick r:id="rId14" action="ppaction://hlinksldjump"/>
            <a:extLst>
              <a:ext uri="{FF2B5EF4-FFF2-40B4-BE49-F238E27FC236}">
                <a16:creationId xmlns:a16="http://schemas.microsoft.com/office/drawing/2014/main" id="{A2D2DD7D-51F7-7043-67F2-43A495F4AEC1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4" name="Immagine 3" descr="Immagine che contiene bianco, Utensile da cucina, bianco e nero, monocromatico&#10;&#10;Il contenuto generato dall'IA potrebbe non essere corretto.">
            <a:hlinkClick r:id="rId16" action="ppaction://hlinksldjump"/>
            <a:extLst>
              <a:ext uri="{FF2B5EF4-FFF2-40B4-BE49-F238E27FC236}">
                <a16:creationId xmlns:a16="http://schemas.microsoft.com/office/drawing/2014/main" id="{4CC872FD-258F-D10D-40E9-D85AA9AEA881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5" name="Immagine 4" descr="Immagine che contiene ingranaggio, oggetti in metallo, cerchio, ruota&#10;&#10;Il contenuto generato dall'IA potrebbe non essere corretto.">
            <a:hlinkClick r:id="rId18" action="ppaction://hlinksldjump"/>
            <a:extLst>
              <a:ext uri="{FF2B5EF4-FFF2-40B4-BE49-F238E27FC236}">
                <a16:creationId xmlns:a16="http://schemas.microsoft.com/office/drawing/2014/main" id="{451A6CDC-CB3E-E735-B3F8-6024279E0E8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7" name="Immagine 6" descr="Immagine che contiene cerchio, bianco e nero&#10;&#10;Il contenuto generato dall'IA potrebbe non essere corretto.">
            <a:hlinkClick r:id="rId20" action="ppaction://hlinksldjump"/>
            <a:extLst>
              <a:ext uri="{FF2B5EF4-FFF2-40B4-BE49-F238E27FC236}">
                <a16:creationId xmlns:a16="http://schemas.microsoft.com/office/drawing/2014/main" id="{85EA5820-9A1A-879D-6B9E-A9655D1E382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9" name="Immagine 8" descr="Immagine che contiene schermata, design&#10;&#10;Il contenuto generato dall'IA potrebbe non essere corretto.">
            <a:hlinkClick r:id="rId22" action="ppaction://hlinksldjump"/>
            <a:extLst>
              <a:ext uri="{FF2B5EF4-FFF2-40B4-BE49-F238E27FC236}">
                <a16:creationId xmlns:a16="http://schemas.microsoft.com/office/drawing/2014/main" id="{C6887A39-4079-5EC9-60B4-77D8824E949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10" name="Immagine 9" descr="Immagine che contiene schermata, Rettangolo, design&#10;&#10;Il contenuto generato dall'IA potrebbe non essere corretto.">
            <a:hlinkClick r:id="rId24" action="ppaction://hlinksldjump"/>
            <a:extLst>
              <a:ext uri="{FF2B5EF4-FFF2-40B4-BE49-F238E27FC236}">
                <a16:creationId xmlns:a16="http://schemas.microsoft.com/office/drawing/2014/main" id="{302906B7-F7F0-8CA1-FED1-3B89DBF225B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11" name="Immagine 10" descr="Immagine che contiene triangolo&#10;&#10;Il contenuto generato dall'IA potrebbe non essere corretto.">
            <a:hlinkClick r:id="rId26" action="ppaction://hlinksldjump"/>
            <a:extLst>
              <a:ext uri="{FF2B5EF4-FFF2-40B4-BE49-F238E27FC236}">
                <a16:creationId xmlns:a16="http://schemas.microsoft.com/office/drawing/2014/main" id="{8FB0BF33-BFC2-15F7-C514-60C6F3A5AEB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21" name="Immagine 20" descr="Immagine che contiene schermata, design&#10;&#10;Il contenuto generato dall'IA potrebbe non essere corretto.">
            <a:hlinkClick r:id="rId28" action="ppaction://hlinksldjump"/>
            <a:extLst>
              <a:ext uri="{FF2B5EF4-FFF2-40B4-BE49-F238E27FC236}">
                <a16:creationId xmlns:a16="http://schemas.microsoft.com/office/drawing/2014/main" id="{82060C1A-0644-9B9A-82D1-B62119028EE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406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141D8-E616-33CA-A8DF-635E18E56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EEC4670F-4D2C-193E-88A5-7FBA2E0284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21" y="958237"/>
            <a:ext cx="7770881" cy="6105692"/>
          </a:xfrm>
          <a:prstGeom prst="rect">
            <a:avLst/>
          </a:prstGeom>
          <a:noFill/>
          <a:effectLst>
            <a:glow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angolo rettangolo 2">
            <a:extLst>
              <a:ext uri="{FF2B5EF4-FFF2-40B4-BE49-F238E27FC236}">
                <a16:creationId xmlns:a16="http://schemas.microsoft.com/office/drawing/2014/main" id="{3049AC8D-CBC7-6517-2401-7C9F07091E30}"/>
              </a:ext>
            </a:extLst>
          </p:cNvPr>
          <p:cNvSpPr>
            <a:spLocks/>
          </p:cNvSpPr>
          <p:nvPr/>
        </p:nvSpPr>
        <p:spPr>
          <a:xfrm flipH="1">
            <a:off x="4829167" y="-1933575"/>
            <a:ext cx="8048625" cy="11934824"/>
          </a:xfrm>
          <a:prstGeom prst="rtTriangle">
            <a:avLst/>
          </a:prstGeom>
          <a:solidFill>
            <a:srgbClr val="FF4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0E25484C-2CEA-9D4D-6BB5-9CFD8A950E01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CE998D70-97F1-4B5C-6428-1AB2A26E6CB7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A02EE866-51F2-28F0-8E12-75F2D0F95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D6BC635B-9EFF-FE0B-888B-05E37CD9E6F5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D60F0C3B-CB70-BB50-0F82-F0B6FE5543A4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C1FC1B66-4D6C-66E9-D319-3BC5D1283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2886F274-FB9D-5DFA-96F4-123E50A35C5A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2A5F3E77-24B3-6435-5570-BE7396C38115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D6DC9933-74F3-F10F-DAD6-607207F44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0F4047E4-3228-CE69-ADC0-3673AFA33634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28491056-A70E-5876-50C5-660952DE61CD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A9BB264D-60FF-1A63-C174-0931540D7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476B04A3-15BC-D046-5D8A-F996A49503F4}"/>
              </a:ext>
            </a:extLst>
          </p:cNvPr>
          <p:cNvGrpSpPr/>
          <p:nvPr/>
        </p:nvGrpSpPr>
        <p:grpSpPr>
          <a:xfrm>
            <a:off x="-680972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D3EDE2DF-68ED-CEEF-CA87-B962722802EA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16534D3B-5CA5-C795-2C84-9A980800F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6C773280-43BD-7BC1-F3D0-938B92961FC3}"/>
              </a:ext>
            </a:extLst>
          </p:cNvPr>
          <p:cNvGrpSpPr/>
          <p:nvPr/>
        </p:nvGrpSpPr>
        <p:grpSpPr>
          <a:xfrm>
            <a:off x="-6904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3AF8EF1D-2584-15BB-C120-C6666E368116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01AB3A79-B245-B316-9202-55F1873C3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C944D47A-5AF7-7C1C-910E-F1ED03680B87}"/>
              </a:ext>
            </a:extLst>
          </p:cNvPr>
          <p:cNvGrpSpPr/>
          <p:nvPr/>
        </p:nvGrpSpPr>
        <p:grpSpPr>
          <a:xfrm>
            <a:off x="628563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039840A9-0515-00A0-7E14-0C800E673903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A6B1A84F-4CC1-2CE7-B56F-C8C50E5DC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D611D4E9-5661-B92F-5A31-1EE3C13CE6B6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F10BB3D0-207F-CC4A-9086-45D93E7A92F2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08626DF2-6621-B713-EEBF-E7F52D45A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B4AC788E-7915-85D3-0075-A92CF7282421}"/>
              </a:ext>
            </a:extLst>
          </p:cNvPr>
          <p:cNvGrpSpPr/>
          <p:nvPr/>
        </p:nvGrpSpPr>
        <p:grpSpPr>
          <a:xfrm>
            <a:off x="-7133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98895E89-753E-AA53-C863-41C568DD71B8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557407EB-DEA9-26E0-4937-6518590E8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EFA71A00-CB96-5DDB-33D9-8FFC39618CA9}"/>
              </a:ext>
            </a:extLst>
          </p:cNvPr>
          <p:cNvSpPr/>
          <p:nvPr/>
        </p:nvSpPr>
        <p:spPr>
          <a:xfrm rot="10800000">
            <a:off x="2838" y="-373140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38" name="Immagine 37" descr="Immagine che contiene design, linea, bianco, Rettangolo&#10;&#10;Il contenuto generato dall'IA potrebbe non essere corretto.">
            <a:hlinkClick r:id="rId12" action="ppaction://hlinksldjump"/>
            <a:extLst>
              <a:ext uri="{FF2B5EF4-FFF2-40B4-BE49-F238E27FC236}">
                <a16:creationId xmlns:a16="http://schemas.microsoft.com/office/drawing/2014/main" id="{A43CCC94-2DEE-0BEC-3F0A-77B2034D4540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42" name="Immagine 41" descr="Immagine che contiene triangolo&#10;&#10;Il contenuto generato dall'IA potrebbe non essere corretto.">
            <a:extLst>
              <a:ext uri="{FF2B5EF4-FFF2-40B4-BE49-F238E27FC236}">
                <a16:creationId xmlns:a16="http://schemas.microsoft.com/office/drawing/2014/main" id="{F7A80287-32A9-54C3-BAC0-9CD2D454556C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12D8B077-9421-54E7-E4C4-FE36EE427713}"/>
              </a:ext>
            </a:extLst>
          </p:cNvPr>
          <p:cNvSpPr txBox="1"/>
          <p:nvPr/>
        </p:nvSpPr>
        <p:spPr>
          <a:xfrm>
            <a:off x="2486025" y="2644170"/>
            <a:ext cx="817245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96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Conclusioni</a:t>
            </a:r>
          </a:p>
        </p:txBody>
      </p:sp>
      <p:sp>
        <p:nvSpPr>
          <p:cNvPr id="11" name="Rettangolo con angoli in alto arrotondati 10">
            <a:extLst>
              <a:ext uri="{FF2B5EF4-FFF2-40B4-BE49-F238E27FC236}">
                <a16:creationId xmlns:a16="http://schemas.microsoft.com/office/drawing/2014/main" id="{BB3DDD0D-7D56-E4A8-6623-B1F228F1E60A}"/>
              </a:ext>
            </a:extLst>
          </p:cNvPr>
          <p:cNvSpPr/>
          <p:nvPr/>
        </p:nvSpPr>
        <p:spPr>
          <a:xfrm flipV="1">
            <a:off x="1781175" y="-2093184"/>
            <a:ext cx="9611350" cy="1902684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800F647-76D2-70BC-6225-4ABB975E4744}"/>
              </a:ext>
            </a:extLst>
          </p:cNvPr>
          <p:cNvSpPr txBox="1"/>
          <p:nvPr/>
        </p:nvSpPr>
        <p:spPr>
          <a:xfrm>
            <a:off x="1690382" y="-1809749"/>
            <a:ext cx="9792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In conclusione, in </a:t>
            </a:r>
            <a:r>
              <a:rPr lang="it-IT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Valorant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la “ricetta” per la vittoria mostra una chiara gerarchia: il </a:t>
            </a:r>
            <a:r>
              <a:rPr lang="it-IT" b="1" dirty="0">
                <a:solidFill>
                  <a:schemeClr val="bg1"/>
                </a:solidFill>
                <a:effectLst>
                  <a:glow rad="76200">
                    <a:srgbClr val="FFFF00">
                      <a:alpha val="45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TALENTO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individuale si conferma il motore primario. </a:t>
            </a:r>
          </a:p>
          <a:p>
            <a:pPr algn="ctr"/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Tuttavia, questo potenziale viene annullato se manca la coesione interna: un team troppo </a:t>
            </a:r>
            <a:r>
              <a:rPr lang="it-IT" b="1" dirty="0">
                <a:solidFill>
                  <a:schemeClr val="bg1"/>
                </a:solidFill>
                <a:effectLst>
                  <a:glow rad="127000">
                    <a:srgbClr val="156082"/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SBILANCIATO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o tatticamente 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rgbClr val="4EA72E"/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INDISCIPLINATO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agisce come una zavorra che trascina verso la sconfitta.</a:t>
            </a: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3D1D13FD-CD84-1433-4727-739A2EF7B5E3}"/>
              </a:ext>
            </a:extLst>
          </p:cNvPr>
          <p:cNvSpPr/>
          <p:nvPr/>
        </p:nvSpPr>
        <p:spPr>
          <a:xfrm>
            <a:off x="6305550" y="8341553"/>
            <a:ext cx="1267450" cy="1267450"/>
          </a:xfrm>
          <a:prstGeom prst="ellipse">
            <a:avLst/>
          </a:prstGeom>
          <a:solidFill>
            <a:srgbClr val="FFFF00">
              <a:alpha val="50000"/>
            </a:srgbClr>
          </a:solidFill>
          <a:ln>
            <a:solidFill>
              <a:schemeClr val="accent2">
                <a:lumMod val="7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331FEEB3-B9ED-FB6C-EB56-F6AE2ACF9B63}"/>
              </a:ext>
            </a:extLst>
          </p:cNvPr>
          <p:cNvSpPr/>
          <p:nvPr/>
        </p:nvSpPr>
        <p:spPr>
          <a:xfrm>
            <a:off x="9700369" y="10177803"/>
            <a:ext cx="641762" cy="64176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solidFill>
              <a:schemeClr val="accent3"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65255BC5-5E5F-DA41-3515-4A5657743FFB}"/>
              </a:ext>
            </a:extLst>
          </p:cNvPr>
          <p:cNvSpPr/>
          <p:nvPr/>
        </p:nvSpPr>
        <p:spPr>
          <a:xfrm>
            <a:off x="3003821" y="9772348"/>
            <a:ext cx="912412" cy="912412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solidFill>
              <a:srgbClr val="00206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9" name="Immagine 28" descr="Immagine che contiene arte, bianco e nero&#10;&#10;Il contenuto generato dall'IA potrebbe non essere corretto.">
            <a:hlinkClick r:id="rId15" action="ppaction://hlinksldjump"/>
            <a:extLst>
              <a:ext uri="{FF2B5EF4-FFF2-40B4-BE49-F238E27FC236}">
                <a16:creationId xmlns:a16="http://schemas.microsoft.com/office/drawing/2014/main" id="{038CBC3E-AB88-3D44-D477-A2148C9A074E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31" name="Immagine 30" descr="Immagine che contiene bianco, Utensile da cucina, bianco e nero, monocromatico&#10;&#10;Il contenuto generato dall'IA potrebbe non essere corretto.">
            <a:hlinkClick r:id="rId17" action="ppaction://hlinksldjump"/>
            <a:extLst>
              <a:ext uri="{FF2B5EF4-FFF2-40B4-BE49-F238E27FC236}">
                <a16:creationId xmlns:a16="http://schemas.microsoft.com/office/drawing/2014/main" id="{344A6D8A-F363-224F-63B0-09BD8A40CB09}"/>
              </a:ext>
            </a:extLst>
          </p:cNvPr>
          <p:cNvPicPr>
            <a:picLocks noChangeAspect="1"/>
          </p:cNvPicPr>
          <p:nvPr/>
        </p:nvPicPr>
        <p:blipFill>
          <a:blip r:embed="rId1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33" name="Immagine 32" descr="Immagine che contiene ingranaggio, oggetti in metallo, cerchio, ruota&#10;&#10;Il contenuto generato dall'IA potrebbe non essere corretto.">
            <a:hlinkClick r:id="rId19" action="ppaction://hlinksldjump"/>
            <a:extLst>
              <a:ext uri="{FF2B5EF4-FFF2-40B4-BE49-F238E27FC236}">
                <a16:creationId xmlns:a16="http://schemas.microsoft.com/office/drawing/2014/main" id="{08EBC7E5-36D5-DD49-F5F9-32A805274F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35" name="Immagine 34" descr="Immagine che contiene cerchio, bianco e nero&#10;&#10;Il contenuto generato dall'IA potrebbe non essere corretto.">
            <a:hlinkClick r:id="rId21" action="ppaction://hlinksldjump"/>
            <a:extLst>
              <a:ext uri="{FF2B5EF4-FFF2-40B4-BE49-F238E27FC236}">
                <a16:creationId xmlns:a16="http://schemas.microsoft.com/office/drawing/2014/main" id="{7DC6F3E5-719A-3D01-7195-92B88740E6E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37" name="Immagine 36" descr="Immagine che contiene schermata, design&#10;&#10;Il contenuto generato dall'IA potrebbe non essere corretto.">
            <a:hlinkClick r:id="rId23" action="ppaction://hlinksldjump"/>
            <a:extLst>
              <a:ext uri="{FF2B5EF4-FFF2-40B4-BE49-F238E27FC236}">
                <a16:creationId xmlns:a16="http://schemas.microsoft.com/office/drawing/2014/main" id="{8379B62D-D329-C500-CD3D-5740CA80955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39" name="Immagine 38" descr="Immagine che contiene schermata, Rettangolo, design&#10;&#10;Il contenuto generato dall'IA potrebbe non essere corretto.">
            <a:hlinkClick r:id="rId25" action="ppaction://hlinksldjump"/>
            <a:extLst>
              <a:ext uri="{FF2B5EF4-FFF2-40B4-BE49-F238E27FC236}">
                <a16:creationId xmlns:a16="http://schemas.microsoft.com/office/drawing/2014/main" id="{F415F7D0-E618-6F0A-7EC5-F94E62190C9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41" name="Immagine 40" descr="Immagine che contiene schermata, design&#10;&#10;Il contenuto generato dall'IA potrebbe non essere corretto.">
            <a:hlinkClick r:id="rId27" action="ppaction://hlinksldjump"/>
            <a:extLst>
              <a:ext uri="{FF2B5EF4-FFF2-40B4-BE49-F238E27FC236}">
                <a16:creationId xmlns:a16="http://schemas.microsoft.com/office/drawing/2014/main" id="{AAA5627F-6AEB-2B3B-E13C-A35DF4E0108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9" name="!!sdofbalance">
            <a:extLst>
              <a:ext uri="{FF2B5EF4-FFF2-40B4-BE49-F238E27FC236}">
                <a16:creationId xmlns:a16="http://schemas.microsoft.com/office/drawing/2014/main" id="{17151BC8-88E7-F6EE-A176-FAEF302E0190}"/>
              </a:ext>
            </a:extLst>
          </p:cNvPr>
          <p:cNvPicPr>
            <a:picLocks noChangeAspect="1"/>
          </p:cNvPicPr>
          <p:nvPr/>
        </p:nvPicPr>
        <p:blipFill>
          <a:blip r:embed="rId29">
            <a:alphaModFix amt="50000"/>
          </a:blip>
          <a:stretch>
            <a:fillRect/>
          </a:stretch>
        </p:blipFill>
        <p:spPr>
          <a:xfrm>
            <a:off x="2807698" y="9718415"/>
            <a:ext cx="1304657" cy="1066892"/>
          </a:xfrm>
          <a:prstGeom prst="rect">
            <a:avLst/>
          </a:prstGeom>
        </p:spPr>
      </p:pic>
      <p:pic>
        <p:nvPicPr>
          <p:cNvPr id="14" name="!!crown" descr="Immagine che contiene clipart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99D953E8-9DCF-98FD-2157-1E2D469E6733}"/>
              </a:ext>
            </a:extLst>
          </p:cNvPr>
          <p:cNvPicPr>
            <a:picLocks noChangeAspect="1"/>
          </p:cNvPicPr>
          <p:nvPr/>
        </p:nvPicPr>
        <p:blipFill>
          <a:blip r:embed="rId30">
            <a:alphaModFix amt="50000"/>
          </a:blip>
          <a:stretch>
            <a:fillRect/>
          </a:stretch>
        </p:blipFill>
        <p:spPr>
          <a:xfrm>
            <a:off x="5960802" y="8188214"/>
            <a:ext cx="1950889" cy="1603387"/>
          </a:xfrm>
          <a:prstGeom prst="rect">
            <a:avLst/>
          </a:prstGeom>
        </p:spPr>
      </p:pic>
      <p:pic>
        <p:nvPicPr>
          <p:cNvPr id="22" name="!!shield" descr="Immagine che contiene logo, simbolo, emblema&#10;&#10;Il contenuto generato dall'IA potrebbe non essere corretto.">
            <a:extLst>
              <a:ext uri="{FF2B5EF4-FFF2-40B4-BE49-F238E27FC236}">
                <a16:creationId xmlns:a16="http://schemas.microsoft.com/office/drawing/2014/main" id="{EC92446D-E2E2-2ABB-7333-31A5BD2B6CF9}"/>
              </a:ext>
            </a:extLst>
          </p:cNvPr>
          <p:cNvPicPr>
            <a:picLocks noChangeAspect="1"/>
          </p:cNvPicPr>
          <p:nvPr/>
        </p:nvPicPr>
        <p:blipFill>
          <a:blip r:embed="rId31">
            <a:alphaModFix amt="50000"/>
          </a:blip>
          <a:stretch>
            <a:fillRect/>
          </a:stretch>
        </p:blipFill>
        <p:spPr>
          <a:xfrm>
            <a:off x="9527431" y="10162420"/>
            <a:ext cx="987638" cy="81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180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5C9F0-57E5-2CE8-BA79-7BCD485B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con angoli in alto arrotondati 6">
            <a:extLst>
              <a:ext uri="{FF2B5EF4-FFF2-40B4-BE49-F238E27FC236}">
                <a16:creationId xmlns:a16="http://schemas.microsoft.com/office/drawing/2014/main" id="{80D43F05-9722-8F61-D4D4-5078C8224E31}"/>
              </a:ext>
            </a:extLst>
          </p:cNvPr>
          <p:cNvSpPr/>
          <p:nvPr/>
        </p:nvSpPr>
        <p:spPr>
          <a:xfrm flipV="1">
            <a:off x="1781175" y="-121509"/>
            <a:ext cx="9611350" cy="1902684"/>
          </a:xfrm>
          <a:prstGeom prst="round2SameRect">
            <a:avLst/>
          </a:prstGeom>
          <a:solidFill>
            <a:srgbClr val="1C252E"/>
          </a:solidFill>
          <a:ln>
            <a:solidFill>
              <a:srgbClr val="1C25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53A6AB5D-9A6F-A0D0-F888-4C968CEEA1B8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C136CC40-EE26-BD0E-742F-CB666C07D2CC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976A80DA-CB80-5E38-EC36-F08FB5614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A4D6E2ED-2AB8-88AA-4521-40FE3980BD75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90CF9E07-F508-98C9-E272-F822046DF6B0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C7A9E36F-DECB-D8B0-0018-1440C1E696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BD3AED2D-3A71-A538-06F2-AEE5D57FFC35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8A092663-C044-556F-4CC8-6CDAB9D7E533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CFE7D330-C2E1-F2FD-282C-C70A91C37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3E6FC55B-F913-2FCE-78C9-EB89DF9557E8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F9DA6E8C-DE50-BC9F-2A7A-192CFE62761F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4F85F7B1-B970-6648-0805-871F63A08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B4809DA2-E220-6413-5BF0-C049FAEC5DD9}"/>
              </a:ext>
            </a:extLst>
          </p:cNvPr>
          <p:cNvGrpSpPr/>
          <p:nvPr/>
        </p:nvGrpSpPr>
        <p:grpSpPr>
          <a:xfrm>
            <a:off x="-680972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704EEE76-2D45-F71B-5C4B-58316200F8F4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0BAE45E0-6CB9-4CFF-E74C-B8DD83644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B39503F4-FB55-C1F4-DA47-03844A0C5B1F}"/>
              </a:ext>
            </a:extLst>
          </p:cNvPr>
          <p:cNvGrpSpPr/>
          <p:nvPr/>
        </p:nvGrpSpPr>
        <p:grpSpPr>
          <a:xfrm>
            <a:off x="-6904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053F817F-7B0E-C353-B538-4014CAEF84C7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A3E3C99F-F1C8-EDC7-6EF7-AD3A3C97F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28B09A8C-8676-040A-6443-9E6F909CC255}"/>
              </a:ext>
            </a:extLst>
          </p:cNvPr>
          <p:cNvGrpSpPr/>
          <p:nvPr/>
        </p:nvGrpSpPr>
        <p:grpSpPr>
          <a:xfrm>
            <a:off x="628563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B2AE5630-CC1B-657E-70E5-4894B32ED55F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14075929-9884-0AEE-8974-E4FEBE6079F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0" name="Gruppo 59">
            <a:extLst>
              <a:ext uri="{FF2B5EF4-FFF2-40B4-BE49-F238E27FC236}">
                <a16:creationId xmlns:a16="http://schemas.microsoft.com/office/drawing/2014/main" id="{A1981C17-A88A-AD81-9E5A-8AF6B4DC8E09}"/>
              </a:ext>
            </a:extLst>
          </p:cNvPr>
          <p:cNvGrpSpPr/>
          <p:nvPr/>
        </p:nvGrpSpPr>
        <p:grpSpPr>
          <a:xfrm>
            <a:off x="-714462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EA69D0D5-A1E7-B146-1FCF-4D9366FE5231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E3CC8530-06E2-9C53-8E3C-8A174FA4A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C17A03DB-19E8-84BD-94B6-EC77DBAD0AC4}"/>
              </a:ext>
            </a:extLst>
          </p:cNvPr>
          <p:cNvGrpSpPr/>
          <p:nvPr/>
        </p:nvGrpSpPr>
        <p:grpSpPr>
          <a:xfrm>
            <a:off x="-7133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C38FC73B-6BB9-0A3C-8A79-0BC6F36E8AE3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71409B99-3848-1760-A569-377D1FE0C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1B91DC1A-2794-664B-74D1-38474EDA2DD7}"/>
              </a:ext>
            </a:extLst>
          </p:cNvPr>
          <p:cNvSpPr/>
          <p:nvPr/>
        </p:nvSpPr>
        <p:spPr>
          <a:xfrm rot="10800000">
            <a:off x="2838" y="-3731407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42" name="Immagine 41" descr="Immagine che contiene triangolo&#10;&#10;Il contenuto generato dall'IA potrebbe non essere corretto.">
            <a:extLst>
              <a:ext uri="{FF2B5EF4-FFF2-40B4-BE49-F238E27FC236}">
                <a16:creationId xmlns:a16="http://schemas.microsoft.com/office/drawing/2014/main" id="{F11AFA64-25D6-607C-7116-24060C8B3BF5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6E4418D-76BE-F2BF-E628-C318808CAA14}"/>
              </a:ext>
            </a:extLst>
          </p:cNvPr>
          <p:cNvSpPr txBox="1"/>
          <p:nvPr/>
        </p:nvSpPr>
        <p:spPr>
          <a:xfrm>
            <a:off x="1690382" y="161926"/>
            <a:ext cx="9792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In conclusione, in </a:t>
            </a:r>
            <a:r>
              <a:rPr lang="it-IT" b="1" dirty="0" err="1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Valorant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la “ricetta” per la vittoria mostra una chiara gerarchia: il </a:t>
            </a:r>
            <a:r>
              <a:rPr lang="it-IT" b="1" dirty="0">
                <a:solidFill>
                  <a:schemeClr val="bg1"/>
                </a:solidFill>
                <a:effectLst>
                  <a:glow rad="76200">
                    <a:srgbClr val="FFFF00">
                      <a:alpha val="45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TALENTO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individuale si conferma il motore primario. </a:t>
            </a:r>
          </a:p>
          <a:p>
            <a:pPr algn="ctr"/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Tuttavia, questo potenziale viene annullato se manca la coesione interna: un team troppo </a:t>
            </a:r>
            <a:r>
              <a:rPr lang="it-IT" b="1" dirty="0">
                <a:solidFill>
                  <a:schemeClr val="bg1"/>
                </a:solidFill>
                <a:effectLst>
                  <a:glow rad="127000">
                    <a:srgbClr val="156082"/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SBILANCIATO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o tatticamente 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rgbClr val="4EA72E"/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INDISCIPLINATO</a:t>
            </a:r>
            <a:r>
              <a:rPr lang="it-IT" b="1" dirty="0">
                <a:solidFill>
                  <a:schemeClr val="bg1"/>
                </a:solidFill>
                <a:effectLst>
                  <a:glow rad="63500">
                    <a:schemeClr val="tx2">
                      <a:alpha val="40000"/>
                    </a:scheme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 agisce come una zavorra che trascina verso la sconfitta.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2CF57FE6-47CB-4604-9ACF-7A270F42494A}"/>
              </a:ext>
            </a:extLst>
          </p:cNvPr>
          <p:cNvSpPr/>
          <p:nvPr/>
        </p:nvSpPr>
        <p:spPr>
          <a:xfrm>
            <a:off x="5078853" y="2133281"/>
            <a:ext cx="3720843" cy="3720843"/>
          </a:xfrm>
          <a:prstGeom prst="ellipse">
            <a:avLst/>
          </a:prstGeom>
          <a:solidFill>
            <a:srgbClr val="FFFF00"/>
          </a:solidFill>
          <a:ln>
            <a:solidFill>
              <a:schemeClr val="accent2">
                <a:lumMod val="75000"/>
                <a:alpha val="9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Ovale 9">
            <a:extLst>
              <a:ext uri="{FF2B5EF4-FFF2-40B4-BE49-F238E27FC236}">
                <a16:creationId xmlns:a16="http://schemas.microsoft.com/office/drawing/2014/main" id="{1E44A99E-F4BE-1FAE-9C23-DCA924EB266C}"/>
              </a:ext>
            </a:extLst>
          </p:cNvPr>
          <p:cNvSpPr/>
          <p:nvPr/>
        </p:nvSpPr>
        <p:spPr>
          <a:xfrm>
            <a:off x="9079241" y="4575100"/>
            <a:ext cx="1884018" cy="1884018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3">
                <a:alpha val="98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EA8DD178-422C-F346-589B-45B1930CE349}"/>
              </a:ext>
            </a:extLst>
          </p:cNvPr>
          <p:cNvSpPr/>
          <p:nvPr/>
        </p:nvSpPr>
        <p:spPr>
          <a:xfrm>
            <a:off x="2120746" y="3907698"/>
            <a:ext cx="2678562" cy="2678562"/>
          </a:xfrm>
          <a:prstGeom prst="ellipse">
            <a:avLst/>
          </a:prstGeom>
          <a:solidFill>
            <a:schemeClr val="accent1"/>
          </a:solidFill>
          <a:ln>
            <a:solidFill>
              <a:srgbClr val="002060">
                <a:alpha val="98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 descr="Immagine che contiene design, linea, bianco, Rettangolo&#10;&#10;Il contenuto generato dall'IA potrebbe non essere corretto.">
            <a:hlinkClick r:id="rId12" action="ppaction://hlinksldjump"/>
            <a:extLst>
              <a:ext uri="{FF2B5EF4-FFF2-40B4-BE49-F238E27FC236}">
                <a16:creationId xmlns:a16="http://schemas.microsoft.com/office/drawing/2014/main" id="{756D081D-781A-68F1-F6DB-CA1D168298DE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3" name="Immagine 2" descr="Immagine che contiene arte, bianco e nero&#10;&#10;Il contenuto generato dall'IA potrebbe non essere corretto.">
            <a:hlinkClick r:id="rId14" action="ppaction://hlinksldjump"/>
            <a:extLst>
              <a:ext uri="{FF2B5EF4-FFF2-40B4-BE49-F238E27FC236}">
                <a16:creationId xmlns:a16="http://schemas.microsoft.com/office/drawing/2014/main" id="{C5E6DF61-30A2-A896-418C-D5BFB482D870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4" name="Immagine 3" descr="Immagine che contiene bianco, Utensile da cucina, bianco e nero, monocromatico&#10;&#10;Il contenuto generato dall'IA potrebbe non essere corretto.">
            <a:hlinkClick r:id="rId16" action="ppaction://hlinksldjump"/>
            <a:extLst>
              <a:ext uri="{FF2B5EF4-FFF2-40B4-BE49-F238E27FC236}">
                <a16:creationId xmlns:a16="http://schemas.microsoft.com/office/drawing/2014/main" id="{9CDED1C6-0010-AAAE-7EC7-349D94255DFC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8" name="Immagine 7" descr="Immagine che contiene ingranaggio, oggetti in metallo, cerchio, ruota&#10;&#10;Il contenuto generato dall'IA potrebbe non essere corretto.">
            <a:hlinkClick r:id="rId18" action="ppaction://hlinksldjump"/>
            <a:extLst>
              <a:ext uri="{FF2B5EF4-FFF2-40B4-BE49-F238E27FC236}">
                <a16:creationId xmlns:a16="http://schemas.microsoft.com/office/drawing/2014/main" id="{2586582D-5842-1CED-A00E-90DE19D34A1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19" name="Immagine 18" descr="Immagine che contiene cerchio, bianco e nero&#10;&#10;Il contenuto generato dall'IA potrebbe non essere corretto.">
            <a:hlinkClick r:id="rId20" action="ppaction://hlinksldjump"/>
            <a:extLst>
              <a:ext uri="{FF2B5EF4-FFF2-40B4-BE49-F238E27FC236}">
                <a16:creationId xmlns:a16="http://schemas.microsoft.com/office/drawing/2014/main" id="{1466A5BE-59D6-CAE6-CF0D-C63E2EC874F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21" name="Immagine 20" descr="Immagine che contiene schermata, design&#10;&#10;Il contenuto generato dall'IA potrebbe non essere corretto.">
            <a:hlinkClick r:id="rId22" action="ppaction://hlinksldjump"/>
            <a:extLst>
              <a:ext uri="{FF2B5EF4-FFF2-40B4-BE49-F238E27FC236}">
                <a16:creationId xmlns:a16="http://schemas.microsoft.com/office/drawing/2014/main" id="{68F4C59D-3226-DF1B-78F0-E57151F56F5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23" name="Immagine 22" descr="Immagine che contiene schermata, Rettangolo, design&#10;&#10;Il contenuto generato dall'IA potrebbe non essere corretto.">
            <a:hlinkClick r:id="rId24" action="ppaction://hlinksldjump"/>
            <a:extLst>
              <a:ext uri="{FF2B5EF4-FFF2-40B4-BE49-F238E27FC236}">
                <a16:creationId xmlns:a16="http://schemas.microsoft.com/office/drawing/2014/main" id="{F84C41A1-3642-705E-9CBC-28844D6F169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25" name="Immagine 24" descr="Immagine che contiene schermata, design&#10;&#10;Il contenuto generato dall'IA potrebbe non essere corretto.">
            <a:hlinkClick r:id="rId26" action="ppaction://hlinksldjump"/>
            <a:extLst>
              <a:ext uri="{FF2B5EF4-FFF2-40B4-BE49-F238E27FC236}">
                <a16:creationId xmlns:a16="http://schemas.microsoft.com/office/drawing/2014/main" id="{F44E6CEB-8D86-1880-5990-99A72C4EF89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26" name="!!crown" descr="Immagine che contiene clipart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1B95D73F-032B-22A1-A48E-A84A4629B1A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79719" y="1361198"/>
            <a:ext cx="6480610" cy="5334462"/>
          </a:xfrm>
          <a:prstGeom prst="rect">
            <a:avLst/>
          </a:prstGeom>
        </p:spPr>
      </p:pic>
      <p:pic>
        <p:nvPicPr>
          <p:cNvPr id="31" name="!!sdofbalance" descr="Immagine che contiene design&#10;&#10;Il contenuto generato dall'IA potrebbe non essere corretto.">
            <a:extLst>
              <a:ext uri="{FF2B5EF4-FFF2-40B4-BE49-F238E27FC236}">
                <a16:creationId xmlns:a16="http://schemas.microsoft.com/office/drawing/2014/main" id="{FF00CA7C-F14B-F7EC-E39B-5DA206B738D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62156" y="3498643"/>
            <a:ext cx="4541914" cy="3737172"/>
          </a:xfrm>
          <a:prstGeom prst="rect">
            <a:avLst/>
          </a:prstGeom>
        </p:spPr>
      </p:pic>
      <p:pic>
        <p:nvPicPr>
          <p:cNvPr id="34" name="!!shield" descr="Immagine che contiene logo, simbolo, emblema, design&#10;&#10;Il contenuto generato dall'IA potrebbe non essere corretto.">
            <a:extLst>
              <a:ext uri="{FF2B5EF4-FFF2-40B4-BE49-F238E27FC236}">
                <a16:creationId xmlns:a16="http://schemas.microsoft.com/office/drawing/2014/main" id="{A47DF277-12F9-429E-DFF0-1A151B8668F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55035" y="4509807"/>
            <a:ext cx="2932430" cy="24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601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7FA817-AC6E-9DA3-627B-405A9958B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po 14">
            <a:extLst>
              <a:ext uri="{FF2B5EF4-FFF2-40B4-BE49-F238E27FC236}">
                <a16:creationId xmlns:a16="http://schemas.microsoft.com/office/drawing/2014/main" id="{DAAAF47F-B7FE-C457-8040-4D0D72429A68}"/>
              </a:ext>
            </a:extLst>
          </p:cNvPr>
          <p:cNvGrpSpPr/>
          <p:nvPr/>
        </p:nvGrpSpPr>
        <p:grpSpPr>
          <a:xfrm>
            <a:off x="634913" y="5921159"/>
            <a:ext cx="620888" cy="620888"/>
            <a:chOff x="-714462" y="5921159"/>
            <a:chExt cx="620888" cy="620888"/>
          </a:xfrm>
        </p:grpSpPr>
        <p:sp>
          <p:nvSpPr>
            <p:cNvPr id="17" name="Connettore 16">
              <a:extLst>
                <a:ext uri="{FF2B5EF4-FFF2-40B4-BE49-F238E27FC236}">
                  <a16:creationId xmlns:a16="http://schemas.microsoft.com/office/drawing/2014/main" id="{CC11425E-0FE7-9CAE-5189-C8CE9FD10314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9" name="Immagine 18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CEE6EB4E-A1B2-ACAD-8C97-0ACBA364A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sp>
        <p:nvSpPr>
          <p:cNvPr id="3" name="Triangolo rettangolo 2">
            <a:extLst>
              <a:ext uri="{FF2B5EF4-FFF2-40B4-BE49-F238E27FC236}">
                <a16:creationId xmlns:a16="http://schemas.microsoft.com/office/drawing/2014/main" id="{D403E888-9475-C793-0066-4AF86C3F3162}"/>
              </a:ext>
            </a:extLst>
          </p:cNvPr>
          <p:cNvSpPr>
            <a:spLocks/>
          </p:cNvSpPr>
          <p:nvPr/>
        </p:nvSpPr>
        <p:spPr>
          <a:xfrm flipH="1">
            <a:off x="4829167" y="-1933575"/>
            <a:ext cx="8048625" cy="11934824"/>
          </a:xfrm>
          <a:prstGeom prst="rtTriangle">
            <a:avLst/>
          </a:prstGeom>
          <a:solidFill>
            <a:srgbClr val="FF46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C49E3280-ED9E-4BDD-DFC8-0AD4B5804F0C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16956FDE-8846-96E5-E826-E6578898B60C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32F1CADD-E7CF-0D04-F689-E0DCB7BC4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912F23F7-8F41-9CF5-AAC1-E67C2205ECA7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CBE57C0B-EF7D-FC53-83C7-0F7A65EC4340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08BA39C1-9286-B36A-B9C7-F0FC470E7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251A54EE-C144-D193-5DFD-93999F2F922B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5718D115-5A1C-E369-9E0E-38EF4A191E65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566CA8B4-E40A-4070-09F4-32B18FC6F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1537F9D0-4BE2-6FD4-9663-58EE3B3ECDD5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42201090-ED32-3397-7D6C-23ABCA4E9BF2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91F9FA5D-C8DB-62D3-5A4A-85C90CC94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3CCAE4C7-2F88-5460-146D-B51D6C73967B}"/>
              </a:ext>
            </a:extLst>
          </p:cNvPr>
          <p:cNvGrpSpPr/>
          <p:nvPr/>
        </p:nvGrpSpPr>
        <p:grpSpPr>
          <a:xfrm>
            <a:off x="-680972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89970016-6E9A-CAB4-D38E-11E823DA1738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68212FB7-3757-33AC-F4F8-ABF38B09F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6FB757A8-F14E-FF9E-E54A-A3CD24272BCF}"/>
              </a:ext>
            </a:extLst>
          </p:cNvPr>
          <p:cNvGrpSpPr/>
          <p:nvPr/>
        </p:nvGrpSpPr>
        <p:grpSpPr>
          <a:xfrm>
            <a:off x="-6904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79EB7213-1AE5-5192-6601-98C127792F61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DDC78295-3584-7B52-B1C5-246611BC1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77215E14-FEE2-E16E-C976-E84058E2C239}"/>
              </a:ext>
            </a:extLst>
          </p:cNvPr>
          <p:cNvGrpSpPr/>
          <p:nvPr/>
        </p:nvGrpSpPr>
        <p:grpSpPr>
          <a:xfrm>
            <a:off x="-6763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925B13B1-62A0-9238-33BA-7E8866C329A6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C21BDF20-C99D-3FE1-BE81-58FD6EFDD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332D19CD-DF08-FD8F-E736-701085297325}"/>
              </a:ext>
            </a:extLst>
          </p:cNvPr>
          <p:cNvGrpSpPr/>
          <p:nvPr/>
        </p:nvGrpSpPr>
        <p:grpSpPr>
          <a:xfrm>
            <a:off x="-7133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ACA872BE-D822-29A6-D099-BC78E7E842D6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A0FA81AB-F26C-859C-D1DC-548C4E0E66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AF7DA158-BE0A-51BC-05D1-0EE6D46C6EF5}"/>
              </a:ext>
            </a:extLst>
          </p:cNvPr>
          <p:cNvSpPr/>
          <p:nvPr/>
        </p:nvSpPr>
        <p:spPr>
          <a:xfrm rot="10800000">
            <a:off x="2838" y="-299798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46" name="Immagine 45" descr="Immagine che contiene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593E439E-D257-201E-4678-8230694DDA98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pic>
        <p:nvPicPr>
          <p:cNvPr id="4" name="Immagine 3" descr="Immagine che contiene design, linea, bianco, Rettangolo&#10;&#10;Il contenuto generato dall'IA potrebbe non essere corretto.">
            <a:hlinkClick r:id="rId12" action="ppaction://hlinksldjump"/>
            <a:extLst>
              <a:ext uri="{FF2B5EF4-FFF2-40B4-BE49-F238E27FC236}">
                <a16:creationId xmlns:a16="http://schemas.microsoft.com/office/drawing/2014/main" id="{54D25327-2A5B-DA1A-8D60-AAE7CC0A2118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7" name="Immagine 6" descr="Immagine che contiene arte, bianco e nero&#10;&#10;Il contenuto generato dall'IA potrebbe non essere corretto.">
            <a:hlinkClick r:id="rId14" action="ppaction://hlinksldjump"/>
            <a:extLst>
              <a:ext uri="{FF2B5EF4-FFF2-40B4-BE49-F238E27FC236}">
                <a16:creationId xmlns:a16="http://schemas.microsoft.com/office/drawing/2014/main" id="{C7B1106B-2B29-723D-0327-D4521716475C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8" name="Immagine 7" descr="Immagine che contiene bianco, Utensile da cucina, bianco e nero, monocromatico&#10;&#10;Il contenuto generato dall'IA potrebbe non essere corretto.">
            <a:hlinkClick r:id="rId16" action="ppaction://hlinksldjump"/>
            <a:extLst>
              <a:ext uri="{FF2B5EF4-FFF2-40B4-BE49-F238E27FC236}">
                <a16:creationId xmlns:a16="http://schemas.microsoft.com/office/drawing/2014/main" id="{3A3BB920-A300-5757-923A-13982F0E9521}"/>
              </a:ext>
            </a:extLst>
          </p:cNvPr>
          <p:cNvPicPr>
            <a:picLocks noChangeAspect="1"/>
          </p:cNvPicPr>
          <p:nvPr/>
        </p:nvPicPr>
        <p:blipFill>
          <a:blip r:embed="rId1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9" name="Immagine 8" descr="Immagine che contiene ingranaggio, oggetti in metallo, cerchio, ruota&#10;&#10;Il contenuto generato dall'IA potrebbe non essere corretto.">
            <a:hlinkClick r:id="rId18" action="ppaction://hlinksldjump"/>
            <a:extLst>
              <a:ext uri="{FF2B5EF4-FFF2-40B4-BE49-F238E27FC236}">
                <a16:creationId xmlns:a16="http://schemas.microsoft.com/office/drawing/2014/main" id="{C3C174E2-2929-4BD7-E950-AFBFA74AD44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10" name="Immagine 9" descr="Immagine che contiene cerchio, bianco e nero&#10;&#10;Il contenuto generato dall'IA potrebbe non essere corretto.">
            <a:hlinkClick r:id="rId20" action="ppaction://hlinksldjump"/>
            <a:extLst>
              <a:ext uri="{FF2B5EF4-FFF2-40B4-BE49-F238E27FC236}">
                <a16:creationId xmlns:a16="http://schemas.microsoft.com/office/drawing/2014/main" id="{ACF807AB-CD91-54A0-02C7-286F71DB579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11" name="Immagine 10" descr="Immagine che contiene schermata, design&#10;&#10;Il contenuto generato dall'IA potrebbe non essere corretto.">
            <a:hlinkClick r:id="rId22" action="ppaction://hlinksldjump"/>
            <a:extLst>
              <a:ext uri="{FF2B5EF4-FFF2-40B4-BE49-F238E27FC236}">
                <a16:creationId xmlns:a16="http://schemas.microsoft.com/office/drawing/2014/main" id="{4D80098E-455F-C0CD-04E9-7FB1BB10826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13" name="Immagine 12" descr="Immagine che contiene schermata, Rettangolo, design&#10;&#10;Il contenuto generato dall'IA potrebbe non essere corretto.">
            <a:hlinkClick r:id="rId24" action="ppaction://hlinksldjump"/>
            <a:extLst>
              <a:ext uri="{FF2B5EF4-FFF2-40B4-BE49-F238E27FC236}">
                <a16:creationId xmlns:a16="http://schemas.microsoft.com/office/drawing/2014/main" id="{B3711E97-2D3D-2DDE-110D-CFA0055E989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21" name="Immagine 20" descr="Immagine che contiene triangolo&#10;&#10;Il contenuto generato dall'IA potrebbe non essere corretto.">
            <a:hlinkClick r:id="rId26" action="ppaction://hlinksldjump"/>
            <a:extLst>
              <a:ext uri="{FF2B5EF4-FFF2-40B4-BE49-F238E27FC236}">
                <a16:creationId xmlns:a16="http://schemas.microsoft.com/office/drawing/2014/main" id="{A8713D71-7510-0495-EA0E-1BC38DFAA62F}"/>
              </a:ext>
            </a:extLst>
          </p:cNvPr>
          <p:cNvPicPr>
            <a:picLocks noChangeAspect="1"/>
          </p:cNvPicPr>
          <p:nvPr/>
        </p:nvPicPr>
        <p:blipFill>
          <a:blip r:embed="rId2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D9030B73-2E1B-2561-B27D-12C12211922F}"/>
              </a:ext>
            </a:extLst>
          </p:cNvPr>
          <p:cNvPicPr>
            <a:picLocks noChangeAspect="1"/>
          </p:cNvPicPr>
          <p:nvPr/>
        </p:nvPicPr>
        <p:blipFill>
          <a:blip r:embed="rId28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721" y="958237"/>
            <a:ext cx="7770881" cy="6105692"/>
          </a:xfrm>
          <a:prstGeom prst="rect">
            <a:avLst/>
          </a:prstGeom>
          <a:noFill/>
          <a:effectLst>
            <a:glow>
              <a:schemeClr val="accent1">
                <a:alpha val="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50DE3C8-2808-FD44-7FA9-0C43986CD3AD}"/>
              </a:ext>
            </a:extLst>
          </p:cNvPr>
          <p:cNvSpPr txBox="1"/>
          <p:nvPr/>
        </p:nvSpPr>
        <p:spPr>
          <a:xfrm>
            <a:off x="2486025" y="2644170"/>
            <a:ext cx="8172450" cy="1569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9600" b="1" dirty="0">
                <a:solidFill>
                  <a:schemeClr val="bg1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Bibliografia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D0C4DFEA-7E95-752A-25BB-C83ED29D501A}"/>
              </a:ext>
            </a:extLst>
          </p:cNvPr>
          <p:cNvSpPr txBox="1"/>
          <p:nvPr/>
        </p:nvSpPr>
        <p:spPr>
          <a:xfrm>
            <a:off x="13195139" y="408544"/>
            <a:ext cx="10598851" cy="6422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Canty, A., &amp; Ripley, B. (2025). </a:t>
            </a:r>
            <a:r>
              <a:rPr lang="it-IT" sz="1200" i="1" dirty="0">
                <a:solidFill>
                  <a:schemeClr val="bg1"/>
                </a:solidFill>
              </a:rPr>
              <a:t>boot: Bootstrap </a:t>
            </a:r>
            <a:r>
              <a:rPr lang="it-IT" sz="1200" i="1" dirty="0" err="1">
                <a:solidFill>
                  <a:schemeClr val="bg1"/>
                </a:solidFill>
              </a:rPr>
              <a:t>Functions</a:t>
            </a:r>
            <a:r>
              <a:rPr lang="it-IT" sz="1200" dirty="0">
                <a:solidFill>
                  <a:schemeClr val="bg1"/>
                </a:solidFill>
              </a:rPr>
              <a:t> (R package </a:t>
            </a:r>
            <a:r>
              <a:rPr lang="it-IT" sz="1200" dirty="0" err="1">
                <a:solidFill>
                  <a:schemeClr val="bg1"/>
                </a:solidFill>
              </a:rPr>
              <a:t>version</a:t>
            </a:r>
            <a:r>
              <a:rPr lang="it-IT" sz="1200" dirty="0">
                <a:solidFill>
                  <a:schemeClr val="bg1"/>
                </a:solidFill>
              </a:rPr>
              <a:t> 1.3-32). </a:t>
            </a:r>
            <a:r>
              <a:rPr lang="it-IT" sz="1200" dirty="0">
                <a:solidFill>
                  <a:schemeClr val="bg1"/>
                </a:solidFill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https://doi.org/10.32614/CRAN.package.boot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Fox, J., &amp; Weisberg, S. (2019). </a:t>
            </a:r>
            <a:r>
              <a:rPr lang="it-IT" sz="1200" i="1" dirty="0">
                <a:solidFill>
                  <a:schemeClr val="bg1"/>
                </a:solidFill>
              </a:rPr>
              <a:t>An R </a:t>
            </a:r>
            <a:r>
              <a:rPr lang="it-IT" sz="1200" i="1" dirty="0" err="1">
                <a:solidFill>
                  <a:schemeClr val="bg1"/>
                </a:solidFill>
              </a:rPr>
              <a:t>companion</a:t>
            </a:r>
            <a:r>
              <a:rPr lang="it-IT" sz="1200" i="1" dirty="0">
                <a:solidFill>
                  <a:schemeClr val="bg1"/>
                </a:solidFill>
              </a:rPr>
              <a:t> to </a:t>
            </a:r>
            <a:r>
              <a:rPr lang="it-IT" sz="1200" i="1" dirty="0" err="1">
                <a:solidFill>
                  <a:schemeClr val="bg1"/>
                </a:solidFill>
              </a:rPr>
              <a:t>applied</a:t>
            </a:r>
            <a:r>
              <a:rPr lang="it-IT" sz="1200" i="1" dirty="0">
                <a:solidFill>
                  <a:schemeClr val="bg1"/>
                </a:solidFill>
              </a:rPr>
              <a:t> </a:t>
            </a:r>
            <a:r>
              <a:rPr lang="it-IT" sz="1200" i="1" dirty="0" err="1">
                <a:solidFill>
                  <a:schemeClr val="bg1"/>
                </a:solidFill>
              </a:rPr>
              <a:t>regression</a:t>
            </a:r>
            <a:r>
              <a:rPr lang="it-IT" sz="1200" dirty="0">
                <a:solidFill>
                  <a:schemeClr val="bg1"/>
                </a:solidFill>
              </a:rPr>
              <a:t> (3rd ed.). Sage. </a:t>
            </a:r>
            <a:r>
              <a:rPr lang="it-IT" sz="1200" dirty="0">
                <a:solidFill>
                  <a:schemeClr val="bg1"/>
                </a:solidFill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https://www.john-fox.ca/Companion/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Friedman, J., </a:t>
            </a:r>
            <a:r>
              <a:rPr lang="it-IT" sz="1200" dirty="0" err="1">
                <a:solidFill>
                  <a:schemeClr val="bg1"/>
                </a:solidFill>
              </a:rPr>
              <a:t>Hastie</a:t>
            </a:r>
            <a:r>
              <a:rPr lang="it-IT" sz="1200" dirty="0">
                <a:solidFill>
                  <a:schemeClr val="bg1"/>
                </a:solidFill>
              </a:rPr>
              <a:t>, T., &amp; </a:t>
            </a:r>
            <a:r>
              <a:rPr lang="it-IT" sz="1200" dirty="0" err="1">
                <a:solidFill>
                  <a:schemeClr val="bg1"/>
                </a:solidFill>
              </a:rPr>
              <a:t>Tibshirani</a:t>
            </a:r>
            <a:r>
              <a:rPr lang="it-IT" sz="1200" dirty="0">
                <a:solidFill>
                  <a:schemeClr val="bg1"/>
                </a:solidFill>
              </a:rPr>
              <a:t>, R. (2010). </a:t>
            </a:r>
            <a:r>
              <a:rPr lang="it-IT" sz="1200" dirty="0" err="1">
                <a:solidFill>
                  <a:schemeClr val="bg1"/>
                </a:solidFill>
              </a:rPr>
              <a:t>Regularization</a:t>
            </a:r>
            <a:r>
              <a:rPr lang="it-IT" sz="1200" dirty="0">
                <a:solidFill>
                  <a:schemeClr val="bg1"/>
                </a:solidFill>
              </a:rPr>
              <a:t> </a:t>
            </a:r>
            <a:r>
              <a:rPr lang="it-IT" sz="1200" dirty="0" err="1">
                <a:solidFill>
                  <a:schemeClr val="bg1"/>
                </a:solidFill>
              </a:rPr>
              <a:t>paths</a:t>
            </a:r>
            <a:r>
              <a:rPr lang="it-IT" sz="1200" dirty="0">
                <a:solidFill>
                  <a:schemeClr val="bg1"/>
                </a:solidFill>
              </a:rPr>
              <a:t> for </a:t>
            </a:r>
            <a:r>
              <a:rPr lang="it-IT" sz="1200" dirty="0" err="1">
                <a:solidFill>
                  <a:schemeClr val="bg1"/>
                </a:solidFill>
              </a:rPr>
              <a:t>generalized</a:t>
            </a:r>
            <a:r>
              <a:rPr lang="it-IT" sz="1200" dirty="0">
                <a:solidFill>
                  <a:schemeClr val="bg1"/>
                </a:solidFill>
              </a:rPr>
              <a:t> linear models via coordinate </a:t>
            </a:r>
            <a:r>
              <a:rPr lang="it-IT" sz="1200" dirty="0" err="1">
                <a:solidFill>
                  <a:schemeClr val="bg1"/>
                </a:solidFill>
              </a:rPr>
              <a:t>descent</a:t>
            </a:r>
            <a:r>
              <a:rPr lang="it-IT" sz="1200" dirty="0">
                <a:solidFill>
                  <a:schemeClr val="bg1"/>
                </a:solidFill>
              </a:rPr>
              <a:t>. </a:t>
            </a:r>
            <a:r>
              <a:rPr lang="it-IT" sz="1200" i="1" dirty="0">
                <a:solidFill>
                  <a:schemeClr val="bg1"/>
                </a:solidFill>
              </a:rPr>
              <a:t>Journal of Statistical Software</a:t>
            </a:r>
            <a:r>
              <a:rPr lang="it-IT" sz="1200" dirty="0">
                <a:solidFill>
                  <a:schemeClr val="bg1"/>
                </a:solidFill>
              </a:rPr>
              <a:t>, 33(1), 1–22. </a:t>
            </a:r>
            <a:r>
              <a:rPr lang="it-IT" sz="1200" dirty="0">
                <a:solidFill>
                  <a:schemeClr val="bg1"/>
                </a:solidFill>
                <a:hlinkClick r:id="rId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https://doi.org/10.18637/jss.v033.i01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Kuhn, M. (2008). Building </a:t>
            </a:r>
            <a:r>
              <a:rPr lang="it-IT" sz="1200" dirty="0" err="1">
                <a:solidFill>
                  <a:schemeClr val="bg1"/>
                </a:solidFill>
              </a:rPr>
              <a:t>predictive</a:t>
            </a:r>
            <a:r>
              <a:rPr lang="it-IT" sz="1200" dirty="0">
                <a:solidFill>
                  <a:schemeClr val="bg1"/>
                </a:solidFill>
              </a:rPr>
              <a:t> models in R </a:t>
            </a:r>
            <a:r>
              <a:rPr lang="it-IT" sz="1200" dirty="0" err="1">
                <a:solidFill>
                  <a:schemeClr val="bg1"/>
                </a:solidFill>
              </a:rPr>
              <a:t>using</a:t>
            </a:r>
            <a:r>
              <a:rPr lang="it-IT" sz="1200" dirty="0">
                <a:solidFill>
                  <a:schemeClr val="bg1"/>
                </a:solidFill>
              </a:rPr>
              <a:t> the </a:t>
            </a:r>
            <a:r>
              <a:rPr lang="it-IT" sz="1200" dirty="0" err="1">
                <a:solidFill>
                  <a:schemeClr val="bg1"/>
                </a:solidFill>
              </a:rPr>
              <a:t>caret</a:t>
            </a:r>
            <a:r>
              <a:rPr lang="it-IT" sz="1200" dirty="0">
                <a:solidFill>
                  <a:schemeClr val="bg1"/>
                </a:solidFill>
              </a:rPr>
              <a:t> package. </a:t>
            </a:r>
            <a:r>
              <a:rPr lang="it-IT" sz="1200" i="1" dirty="0">
                <a:solidFill>
                  <a:schemeClr val="bg1"/>
                </a:solidFill>
              </a:rPr>
              <a:t>Journal of Statistical Software</a:t>
            </a:r>
            <a:r>
              <a:rPr lang="it-IT" sz="1200" dirty="0">
                <a:solidFill>
                  <a:schemeClr val="bg1"/>
                </a:solidFill>
              </a:rPr>
              <a:t>, 28(5), 1–26. </a:t>
            </a:r>
            <a:r>
              <a:rPr lang="it-IT" sz="1200" dirty="0">
                <a:solidFill>
                  <a:schemeClr val="bg1"/>
                </a:solidFill>
                <a:hlinkClick r:id="rId3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https://doi.org/10.18637/jss.v028.i05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Luong, R. (2025). </a:t>
            </a:r>
            <a:r>
              <a:rPr lang="it-IT" sz="1200" i="1" dirty="0" err="1">
                <a:solidFill>
                  <a:schemeClr val="bg1"/>
                </a:solidFill>
              </a:rPr>
              <a:t>Valorant</a:t>
            </a:r>
            <a:r>
              <a:rPr lang="it-IT" sz="1200" i="1" dirty="0">
                <a:solidFill>
                  <a:schemeClr val="bg1"/>
                </a:solidFill>
              </a:rPr>
              <a:t> Champion Tour 2021-2025 data</a:t>
            </a:r>
            <a:r>
              <a:rPr lang="it-IT" sz="1200" dirty="0">
                <a:solidFill>
                  <a:schemeClr val="bg1"/>
                </a:solidFill>
              </a:rPr>
              <a:t> [Data set]. </a:t>
            </a:r>
            <a:r>
              <a:rPr lang="it-IT" sz="1200" dirty="0" err="1">
                <a:solidFill>
                  <a:schemeClr val="bg1"/>
                </a:solidFill>
              </a:rPr>
              <a:t>Kaggle</a:t>
            </a:r>
            <a:r>
              <a:rPr lang="it-IT" sz="1200" dirty="0">
                <a:solidFill>
                  <a:schemeClr val="bg1"/>
                </a:solidFill>
              </a:rPr>
              <a:t>. </a:t>
            </a:r>
            <a:r>
              <a:rPr lang="it-IT" sz="1200" dirty="0">
                <a:solidFill>
                  <a:schemeClr val="bg1"/>
                </a:solidFill>
                <a:hlinkClick r:id="rId3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https://www.kaggle.com/datasets/ryanluong1/valorant-champion-tour-2021-2023-data</a:t>
            </a:r>
            <a:r>
              <a:rPr lang="it-IT" sz="1200" dirty="0">
                <a:solidFill>
                  <a:schemeClr val="bg1"/>
                </a:solidFill>
              </a:rPr>
              <a:t> (data di ultima consulta: 6 gennaio 2026)</a:t>
            </a: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R Core Team. (2025). </a:t>
            </a:r>
            <a:r>
              <a:rPr lang="it-IT" sz="1200" i="1" dirty="0">
                <a:solidFill>
                  <a:schemeClr val="bg1"/>
                </a:solidFill>
              </a:rPr>
              <a:t>R: A </a:t>
            </a:r>
            <a:r>
              <a:rPr lang="it-IT" sz="1200" i="1" dirty="0" err="1">
                <a:solidFill>
                  <a:schemeClr val="bg1"/>
                </a:solidFill>
              </a:rPr>
              <a:t>language</a:t>
            </a:r>
            <a:r>
              <a:rPr lang="it-IT" sz="1200" i="1" dirty="0">
                <a:solidFill>
                  <a:schemeClr val="bg1"/>
                </a:solidFill>
              </a:rPr>
              <a:t> and </a:t>
            </a:r>
            <a:r>
              <a:rPr lang="it-IT" sz="1200" i="1" dirty="0" err="1">
                <a:solidFill>
                  <a:schemeClr val="bg1"/>
                </a:solidFill>
              </a:rPr>
              <a:t>environment</a:t>
            </a:r>
            <a:r>
              <a:rPr lang="it-IT" sz="1200" i="1" dirty="0">
                <a:solidFill>
                  <a:schemeClr val="bg1"/>
                </a:solidFill>
              </a:rPr>
              <a:t> for </a:t>
            </a:r>
            <a:r>
              <a:rPr lang="it-IT" sz="1200" i="1" dirty="0" err="1">
                <a:solidFill>
                  <a:schemeClr val="bg1"/>
                </a:solidFill>
              </a:rPr>
              <a:t>statistical</a:t>
            </a:r>
            <a:r>
              <a:rPr lang="it-IT" sz="1200" i="1" dirty="0">
                <a:solidFill>
                  <a:schemeClr val="bg1"/>
                </a:solidFill>
              </a:rPr>
              <a:t> computing</a:t>
            </a:r>
            <a:r>
              <a:rPr lang="it-IT" sz="1200" dirty="0">
                <a:solidFill>
                  <a:schemeClr val="bg1"/>
                </a:solidFill>
              </a:rPr>
              <a:t>. R Foundation for Statistical Computing, Vienna, Austria. </a:t>
            </a:r>
            <a:r>
              <a:rPr lang="it-IT" sz="1200" dirty="0">
                <a:solidFill>
                  <a:schemeClr val="bg1"/>
                </a:solidFill>
                <a:hlinkClick r:id="rId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https://www.R-project.org/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Robin, X., </a:t>
            </a:r>
            <a:r>
              <a:rPr lang="it-IT" sz="1200" dirty="0" err="1">
                <a:solidFill>
                  <a:schemeClr val="bg1"/>
                </a:solidFill>
              </a:rPr>
              <a:t>Turck</a:t>
            </a:r>
            <a:r>
              <a:rPr lang="it-IT" sz="1200" dirty="0">
                <a:solidFill>
                  <a:schemeClr val="bg1"/>
                </a:solidFill>
              </a:rPr>
              <a:t>, N., </a:t>
            </a:r>
            <a:r>
              <a:rPr lang="it-IT" sz="1200" dirty="0" err="1">
                <a:solidFill>
                  <a:schemeClr val="bg1"/>
                </a:solidFill>
              </a:rPr>
              <a:t>Hainard</a:t>
            </a:r>
            <a:r>
              <a:rPr lang="it-IT" sz="1200" dirty="0">
                <a:solidFill>
                  <a:schemeClr val="bg1"/>
                </a:solidFill>
              </a:rPr>
              <a:t>, A., Tiberti, N., </a:t>
            </a:r>
            <a:r>
              <a:rPr lang="it-IT" sz="1200" dirty="0" err="1">
                <a:solidFill>
                  <a:schemeClr val="bg1"/>
                </a:solidFill>
              </a:rPr>
              <a:t>Lisacek</a:t>
            </a:r>
            <a:r>
              <a:rPr lang="it-IT" sz="1200" dirty="0">
                <a:solidFill>
                  <a:schemeClr val="bg1"/>
                </a:solidFill>
              </a:rPr>
              <a:t>, F., Sanchez, J. C., &amp; Müller, M. (2011). </a:t>
            </a:r>
            <a:r>
              <a:rPr lang="it-IT" sz="1200" dirty="0" err="1">
                <a:solidFill>
                  <a:schemeClr val="bg1"/>
                </a:solidFill>
              </a:rPr>
              <a:t>pROC</a:t>
            </a:r>
            <a:r>
              <a:rPr lang="it-IT" sz="1200" dirty="0">
                <a:solidFill>
                  <a:schemeClr val="bg1"/>
                </a:solidFill>
              </a:rPr>
              <a:t>: an open-source package for R and S+ to </a:t>
            </a:r>
            <a:r>
              <a:rPr lang="it-IT" sz="1200" dirty="0" err="1">
                <a:solidFill>
                  <a:schemeClr val="bg1"/>
                </a:solidFill>
              </a:rPr>
              <a:t>analyze</a:t>
            </a:r>
            <a:r>
              <a:rPr lang="it-IT" sz="1200" dirty="0">
                <a:solidFill>
                  <a:schemeClr val="bg1"/>
                </a:solidFill>
              </a:rPr>
              <a:t> and compare ROC </a:t>
            </a:r>
            <a:r>
              <a:rPr lang="it-IT" sz="1200" dirty="0" err="1">
                <a:solidFill>
                  <a:schemeClr val="bg1"/>
                </a:solidFill>
              </a:rPr>
              <a:t>curves</a:t>
            </a:r>
            <a:r>
              <a:rPr lang="it-IT" sz="1200" dirty="0">
                <a:solidFill>
                  <a:schemeClr val="bg1"/>
                </a:solidFill>
              </a:rPr>
              <a:t>. </a:t>
            </a:r>
            <a:r>
              <a:rPr lang="it-IT" sz="1200" i="1" dirty="0">
                <a:solidFill>
                  <a:schemeClr val="bg1"/>
                </a:solidFill>
              </a:rPr>
              <a:t>BMC </a:t>
            </a:r>
            <a:r>
              <a:rPr lang="it-IT" sz="1200" i="1" dirty="0" err="1">
                <a:solidFill>
                  <a:schemeClr val="bg1"/>
                </a:solidFill>
              </a:rPr>
              <a:t>Bioinformatics</a:t>
            </a:r>
            <a:r>
              <a:rPr lang="it-IT" sz="1200" dirty="0">
                <a:solidFill>
                  <a:schemeClr val="bg1"/>
                </a:solidFill>
              </a:rPr>
              <a:t>, 12, 77. </a:t>
            </a:r>
            <a:r>
              <a:rPr lang="it-IT" sz="1200" dirty="0">
                <a:solidFill>
                  <a:schemeClr val="bg1"/>
                </a:solidFill>
                <a:hlinkClick r:id="rId3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https://doi.org/10.1186/1471-2105-12-77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Robinson, D., Hayes, A., </a:t>
            </a:r>
            <a:r>
              <a:rPr lang="it-IT" sz="1200" dirty="0" err="1">
                <a:solidFill>
                  <a:schemeClr val="bg1"/>
                </a:solidFill>
              </a:rPr>
              <a:t>Couch</a:t>
            </a:r>
            <a:r>
              <a:rPr lang="it-IT" sz="1200" dirty="0">
                <a:solidFill>
                  <a:schemeClr val="bg1"/>
                </a:solidFill>
              </a:rPr>
              <a:t>, S., &amp; </a:t>
            </a:r>
            <a:r>
              <a:rPr lang="it-IT" sz="1200" dirty="0" err="1">
                <a:solidFill>
                  <a:schemeClr val="bg1"/>
                </a:solidFill>
              </a:rPr>
              <a:t>Hvitfeldt</a:t>
            </a:r>
            <a:r>
              <a:rPr lang="it-IT" sz="1200" dirty="0">
                <a:solidFill>
                  <a:schemeClr val="bg1"/>
                </a:solidFill>
              </a:rPr>
              <a:t>, E. (2025). </a:t>
            </a:r>
            <a:r>
              <a:rPr lang="it-IT" sz="1200" i="1" dirty="0" err="1">
                <a:solidFill>
                  <a:schemeClr val="bg1"/>
                </a:solidFill>
              </a:rPr>
              <a:t>broom</a:t>
            </a:r>
            <a:r>
              <a:rPr lang="it-IT" sz="1200" i="1" dirty="0">
                <a:solidFill>
                  <a:schemeClr val="bg1"/>
                </a:solidFill>
              </a:rPr>
              <a:t>: </a:t>
            </a:r>
            <a:r>
              <a:rPr lang="it-IT" sz="1200" i="1" dirty="0" err="1">
                <a:solidFill>
                  <a:schemeClr val="bg1"/>
                </a:solidFill>
              </a:rPr>
              <a:t>Convert</a:t>
            </a:r>
            <a:r>
              <a:rPr lang="it-IT" sz="1200" i="1" dirty="0">
                <a:solidFill>
                  <a:schemeClr val="bg1"/>
                </a:solidFill>
              </a:rPr>
              <a:t> </a:t>
            </a:r>
            <a:r>
              <a:rPr lang="it-IT" sz="1200" i="1" dirty="0" err="1">
                <a:solidFill>
                  <a:schemeClr val="bg1"/>
                </a:solidFill>
              </a:rPr>
              <a:t>statistical</a:t>
            </a:r>
            <a:r>
              <a:rPr lang="it-IT" sz="1200" i="1" dirty="0">
                <a:solidFill>
                  <a:schemeClr val="bg1"/>
                </a:solidFill>
              </a:rPr>
              <a:t> </a:t>
            </a:r>
            <a:r>
              <a:rPr lang="it-IT" sz="1200" i="1" dirty="0" err="1">
                <a:solidFill>
                  <a:schemeClr val="bg1"/>
                </a:solidFill>
              </a:rPr>
              <a:t>objects</a:t>
            </a:r>
            <a:r>
              <a:rPr lang="it-IT" sz="1200" i="1" dirty="0">
                <a:solidFill>
                  <a:schemeClr val="bg1"/>
                </a:solidFill>
              </a:rPr>
              <a:t> </a:t>
            </a:r>
            <a:r>
              <a:rPr lang="it-IT" sz="1200" i="1" dirty="0" err="1">
                <a:solidFill>
                  <a:schemeClr val="bg1"/>
                </a:solidFill>
              </a:rPr>
              <a:t>into</a:t>
            </a:r>
            <a:r>
              <a:rPr lang="it-IT" sz="1200" i="1" dirty="0">
                <a:solidFill>
                  <a:schemeClr val="bg1"/>
                </a:solidFill>
              </a:rPr>
              <a:t> </a:t>
            </a:r>
            <a:r>
              <a:rPr lang="it-IT" sz="1200" i="1" dirty="0" err="1">
                <a:solidFill>
                  <a:schemeClr val="bg1"/>
                </a:solidFill>
              </a:rPr>
              <a:t>tidy</a:t>
            </a:r>
            <a:r>
              <a:rPr lang="it-IT" sz="1200" i="1" dirty="0">
                <a:solidFill>
                  <a:schemeClr val="bg1"/>
                </a:solidFill>
              </a:rPr>
              <a:t> </a:t>
            </a:r>
            <a:r>
              <a:rPr lang="it-IT" sz="1200" i="1" dirty="0" err="1">
                <a:solidFill>
                  <a:schemeClr val="bg1"/>
                </a:solidFill>
              </a:rPr>
              <a:t>tibbles</a:t>
            </a:r>
            <a:r>
              <a:rPr lang="it-IT" sz="1200" dirty="0">
                <a:solidFill>
                  <a:schemeClr val="bg1"/>
                </a:solidFill>
              </a:rPr>
              <a:t> (R package </a:t>
            </a:r>
            <a:r>
              <a:rPr lang="it-IT" sz="1200" dirty="0" err="1">
                <a:solidFill>
                  <a:schemeClr val="bg1"/>
                </a:solidFill>
              </a:rPr>
              <a:t>version</a:t>
            </a:r>
            <a:r>
              <a:rPr lang="it-IT" sz="1200" dirty="0">
                <a:solidFill>
                  <a:schemeClr val="bg1"/>
                </a:solidFill>
              </a:rPr>
              <a:t> 1.0.11). </a:t>
            </a:r>
            <a:r>
              <a:rPr lang="it-IT" sz="1200" dirty="0">
                <a:solidFill>
                  <a:schemeClr val="bg1"/>
                </a:solidFill>
                <a:hlinkClick r:id="rId3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https://doi.org/10.32614/CRAN.package.broom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Walpole, R. E., Myers, R. H., Myers, S. L., &amp; </a:t>
            </a:r>
            <a:r>
              <a:rPr lang="it-IT" sz="1200" dirty="0" err="1">
                <a:solidFill>
                  <a:schemeClr val="bg1"/>
                </a:solidFill>
              </a:rPr>
              <a:t>Ye</a:t>
            </a:r>
            <a:r>
              <a:rPr lang="it-IT" sz="1200" dirty="0">
                <a:solidFill>
                  <a:schemeClr val="bg1"/>
                </a:solidFill>
              </a:rPr>
              <a:t>, K. E. (2016). </a:t>
            </a:r>
            <a:r>
              <a:rPr lang="it-IT" sz="1200" i="1" dirty="0">
                <a:solidFill>
                  <a:schemeClr val="bg1"/>
                </a:solidFill>
              </a:rPr>
              <a:t>Probabilità e statistica per ingegneria e scienze: Strumenti e applicazioni in R</a:t>
            </a:r>
            <a:r>
              <a:rPr lang="it-IT" sz="1200" dirty="0">
                <a:solidFill>
                  <a:schemeClr val="bg1"/>
                </a:solidFill>
              </a:rPr>
              <a:t> (9a ed.). Pearson.</a:t>
            </a: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Wickham, H., </a:t>
            </a:r>
            <a:r>
              <a:rPr lang="it-IT" sz="1200" dirty="0" err="1">
                <a:solidFill>
                  <a:schemeClr val="bg1"/>
                </a:solidFill>
              </a:rPr>
              <a:t>Averick</a:t>
            </a:r>
            <a:r>
              <a:rPr lang="it-IT" sz="1200" dirty="0">
                <a:solidFill>
                  <a:schemeClr val="bg1"/>
                </a:solidFill>
              </a:rPr>
              <a:t>, M., Bryan, J., Chang, W., McGowan, L. D., François, R., </a:t>
            </a:r>
            <a:r>
              <a:rPr lang="it-IT" sz="1200" dirty="0" err="1">
                <a:solidFill>
                  <a:schemeClr val="bg1"/>
                </a:solidFill>
              </a:rPr>
              <a:t>Grolemund</a:t>
            </a:r>
            <a:r>
              <a:rPr lang="it-IT" sz="1200" dirty="0">
                <a:solidFill>
                  <a:schemeClr val="bg1"/>
                </a:solidFill>
              </a:rPr>
              <a:t>, G., Hayes, A., Henry, L., Hester, J., Kuhn, M., Pedersen, T. L., Miller, E., </a:t>
            </a:r>
            <a:r>
              <a:rPr lang="it-IT" sz="1200" dirty="0" err="1">
                <a:solidFill>
                  <a:schemeClr val="bg1"/>
                </a:solidFill>
              </a:rPr>
              <a:t>Bache</a:t>
            </a:r>
            <a:r>
              <a:rPr lang="it-IT" sz="1200" dirty="0">
                <a:solidFill>
                  <a:schemeClr val="bg1"/>
                </a:solidFill>
              </a:rPr>
              <a:t>, S. M., Müller, K., </a:t>
            </a:r>
            <a:r>
              <a:rPr lang="it-IT" sz="1200" dirty="0" err="1">
                <a:solidFill>
                  <a:schemeClr val="bg1"/>
                </a:solidFill>
              </a:rPr>
              <a:t>Ooms</a:t>
            </a:r>
            <a:r>
              <a:rPr lang="it-IT" sz="1200" dirty="0">
                <a:solidFill>
                  <a:schemeClr val="bg1"/>
                </a:solidFill>
              </a:rPr>
              <a:t>, J., Robinson, D., Seidel, D. P., </a:t>
            </a:r>
            <a:r>
              <a:rPr lang="it-IT" sz="1200" dirty="0" err="1">
                <a:solidFill>
                  <a:schemeClr val="bg1"/>
                </a:solidFill>
              </a:rPr>
              <a:t>Spinu</a:t>
            </a:r>
            <a:r>
              <a:rPr lang="it-IT" sz="1200" dirty="0">
                <a:solidFill>
                  <a:schemeClr val="bg1"/>
                </a:solidFill>
              </a:rPr>
              <a:t>, V., … </a:t>
            </a:r>
            <a:r>
              <a:rPr lang="it-IT" sz="1200" dirty="0" err="1">
                <a:solidFill>
                  <a:schemeClr val="bg1"/>
                </a:solidFill>
              </a:rPr>
              <a:t>Yutani</a:t>
            </a:r>
            <a:r>
              <a:rPr lang="it-IT" sz="1200" dirty="0">
                <a:solidFill>
                  <a:schemeClr val="bg1"/>
                </a:solidFill>
              </a:rPr>
              <a:t>, H. (2019). Welcome to the </a:t>
            </a:r>
            <a:r>
              <a:rPr lang="it-IT" sz="1200" dirty="0" err="1">
                <a:solidFill>
                  <a:schemeClr val="bg1"/>
                </a:solidFill>
              </a:rPr>
              <a:t>tidyverse</a:t>
            </a:r>
            <a:r>
              <a:rPr lang="it-IT" sz="1200" dirty="0">
                <a:solidFill>
                  <a:schemeClr val="bg1"/>
                </a:solidFill>
              </a:rPr>
              <a:t>. </a:t>
            </a:r>
            <a:r>
              <a:rPr lang="it-IT" sz="1200" i="1" dirty="0">
                <a:solidFill>
                  <a:schemeClr val="bg1"/>
                </a:solidFill>
              </a:rPr>
              <a:t>Journal of Open Source Software</a:t>
            </a:r>
            <a:r>
              <a:rPr lang="it-IT" sz="1200" dirty="0">
                <a:solidFill>
                  <a:schemeClr val="bg1"/>
                </a:solidFill>
              </a:rPr>
              <a:t>, 4(43), 1686. </a:t>
            </a:r>
            <a:r>
              <a:rPr lang="it-IT" sz="1200" dirty="0">
                <a:solidFill>
                  <a:schemeClr val="bg1"/>
                </a:solidFill>
                <a:hlinkClick r:id="rId3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https://doi.org/10.21105/joss.01686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 err="1">
                <a:solidFill>
                  <a:schemeClr val="bg1"/>
                </a:solidFill>
              </a:rPr>
              <a:t>Youden</a:t>
            </a:r>
            <a:r>
              <a:rPr lang="it-IT" sz="1200" dirty="0">
                <a:solidFill>
                  <a:schemeClr val="bg1"/>
                </a:solidFill>
              </a:rPr>
              <a:t>, W. J. (1950). Index for rating </a:t>
            </a:r>
            <a:r>
              <a:rPr lang="it-IT" sz="1200" dirty="0" err="1">
                <a:solidFill>
                  <a:schemeClr val="bg1"/>
                </a:solidFill>
              </a:rPr>
              <a:t>diagnostic</a:t>
            </a:r>
            <a:r>
              <a:rPr lang="it-IT" sz="1200" dirty="0">
                <a:solidFill>
                  <a:schemeClr val="bg1"/>
                </a:solidFill>
              </a:rPr>
              <a:t> </a:t>
            </a:r>
            <a:r>
              <a:rPr lang="it-IT" sz="1200" dirty="0" err="1">
                <a:solidFill>
                  <a:schemeClr val="bg1"/>
                </a:solidFill>
              </a:rPr>
              <a:t>tests</a:t>
            </a:r>
            <a:r>
              <a:rPr lang="it-IT" sz="1200" dirty="0">
                <a:solidFill>
                  <a:schemeClr val="bg1"/>
                </a:solidFill>
              </a:rPr>
              <a:t>. </a:t>
            </a:r>
            <a:r>
              <a:rPr lang="it-IT" sz="1200" i="1" dirty="0">
                <a:solidFill>
                  <a:schemeClr val="bg1"/>
                </a:solidFill>
              </a:rPr>
              <a:t>Cancer</a:t>
            </a:r>
            <a:r>
              <a:rPr lang="it-IT" sz="1200" dirty="0">
                <a:solidFill>
                  <a:schemeClr val="bg1"/>
                </a:solidFill>
              </a:rPr>
              <a:t>, 3(1), 32–35. </a:t>
            </a:r>
            <a:r>
              <a:rPr lang="it-IT" sz="1200" dirty="0">
                <a:solidFill>
                  <a:schemeClr val="bg1"/>
                </a:solidFill>
                <a:hlinkClick r:id="rId3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https://doi.org/bjw536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endParaRPr lang="it-IT" sz="1200" dirty="0">
              <a:solidFill>
                <a:schemeClr val="bg1"/>
              </a:solidFill>
            </a:endParaRPr>
          </a:p>
        </p:txBody>
      </p:sp>
      <p:pic>
        <p:nvPicPr>
          <p:cNvPr id="25" name="Immagine 24" descr="Immagine che contiene schermata, clipart, Elementi grafici, grafica&#10;&#10;Il contenuto generato dall'IA potrebbe non essere corretto.">
            <a:extLst>
              <a:ext uri="{FF2B5EF4-FFF2-40B4-BE49-F238E27FC236}">
                <a16:creationId xmlns:a16="http://schemas.microsoft.com/office/drawing/2014/main" id="{0471ED30-86FA-3D71-BF82-35031F95B8A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0030" y="87870"/>
            <a:ext cx="1005169" cy="100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85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BE78A-4EF1-E5EC-FC2B-2444B4EAF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uppo 59">
            <a:extLst>
              <a:ext uri="{FF2B5EF4-FFF2-40B4-BE49-F238E27FC236}">
                <a16:creationId xmlns:a16="http://schemas.microsoft.com/office/drawing/2014/main" id="{DDEB0CAF-2604-827B-10C5-BE66379BCAD5}"/>
              </a:ext>
            </a:extLst>
          </p:cNvPr>
          <p:cNvGrpSpPr/>
          <p:nvPr/>
        </p:nvGrpSpPr>
        <p:grpSpPr>
          <a:xfrm>
            <a:off x="634913" y="5921159"/>
            <a:ext cx="620888" cy="620888"/>
            <a:chOff x="-714462" y="5921159"/>
            <a:chExt cx="620888" cy="620888"/>
          </a:xfrm>
        </p:grpSpPr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FB309BC5-7084-D9D3-C776-EFEF0B824499}"/>
                </a:ext>
              </a:extLst>
            </p:cNvPr>
            <p:cNvSpPr/>
            <p:nvPr/>
          </p:nvSpPr>
          <p:spPr>
            <a:xfrm>
              <a:off x="-714462" y="592115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4" name="Immagine 43" descr="Immagine che contiene schermata, Policromia, Rettangolo, quadrato&#10;&#10;Il contenuto generato dall'IA potrebbe non essere corretto.">
              <a:extLst>
                <a:ext uri="{FF2B5EF4-FFF2-40B4-BE49-F238E27FC236}">
                  <a16:creationId xmlns:a16="http://schemas.microsoft.com/office/drawing/2014/main" id="{5F647BBE-46D7-6FED-CFAD-ED9437012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6016715"/>
              <a:ext cx="493517" cy="450064"/>
            </a:xfrm>
            <a:prstGeom prst="rect">
              <a:avLst/>
            </a:prstGeom>
          </p:spPr>
        </p:pic>
      </p:grp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4CD17235-61DC-1617-0325-BF640798BE25}"/>
              </a:ext>
            </a:extLst>
          </p:cNvPr>
          <p:cNvGrpSpPr/>
          <p:nvPr/>
        </p:nvGrpSpPr>
        <p:grpSpPr>
          <a:xfrm>
            <a:off x="-713338" y="161926"/>
            <a:ext cx="622313" cy="620888"/>
            <a:chOff x="-713338" y="161926"/>
            <a:chExt cx="622313" cy="620888"/>
          </a:xfrm>
        </p:grpSpPr>
        <p:sp>
          <p:nvSpPr>
            <p:cNvPr id="49" name="Connettore 48">
              <a:extLst>
                <a:ext uri="{FF2B5EF4-FFF2-40B4-BE49-F238E27FC236}">
                  <a16:creationId xmlns:a16="http://schemas.microsoft.com/office/drawing/2014/main" id="{FAD1A9CB-50D2-397A-4B9B-63A7BCF6CA27}"/>
                </a:ext>
              </a:extLst>
            </p:cNvPr>
            <p:cNvSpPr/>
            <p:nvPr/>
          </p:nvSpPr>
          <p:spPr>
            <a:xfrm>
              <a:off x="-713338" y="161926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2" name="Immagine 11" descr="Immagine che contiene cerchio&#10;&#10;Il contenuto generato dall'IA potrebbe non essere corretto.">
              <a:extLst>
                <a:ext uri="{FF2B5EF4-FFF2-40B4-BE49-F238E27FC236}">
                  <a16:creationId xmlns:a16="http://schemas.microsoft.com/office/drawing/2014/main" id="{9046C24C-C4BB-D6BF-21D6-618D4AB1C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03642" y="203687"/>
              <a:ext cx="612617" cy="553569"/>
            </a:xfrm>
            <a:prstGeom prst="rect">
              <a:avLst/>
            </a:prstGeom>
          </p:spPr>
        </p:pic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24C906F9-3091-5475-4011-745FF4B8B5F0}"/>
              </a:ext>
            </a:extLst>
          </p:cNvPr>
          <p:cNvGrpSpPr/>
          <p:nvPr/>
        </p:nvGrpSpPr>
        <p:grpSpPr>
          <a:xfrm>
            <a:off x="-714462" y="878424"/>
            <a:ext cx="620888" cy="620888"/>
            <a:chOff x="-714462" y="878424"/>
            <a:chExt cx="620888" cy="620888"/>
          </a:xfrm>
        </p:grpSpPr>
        <p:sp>
          <p:nvSpPr>
            <p:cNvPr id="50" name="Connettore 49">
              <a:extLst>
                <a:ext uri="{FF2B5EF4-FFF2-40B4-BE49-F238E27FC236}">
                  <a16:creationId xmlns:a16="http://schemas.microsoft.com/office/drawing/2014/main" id="{40FF23EC-827C-82B3-DE00-BFEC9AD0E791}"/>
                </a:ext>
              </a:extLst>
            </p:cNvPr>
            <p:cNvSpPr/>
            <p:nvPr/>
          </p:nvSpPr>
          <p:spPr>
            <a:xfrm>
              <a:off x="-714462" y="878424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 descr="Immagine che contiene schermata, Policromi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8E9BAA7F-F3AA-471E-EDBE-7B07A00B0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7883" y="976611"/>
              <a:ext cx="460283" cy="424648"/>
            </a:xfrm>
            <a:prstGeom prst="rect">
              <a:avLst/>
            </a:prstGeom>
          </p:spPr>
        </p:pic>
      </p:grp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C6BBF8E3-7037-53CD-6026-FBC03F7CA8B7}"/>
              </a:ext>
            </a:extLst>
          </p:cNvPr>
          <p:cNvGrpSpPr/>
          <p:nvPr/>
        </p:nvGrpSpPr>
        <p:grpSpPr>
          <a:xfrm>
            <a:off x="-723291" y="1605155"/>
            <a:ext cx="620888" cy="620888"/>
            <a:chOff x="-723291" y="1605155"/>
            <a:chExt cx="620888" cy="620888"/>
          </a:xfrm>
        </p:grpSpPr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3B179F4C-F931-BB91-2339-70DBD884E167}"/>
                </a:ext>
              </a:extLst>
            </p:cNvPr>
            <p:cNvSpPr/>
            <p:nvPr/>
          </p:nvSpPr>
          <p:spPr>
            <a:xfrm>
              <a:off x="-723291" y="1605155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" name="Immagine 19" descr="Immagine che contiene Policromia, schermata, Rettangolo, design&#10;&#10;Il contenuto generato dall'IA potrebbe non essere corretto.">
              <a:extLst>
                <a:ext uri="{FF2B5EF4-FFF2-40B4-BE49-F238E27FC236}">
                  <a16:creationId xmlns:a16="http://schemas.microsoft.com/office/drawing/2014/main" id="{1DB07848-A3CD-DD8E-00D6-542519A0A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5919" y="1726737"/>
              <a:ext cx="521042" cy="433257"/>
            </a:xfrm>
            <a:prstGeom prst="rect">
              <a:avLst/>
            </a:prstGeom>
          </p:spPr>
        </p:pic>
      </p:grpSp>
      <p:grpSp>
        <p:nvGrpSpPr>
          <p:cNvPr id="65" name="Gruppo 64">
            <a:extLst>
              <a:ext uri="{FF2B5EF4-FFF2-40B4-BE49-F238E27FC236}">
                <a16:creationId xmlns:a16="http://schemas.microsoft.com/office/drawing/2014/main" id="{1C53CABF-A541-DE65-0FA1-49B18D85B11A}"/>
              </a:ext>
            </a:extLst>
          </p:cNvPr>
          <p:cNvGrpSpPr/>
          <p:nvPr/>
        </p:nvGrpSpPr>
        <p:grpSpPr>
          <a:xfrm>
            <a:off x="-724249" y="2324489"/>
            <a:ext cx="622942" cy="622265"/>
            <a:chOff x="-724249" y="2324489"/>
            <a:chExt cx="622942" cy="622265"/>
          </a:xfrm>
        </p:grpSpPr>
        <p:sp>
          <p:nvSpPr>
            <p:cNvPr id="55" name="Connettore 54">
              <a:extLst>
                <a:ext uri="{FF2B5EF4-FFF2-40B4-BE49-F238E27FC236}">
                  <a16:creationId xmlns:a16="http://schemas.microsoft.com/office/drawing/2014/main" id="{53ACBBFE-9301-EF04-2B91-06F9D1FDF5FB}"/>
                </a:ext>
              </a:extLst>
            </p:cNvPr>
            <p:cNvSpPr/>
            <p:nvPr/>
          </p:nvSpPr>
          <p:spPr>
            <a:xfrm>
              <a:off x="-723291" y="2324489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4" name="Immagine 23" descr="Immagine che contiene ingranaggio, oggetti in metallo, cerchio, ruota&#10;&#10;Il contenuto generato dall'IA potrebbe non essere corretto.">
              <a:extLst>
                <a:ext uri="{FF2B5EF4-FFF2-40B4-BE49-F238E27FC236}">
                  <a16:creationId xmlns:a16="http://schemas.microsoft.com/office/drawing/2014/main" id="{8A587E31-FF89-C713-A78F-C7689E175F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24249" y="2345928"/>
              <a:ext cx="622942" cy="600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6AABCDF3-BAEA-A72C-4A0F-C7A0493F3E0D}"/>
              </a:ext>
            </a:extLst>
          </p:cNvPr>
          <p:cNvGrpSpPr/>
          <p:nvPr/>
        </p:nvGrpSpPr>
        <p:grpSpPr>
          <a:xfrm>
            <a:off x="-680972" y="3763157"/>
            <a:ext cx="620888" cy="620888"/>
            <a:chOff x="-728597" y="3763157"/>
            <a:chExt cx="620888" cy="620888"/>
          </a:xfrm>
        </p:grpSpPr>
        <p:sp>
          <p:nvSpPr>
            <p:cNvPr id="57" name="Connettore 56">
              <a:extLst>
                <a:ext uri="{FF2B5EF4-FFF2-40B4-BE49-F238E27FC236}">
                  <a16:creationId xmlns:a16="http://schemas.microsoft.com/office/drawing/2014/main" id="{D953B9F9-0FC7-37FD-B613-B00CDF6F9125}"/>
                </a:ext>
              </a:extLst>
            </p:cNvPr>
            <p:cNvSpPr/>
            <p:nvPr/>
          </p:nvSpPr>
          <p:spPr>
            <a:xfrm>
              <a:off x="-728597" y="3763157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2" name="Immagine 31" descr="Immagine che contiene rosa, cuore&#10;&#10;Il contenuto generato dall'IA potrebbe non essere corretto.">
              <a:extLst>
                <a:ext uri="{FF2B5EF4-FFF2-40B4-BE49-F238E27FC236}">
                  <a16:creationId xmlns:a16="http://schemas.microsoft.com/office/drawing/2014/main" id="{C89D0BD0-8139-0DA1-26B8-5E19A2284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88738" y="3843199"/>
              <a:ext cx="569712" cy="505216"/>
            </a:xfrm>
            <a:prstGeom prst="rect">
              <a:avLst/>
            </a:prstGeom>
          </p:spPr>
        </p:pic>
      </p:grpSp>
      <p:grpSp>
        <p:nvGrpSpPr>
          <p:cNvPr id="62" name="Gruppo 61">
            <a:extLst>
              <a:ext uri="{FF2B5EF4-FFF2-40B4-BE49-F238E27FC236}">
                <a16:creationId xmlns:a16="http://schemas.microsoft.com/office/drawing/2014/main" id="{2506ED22-68FB-967E-EDD4-6FAF615D668B}"/>
              </a:ext>
            </a:extLst>
          </p:cNvPr>
          <p:cNvGrpSpPr/>
          <p:nvPr/>
        </p:nvGrpSpPr>
        <p:grpSpPr>
          <a:xfrm>
            <a:off x="-690497" y="4482491"/>
            <a:ext cx="620888" cy="620888"/>
            <a:chOff x="-728597" y="4482491"/>
            <a:chExt cx="620888" cy="620888"/>
          </a:xfrm>
        </p:grpSpPr>
        <p:sp>
          <p:nvSpPr>
            <p:cNvPr id="51" name="Connettore 50">
              <a:extLst>
                <a:ext uri="{FF2B5EF4-FFF2-40B4-BE49-F238E27FC236}">
                  <a16:creationId xmlns:a16="http://schemas.microsoft.com/office/drawing/2014/main" id="{ECB49584-ACBA-6479-A616-31A956A150AD}"/>
                </a:ext>
              </a:extLst>
            </p:cNvPr>
            <p:cNvSpPr/>
            <p:nvPr/>
          </p:nvSpPr>
          <p:spPr>
            <a:xfrm>
              <a:off x="-728597" y="448249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36" name="Immagine 35" descr="Immagine che contiene schermata, linea, Rettangolo, Policromia&#10;&#10;Il contenuto generato dall'IA potrebbe non essere corretto.">
              <a:extLst>
                <a:ext uri="{FF2B5EF4-FFF2-40B4-BE49-F238E27FC236}">
                  <a16:creationId xmlns:a16="http://schemas.microsoft.com/office/drawing/2014/main" id="{7410F14C-81D7-B355-25D6-44C4F0EE0CF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9214" y="4580800"/>
              <a:ext cx="510664" cy="484251"/>
            </a:xfrm>
            <a:prstGeom prst="rect">
              <a:avLst/>
            </a:prstGeom>
          </p:spPr>
        </p:pic>
      </p:grp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D79D7B18-61A3-C91D-0AC5-FA92F341DE49}"/>
              </a:ext>
            </a:extLst>
          </p:cNvPr>
          <p:cNvGrpSpPr/>
          <p:nvPr/>
        </p:nvGrpSpPr>
        <p:grpSpPr>
          <a:xfrm>
            <a:off x="-676362" y="5204661"/>
            <a:ext cx="620888" cy="620888"/>
            <a:chOff x="-714462" y="5204661"/>
            <a:chExt cx="620888" cy="620888"/>
          </a:xfrm>
        </p:grpSpPr>
        <p:sp>
          <p:nvSpPr>
            <p:cNvPr id="58" name="Connettore 57">
              <a:extLst>
                <a:ext uri="{FF2B5EF4-FFF2-40B4-BE49-F238E27FC236}">
                  <a16:creationId xmlns:a16="http://schemas.microsoft.com/office/drawing/2014/main" id="{BB99DD3F-6DD3-3CEA-0356-AC78569202A1}"/>
                </a:ext>
              </a:extLst>
            </p:cNvPr>
            <p:cNvSpPr/>
            <p:nvPr/>
          </p:nvSpPr>
          <p:spPr>
            <a:xfrm>
              <a:off x="-714462" y="5204661"/>
              <a:ext cx="620888" cy="620888"/>
            </a:xfrm>
            <a:prstGeom prst="flowChartConnector">
              <a:avLst/>
            </a:prstGeom>
            <a:solidFill>
              <a:srgbClr val="1C25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40" name="Immagine 39" descr="Immagine che contiene cono&#10;&#10;Il contenuto generato dall'IA potrebbe non essere corretto.">
              <a:extLst>
                <a:ext uri="{FF2B5EF4-FFF2-40B4-BE49-F238E27FC236}">
                  <a16:creationId xmlns:a16="http://schemas.microsoft.com/office/drawing/2014/main" id="{C12ED55F-4F24-1FEA-1785-C00264F11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61117" y="5252845"/>
              <a:ext cx="534779" cy="538229"/>
            </a:xfrm>
            <a:prstGeom prst="rect">
              <a:avLst/>
            </a:prstGeom>
          </p:spPr>
        </p:pic>
      </p:grp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CB97E2D9-D593-CC2B-9811-3D467BFD807A}"/>
              </a:ext>
            </a:extLst>
          </p:cNvPr>
          <p:cNvGrpSpPr/>
          <p:nvPr/>
        </p:nvGrpSpPr>
        <p:grpSpPr>
          <a:xfrm>
            <a:off x="-713330" y="2998792"/>
            <a:ext cx="620888" cy="620888"/>
            <a:chOff x="-724629" y="3043823"/>
            <a:chExt cx="620888" cy="620888"/>
          </a:xfrm>
          <a:solidFill>
            <a:srgbClr val="1C252E"/>
          </a:solidFill>
        </p:grpSpPr>
        <p:sp>
          <p:nvSpPr>
            <p:cNvPr id="56" name="Connettore 55">
              <a:extLst>
                <a:ext uri="{FF2B5EF4-FFF2-40B4-BE49-F238E27FC236}">
                  <a16:creationId xmlns:a16="http://schemas.microsoft.com/office/drawing/2014/main" id="{4D066ECB-C46C-3989-9F64-63B196CED7E2}"/>
                </a:ext>
              </a:extLst>
            </p:cNvPr>
            <p:cNvSpPr/>
            <p:nvPr/>
          </p:nvSpPr>
          <p:spPr>
            <a:xfrm>
              <a:off x="-724629" y="3043823"/>
              <a:ext cx="620888" cy="620888"/>
            </a:xfrm>
            <a:prstGeom prst="flowChartConnector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2">
                    <a:lumMod val="90000"/>
                    <a:lumOff val="10000"/>
                  </a:schemeClr>
                </a:solidFill>
              </a:endParaRPr>
            </a:p>
          </p:txBody>
        </p:sp>
        <p:pic>
          <p:nvPicPr>
            <p:cNvPr id="28" name="Immagine 27" descr="Immagine che contiene strumento&#10;&#10;Il contenuto generato dall'IA potrebbe non essere corretto.">
              <a:extLst>
                <a:ext uri="{FF2B5EF4-FFF2-40B4-BE49-F238E27FC236}">
                  <a16:creationId xmlns:a16="http://schemas.microsoft.com/office/drawing/2014/main" id="{0B5CEF9A-032A-EA14-1EA1-AFFA84639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6193" y="3094843"/>
              <a:ext cx="532695" cy="536003"/>
            </a:xfrm>
            <a:prstGeom prst="rect">
              <a:avLst/>
            </a:prstGeom>
            <a:noFill/>
          </p:spPr>
        </p:pic>
      </p:grpSp>
      <p:sp>
        <p:nvSpPr>
          <p:cNvPr id="6" name="Figura a mano libera: forma 5">
            <a:extLst>
              <a:ext uri="{FF2B5EF4-FFF2-40B4-BE49-F238E27FC236}">
                <a16:creationId xmlns:a16="http://schemas.microsoft.com/office/drawing/2014/main" id="{BEC0534F-182D-FEDE-DE5B-CC936D9B4519}"/>
              </a:ext>
            </a:extLst>
          </p:cNvPr>
          <p:cNvSpPr/>
          <p:nvPr/>
        </p:nvSpPr>
        <p:spPr>
          <a:xfrm rot="10800000">
            <a:off x="2838" y="-2997982"/>
            <a:ext cx="1005167" cy="18491200"/>
          </a:xfrm>
          <a:custGeom>
            <a:avLst/>
            <a:gdLst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29344 w 1000124"/>
              <a:gd name="csY2" fmla="*/ 9245600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0 w 1000124"/>
              <a:gd name="csY0" fmla="*/ 18491200 h 18491200"/>
              <a:gd name="csX1" fmla="*/ 0 w 1000124"/>
              <a:gd name="csY1" fmla="*/ 10106660 h 18491200"/>
              <a:gd name="csX2" fmla="*/ 534107 w 1000124"/>
              <a:gd name="csY2" fmla="*/ 9250363 h 18491200"/>
              <a:gd name="csX3" fmla="*/ 0 w 1000124"/>
              <a:gd name="csY3" fmla="*/ 8384540 h 18491200"/>
              <a:gd name="csX4" fmla="*/ 0 w 1000124"/>
              <a:gd name="csY4" fmla="*/ 0 h 18491200"/>
              <a:gd name="csX5" fmla="*/ 1000124 w 1000124"/>
              <a:gd name="csY5" fmla="*/ 0 h 18491200"/>
              <a:gd name="csX6" fmla="*/ 1000124 w 1000124"/>
              <a:gd name="csY6" fmla="*/ 18491200 h 18491200"/>
              <a:gd name="csX7" fmla="*/ 0 w 100012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810 w 1000934"/>
              <a:gd name="csY0" fmla="*/ 18491200 h 18491200"/>
              <a:gd name="csX1" fmla="*/ 810 w 1000934"/>
              <a:gd name="csY1" fmla="*/ 10106660 h 18491200"/>
              <a:gd name="csX2" fmla="*/ 534917 w 1000934"/>
              <a:gd name="csY2" fmla="*/ 9250363 h 18491200"/>
              <a:gd name="csX3" fmla="*/ 810 w 1000934"/>
              <a:gd name="csY3" fmla="*/ 8384540 h 18491200"/>
              <a:gd name="csX4" fmla="*/ 810 w 1000934"/>
              <a:gd name="csY4" fmla="*/ 0 h 18491200"/>
              <a:gd name="csX5" fmla="*/ 1000934 w 1000934"/>
              <a:gd name="csY5" fmla="*/ 0 h 18491200"/>
              <a:gd name="csX6" fmla="*/ 1000934 w 1000934"/>
              <a:gd name="csY6" fmla="*/ 18491200 h 18491200"/>
              <a:gd name="csX7" fmla="*/ 810 w 1000934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  <a:gd name="csX0" fmla="*/ 5043 w 1005167"/>
              <a:gd name="csY0" fmla="*/ 18491200 h 18491200"/>
              <a:gd name="csX1" fmla="*/ 5043 w 1005167"/>
              <a:gd name="csY1" fmla="*/ 10106660 h 18491200"/>
              <a:gd name="csX2" fmla="*/ 539150 w 1005167"/>
              <a:gd name="csY2" fmla="*/ 9250363 h 18491200"/>
              <a:gd name="csX3" fmla="*/ 5043 w 1005167"/>
              <a:gd name="csY3" fmla="*/ 8384540 h 18491200"/>
              <a:gd name="csX4" fmla="*/ 5043 w 1005167"/>
              <a:gd name="csY4" fmla="*/ 0 h 18491200"/>
              <a:gd name="csX5" fmla="*/ 1005167 w 1005167"/>
              <a:gd name="csY5" fmla="*/ 0 h 18491200"/>
              <a:gd name="csX6" fmla="*/ 1005167 w 1005167"/>
              <a:gd name="csY6" fmla="*/ 18491200 h 18491200"/>
              <a:gd name="csX7" fmla="*/ 5043 w 1005167"/>
              <a:gd name="csY7" fmla="*/ 18491200 h 18491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005167" h="18491200">
                <a:moveTo>
                  <a:pt x="5043" y="18491200"/>
                </a:moveTo>
                <a:cubicBezTo>
                  <a:pt x="5043" y="15696353"/>
                  <a:pt x="-6305" y="10582592"/>
                  <a:pt x="5043" y="10106660"/>
                </a:cubicBezTo>
                <a:cubicBezTo>
                  <a:pt x="16391" y="9630728"/>
                  <a:pt x="540973" y="9729471"/>
                  <a:pt x="539150" y="9250363"/>
                </a:cubicBezTo>
                <a:cubicBezTo>
                  <a:pt x="537327" y="8771255"/>
                  <a:pt x="11633" y="8877936"/>
                  <a:pt x="5043" y="8384540"/>
                </a:cubicBezTo>
                <a:cubicBezTo>
                  <a:pt x="-1547" y="7891144"/>
                  <a:pt x="5043" y="2794847"/>
                  <a:pt x="5043" y="0"/>
                </a:cubicBezTo>
                <a:lnTo>
                  <a:pt x="1005167" y="0"/>
                </a:lnTo>
                <a:lnTo>
                  <a:pt x="1005167" y="18491200"/>
                </a:lnTo>
                <a:lnTo>
                  <a:pt x="5043" y="18491200"/>
                </a:lnTo>
                <a:close/>
              </a:path>
            </a:pathLst>
          </a:custGeom>
          <a:solidFill>
            <a:srgbClr val="1C25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t-IT"/>
          </a:p>
        </p:txBody>
      </p:sp>
      <p:pic>
        <p:nvPicPr>
          <p:cNvPr id="46" name="Immagine 45" descr="Immagine che contiene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8C608CC1-33A7-7D3F-E748-24E985292FA5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6016715"/>
            <a:ext cx="493517" cy="45006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7B62AB2-B1EA-0B40-C03F-242B1DF48CD5}"/>
              </a:ext>
            </a:extLst>
          </p:cNvPr>
          <p:cNvSpPr txBox="1"/>
          <p:nvPr/>
        </p:nvSpPr>
        <p:spPr>
          <a:xfrm>
            <a:off x="1422239" y="408544"/>
            <a:ext cx="10598851" cy="6422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Canty, A., &amp; Ripley, B. (2025). </a:t>
            </a:r>
            <a:r>
              <a:rPr lang="it-IT" sz="1200" i="1" dirty="0">
                <a:solidFill>
                  <a:schemeClr val="bg1"/>
                </a:solidFill>
              </a:rPr>
              <a:t>boot: Bootstrap </a:t>
            </a:r>
            <a:r>
              <a:rPr lang="it-IT" sz="1200" i="1" dirty="0" err="1">
                <a:solidFill>
                  <a:schemeClr val="bg1"/>
                </a:solidFill>
              </a:rPr>
              <a:t>Functions</a:t>
            </a:r>
            <a:r>
              <a:rPr lang="it-IT" sz="1200" dirty="0">
                <a:solidFill>
                  <a:schemeClr val="bg1"/>
                </a:solidFill>
              </a:rPr>
              <a:t> (R package </a:t>
            </a:r>
            <a:r>
              <a:rPr lang="it-IT" sz="1200" dirty="0" err="1">
                <a:solidFill>
                  <a:schemeClr val="bg1"/>
                </a:solidFill>
              </a:rPr>
              <a:t>version</a:t>
            </a:r>
            <a:r>
              <a:rPr lang="it-IT" sz="1200" dirty="0">
                <a:solidFill>
                  <a:schemeClr val="bg1"/>
                </a:solidFill>
              </a:rPr>
              <a:t> 1.3-32). </a:t>
            </a:r>
            <a:r>
              <a:rPr lang="it-IT" sz="1200" dirty="0">
                <a:solidFill>
                  <a:schemeClr val="bg1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https://doi.org/10.32614/CRAN.package.boot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Fox, J., &amp; Weisberg, S. (2019). </a:t>
            </a:r>
            <a:r>
              <a:rPr lang="it-IT" sz="1200" i="1" dirty="0">
                <a:solidFill>
                  <a:schemeClr val="bg1"/>
                </a:solidFill>
              </a:rPr>
              <a:t>An R </a:t>
            </a:r>
            <a:r>
              <a:rPr lang="it-IT" sz="1200" i="1" dirty="0" err="1">
                <a:solidFill>
                  <a:schemeClr val="bg1"/>
                </a:solidFill>
              </a:rPr>
              <a:t>companion</a:t>
            </a:r>
            <a:r>
              <a:rPr lang="it-IT" sz="1200" i="1" dirty="0">
                <a:solidFill>
                  <a:schemeClr val="bg1"/>
                </a:solidFill>
              </a:rPr>
              <a:t> to </a:t>
            </a:r>
            <a:r>
              <a:rPr lang="it-IT" sz="1200" i="1" dirty="0" err="1">
                <a:solidFill>
                  <a:schemeClr val="bg1"/>
                </a:solidFill>
              </a:rPr>
              <a:t>applied</a:t>
            </a:r>
            <a:r>
              <a:rPr lang="it-IT" sz="1200" i="1" dirty="0">
                <a:solidFill>
                  <a:schemeClr val="bg1"/>
                </a:solidFill>
              </a:rPr>
              <a:t> </a:t>
            </a:r>
            <a:r>
              <a:rPr lang="it-IT" sz="1200" i="1" dirty="0" err="1">
                <a:solidFill>
                  <a:schemeClr val="bg1"/>
                </a:solidFill>
              </a:rPr>
              <a:t>regression</a:t>
            </a:r>
            <a:r>
              <a:rPr lang="it-IT" sz="1200" dirty="0">
                <a:solidFill>
                  <a:schemeClr val="bg1"/>
                </a:solidFill>
              </a:rPr>
              <a:t> (3rd ed.). Sage. </a:t>
            </a:r>
            <a:r>
              <a:rPr lang="it-IT" sz="1200" dirty="0">
                <a:solidFill>
                  <a:schemeClr val="bg1"/>
                </a:solidFill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https://www.john-fox.ca/Companion/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Friedman, J., </a:t>
            </a:r>
            <a:r>
              <a:rPr lang="it-IT" sz="1200" dirty="0" err="1">
                <a:solidFill>
                  <a:schemeClr val="bg1"/>
                </a:solidFill>
              </a:rPr>
              <a:t>Hastie</a:t>
            </a:r>
            <a:r>
              <a:rPr lang="it-IT" sz="1200" dirty="0">
                <a:solidFill>
                  <a:schemeClr val="bg1"/>
                </a:solidFill>
              </a:rPr>
              <a:t>, T., &amp; </a:t>
            </a:r>
            <a:r>
              <a:rPr lang="it-IT" sz="1200" dirty="0" err="1">
                <a:solidFill>
                  <a:schemeClr val="bg1"/>
                </a:solidFill>
              </a:rPr>
              <a:t>Tibshirani</a:t>
            </a:r>
            <a:r>
              <a:rPr lang="it-IT" sz="1200" dirty="0">
                <a:solidFill>
                  <a:schemeClr val="bg1"/>
                </a:solidFill>
              </a:rPr>
              <a:t>, R. (2010). </a:t>
            </a:r>
            <a:r>
              <a:rPr lang="it-IT" sz="1200" dirty="0" err="1">
                <a:solidFill>
                  <a:schemeClr val="bg1"/>
                </a:solidFill>
              </a:rPr>
              <a:t>Regularization</a:t>
            </a:r>
            <a:r>
              <a:rPr lang="it-IT" sz="1200" dirty="0">
                <a:solidFill>
                  <a:schemeClr val="bg1"/>
                </a:solidFill>
              </a:rPr>
              <a:t> </a:t>
            </a:r>
            <a:r>
              <a:rPr lang="it-IT" sz="1200" dirty="0" err="1">
                <a:solidFill>
                  <a:schemeClr val="bg1"/>
                </a:solidFill>
              </a:rPr>
              <a:t>paths</a:t>
            </a:r>
            <a:r>
              <a:rPr lang="it-IT" sz="1200" dirty="0">
                <a:solidFill>
                  <a:schemeClr val="bg1"/>
                </a:solidFill>
              </a:rPr>
              <a:t> for </a:t>
            </a:r>
            <a:r>
              <a:rPr lang="it-IT" sz="1200" dirty="0" err="1">
                <a:solidFill>
                  <a:schemeClr val="bg1"/>
                </a:solidFill>
              </a:rPr>
              <a:t>generalized</a:t>
            </a:r>
            <a:r>
              <a:rPr lang="it-IT" sz="1200" dirty="0">
                <a:solidFill>
                  <a:schemeClr val="bg1"/>
                </a:solidFill>
              </a:rPr>
              <a:t> linear models via coordinate </a:t>
            </a:r>
            <a:r>
              <a:rPr lang="it-IT" sz="1200" dirty="0" err="1">
                <a:solidFill>
                  <a:schemeClr val="bg1"/>
                </a:solidFill>
              </a:rPr>
              <a:t>descent</a:t>
            </a:r>
            <a:r>
              <a:rPr lang="it-IT" sz="1200" dirty="0">
                <a:solidFill>
                  <a:schemeClr val="bg1"/>
                </a:solidFill>
              </a:rPr>
              <a:t>. </a:t>
            </a:r>
            <a:r>
              <a:rPr lang="it-IT" sz="1200" i="1" dirty="0">
                <a:solidFill>
                  <a:schemeClr val="bg1"/>
                </a:solidFill>
              </a:rPr>
              <a:t>Journal of Statistical Software</a:t>
            </a:r>
            <a:r>
              <a:rPr lang="it-IT" sz="1200" dirty="0">
                <a:solidFill>
                  <a:schemeClr val="bg1"/>
                </a:solidFill>
              </a:rPr>
              <a:t>, 33(1), 1–22. </a:t>
            </a:r>
            <a:r>
              <a:rPr lang="it-IT" sz="1200" dirty="0">
                <a:solidFill>
                  <a:schemeClr val="bg1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https://doi.org/10.18637/jss.v033.i01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Kuhn, M. (2008). Building </a:t>
            </a:r>
            <a:r>
              <a:rPr lang="it-IT" sz="1200" dirty="0" err="1">
                <a:solidFill>
                  <a:schemeClr val="bg1"/>
                </a:solidFill>
              </a:rPr>
              <a:t>predictive</a:t>
            </a:r>
            <a:r>
              <a:rPr lang="it-IT" sz="1200" dirty="0">
                <a:solidFill>
                  <a:schemeClr val="bg1"/>
                </a:solidFill>
              </a:rPr>
              <a:t> models in R </a:t>
            </a:r>
            <a:r>
              <a:rPr lang="it-IT" sz="1200" dirty="0" err="1">
                <a:solidFill>
                  <a:schemeClr val="bg1"/>
                </a:solidFill>
              </a:rPr>
              <a:t>using</a:t>
            </a:r>
            <a:r>
              <a:rPr lang="it-IT" sz="1200" dirty="0">
                <a:solidFill>
                  <a:schemeClr val="bg1"/>
                </a:solidFill>
              </a:rPr>
              <a:t> the </a:t>
            </a:r>
            <a:r>
              <a:rPr lang="it-IT" sz="1200" dirty="0" err="1">
                <a:solidFill>
                  <a:schemeClr val="bg1"/>
                </a:solidFill>
              </a:rPr>
              <a:t>caret</a:t>
            </a:r>
            <a:r>
              <a:rPr lang="it-IT" sz="1200" dirty="0">
                <a:solidFill>
                  <a:schemeClr val="bg1"/>
                </a:solidFill>
              </a:rPr>
              <a:t> package. </a:t>
            </a:r>
            <a:r>
              <a:rPr lang="it-IT" sz="1200" i="1" dirty="0">
                <a:solidFill>
                  <a:schemeClr val="bg1"/>
                </a:solidFill>
              </a:rPr>
              <a:t>Journal of Statistical Software</a:t>
            </a:r>
            <a:r>
              <a:rPr lang="it-IT" sz="1200" dirty="0">
                <a:solidFill>
                  <a:schemeClr val="bg1"/>
                </a:solidFill>
              </a:rPr>
              <a:t>, 28(5), 1–26. </a:t>
            </a:r>
            <a:r>
              <a:rPr lang="it-IT" sz="1200" dirty="0">
                <a:solidFill>
                  <a:schemeClr val="bg1"/>
                </a:solidFill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https://doi.org/10.18637/jss.v028.i05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Luong, R. (2025). </a:t>
            </a:r>
            <a:r>
              <a:rPr lang="it-IT" sz="1200" i="1" dirty="0" err="1">
                <a:solidFill>
                  <a:schemeClr val="bg1"/>
                </a:solidFill>
              </a:rPr>
              <a:t>Valorant</a:t>
            </a:r>
            <a:r>
              <a:rPr lang="it-IT" sz="1200" i="1" dirty="0">
                <a:solidFill>
                  <a:schemeClr val="bg1"/>
                </a:solidFill>
              </a:rPr>
              <a:t> Champion Tour 2021-2025 data</a:t>
            </a:r>
            <a:r>
              <a:rPr lang="it-IT" sz="1200" dirty="0">
                <a:solidFill>
                  <a:schemeClr val="bg1"/>
                </a:solidFill>
              </a:rPr>
              <a:t> [Data set]. </a:t>
            </a:r>
            <a:r>
              <a:rPr lang="it-IT" sz="1200" dirty="0" err="1">
                <a:solidFill>
                  <a:schemeClr val="bg1"/>
                </a:solidFill>
              </a:rPr>
              <a:t>Kaggle</a:t>
            </a:r>
            <a:r>
              <a:rPr lang="it-IT" sz="1200" dirty="0">
                <a:solidFill>
                  <a:schemeClr val="bg1"/>
                </a:solidFill>
              </a:rPr>
              <a:t>. </a:t>
            </a:r>
            <a:r>
              <a:rPr lang="it-IT" sz="1200" dirty="0">
                <a:solidFill>
                  <a:schemeClr val="bg1"/>
                </a:solidFill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https://www.kaggle.com/datasets/ryanluong1/valorant-champion-tour-2021-2023-data</a:t>
            </a:r>
            <a:r>
              <a:rPr lang="it-IT" sz="1200" dirty="0">
                <a:solidFill>
                  <a:schemeClr val="bg1"/>
                </a:solidFill>
              </a:rPr>
              <a:t> (data di ultima consulta: 6 gennaio 2026)</a:t>
            </a: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R Core Team. (2025). </a:t>
            </a:r>
            <a:r>
              <a:rPr lang="it-IT" sz="1200" i="1" dirty="0">
                <a:solidFill>
                  <a:schemeClr val="bg1"/>
                </a:solidFill>
              </a:rPr>
              <a:t>R: A </a:t>
            </a:r>
            <a:r>
              <a:rPr lang="it-IT" sz="1200" i="1" dirty="0" err="1">
                <a:solidFill>
                  <a:schemeClr val="bg1"/>
                </a:solidFill>
              </a:rPr>
              <a:t>language</a:t>
            </a:r>
            <a:r>
              <a:rPr lang="it-IT" sz="1200" i="1" dirty="0">
                <a:solidFill>
                  <a:schemeClr val="bg1"/>
                </a:solidFill>
              </a:rPr>
              <a:t> and </a:t>
            </a:r>
            <a:r>
              <a:rPr lang="it-IT" sz="1200" i="1" dirty="0" err="1">
                <a:solidFill>
                  <a:schemeClr val="bg1"/>
                </a:solidFill>
              </a:rPr>
              <a:t>environment</a:t>
            </a:r>
            <a:r>
              <a:rPr lang="it-IT" sz="1200" i="1" dirty="0">
                <a:solidFill>
                  <a:schemeClr val="bg1"/>
                </a:solidFill>
              </a:rPr>
              <a:t> for </a:t>
            </a:r>
            <a:r>
              <a:rPr lang="it-IT" sz="1200" i="1" dirty="0" err="1">
                <a:solidFill>
                  <a:schemeClr val="bg1"/>
                </a:solidFill>
              </a:rPr>
              <a:t>statistical</a:t>
            </a:r>
            <a:r>
              <a:rPr lang="it-IT" sz="1200" i="1" dirty="0">
                <a:solidFill>
                  <a:schemeClr val="bg1"/>
                </a:solidFill>
              </a:rPr>
              <a:t> computing</a:t>
            </a:r>
            <a:r>
              <a:rPr lang="it-IT" sz="1200" dirty="0">
                <a:solidFill>
                  <a:schemeClr val="bg1"/>
                </a:solidFill>
              </a:rPr>
              <a:t>. R Foundation for Statistical Computing, Vienna, Austria. </a:t>
            </a:r>
            <a:r>
              <a:rPr lang="it-IT" sz="1200" dirty="0">
                <a:solidFill>
                  <a:schemeClr val="bg1"/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https://www.R-project.org/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Robin, X., </a:t>
            </a:r>
            <a:r>
              <a:rPr lang="it-IT" sz="1200" dirty="0" err="1">
                <a:solidFill>
                  <a:schemeClr val="bg1"/>
                </a:solidFill>
              </a:rPr>
              <a:t>Turck</a:t>
            </a:r>
            <a:r>
              <a:rPr lang="it-IT" sz="1200" dirty="0">
                <a:solidFill>
                  <a:schemeClr val="bg1"/>
                </a:solidFill>
              </a:rPr>
              <a:t>, N., </a:t>
            </a:r>
            <a:r>
              <a:rPr lang="it-IT" sz="1200" dirty="0" err="1">
                <a:solidFill>
                  <a:schemeClr val="bg1"/>
                </a:solidFill>
              </a:rPr>
              <a:t>Hainard</a:t>
            </a:r>
            <a:r>
              <a:rPr lang="it-IT" sz="1200" dirty="0">
                <a:solidFill>
                  <a:schemeClr val="bg1"/>
                </a:solidFill>
              </a:rPr>
              <a:t>, A., Tiberti, N., </a:t>
            </a:r>
            <a:r>
              <a:rPr lang="it-IT" sz="1200" dirty="0" err="1">
                <a:solidFill>
                  <a:schemeClr val="bg1"/>
                </a:solidFill>
              </a:rPr>
              <a:t>Lisacek</a:t>
            </a:r>
            <a:r>
              <a:rPr lang="it-IT" sz="1200" dirty="0">
                <a:solidFill>
                  <a:schemeClr val="bg1"/>
                </a:solidFill>
              </a:rPr>
              <a:t>, F., Sanchez, J. C., &amp; Müller, M. (2011). </a:t>
            </a:r>
            <a:r>
              <a:rPr lang="it-IT" sz="1200" dirty="0" err="1">
                <a:solidFill>
                  <a:schemeClr val="bg1"/>
                </a:solidFill>
              </a:rPr>
              <a:t>pROC</a:t>
            </a:r>
            <a:r>
              <a:rPr lang="it-IT" sz="1200" dirty="0">
                <a:solidFill>
                  <a:schemeClr val="bg1"/>
                </a:solidFill>
              </a:rPr>
              <a:t>: an open-source package for R and S+ to </a:t>
            </a:r>
            <a:r>
              <a:rPr lang="it-IT" sz="1200" dirty="0" err="1">
                <a:solidFill>
                  <a:schemeClr val="bg1"/>
                </a:solidFill>
              </a:rPr>
              <a:t>analyze</a:t>
            </a:r>
            <a:r>
              <a:rPr lang="it-IT" sz="1200" dirty="0">
                <a:solidFill>
                  <a:schemeClr val="bg1"/>
                </a:solidFill>
              </a:rPr>
              <a:t> and compare ROC </a:t>
            </a:r>
            <a:r>
              <a:rPr lang="it-IT" sz="1200" dirty="0" err="1">
                <a:solidFill>
                  <a:schemeClr val="bg1"/>
                </a:solidFill>
              </a:rPr>
              <a:t>curves</a:t>
            </a:r>
            <a:r>
              <a:rPr lang="it-IT" sz="1200" dirty="0">
                <a:solidFill>
                  <a:schemeClr val="bg1"/>
                </a:solidFill>
              </a:rPr>
              <a:t>. </a:t>
            </a:r>
            <a:r>
              <a:rPr lang="it-IT" sz="1200" i="1" dirty="0">
                <a:solidFill>
                  <a:schemeClr val="bg1"/>
                </a:solidFill>
              </a:rPr>
              <a:t>BMC </a:t>
            </a:r>
            <a:r>
              <a:rPr lang="it-IT" sz="1200" i="1" dirty="0" err="1">
                <a:solidFill>
                  <a:schemeClr val="bg1"/>
                </a:solidFill>
              </a:rPr>
              <a:t>Bioinformatics</a:t>
            </a:r>
            <a:r>
              <a:rPr lang="it-IT" sz="1200" dirty="0">
                <a:solidFill>
                  <a:schemeClr val="bg1"/>
                </a:solidFill>
              </a:rPr>
              <a:t>, 12, 77. </a:t>
            </a:r>
            <a:r>
              <a:rPr lang="it-IT" sz="1200" dirty="0">
                <a:solidFill>
                  <a:schemeClr val="bg1"/>
                </a:solidFill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https://doi.org/10.1186/1471-2105-12-77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Robinson, D., Hayes, A., </a:t>
            </a:r>
            <a:r>
              <a:rPr lang="it-IT" sz="1200" dirty="0" err="1">
                <a:solidFill>
                  <a:schemeClr val="bg1"/>
                </a:solidFill>
              </a:rPr>
              <a:t>Couch</a:t>
            </a:r>
            <a:r>
              <a:rPr lang="it-IT" sz="1200" dirty="0">
                <a:solidFill>
                  <a:schemeClr val="bg1"/>
                </a:solidFill>
              </a:rPr>
              <a:t>, S., &amp; </a:t>
            </a:r>
            <a:r>
              <a:rPr lang="it-IT" sz="1200" dirty="0" err="1">
                <a:solidFill>
                  <a:schemeClr val="bg1"/>
                </a:solidFill>
              </a:rPr>
              <a:t>Hvitfeldt</a:t>
            </a:r>
            <a:r>
              <a:rPr lang="it-IT" sz="1200" dirty="0">
                <a:solidFill>
                  <a:schemeClr val="bg1"/>
                </a:solidFill>
              </a:rPr>
              <a:t>, E. (2025). </a:t>
            </a:r>
            <a:r>
              <a:rPr lang="it-IT" sz="1200" i="1" dirty="0" err="1">
                <a:solidFill>
                  <a:schemeClr val="bg1"/>
                </a:solidFill>
              </a:rPr>
              <a:t>broom</a:t>
            </a:r>
            <a:r>
              <a:rPr lang="it-IT" sz="1200" i="1" dirty="0">
                <a:solidFill>
                  <a:schemeClr val="bg1"/>
                </a:solidFill>
              </a:rPr>
              <a:t>: </a:t>
            </a:r>
            <a:r>
              <a:rPr lang="it-IT" sz="1200" i="1" dirty="0" err="1">
                <a:solidFill>
                  <a:schemeClr val="bg1"/>
                </a:solidFill>
              </a:rPr>
              <a:t>Convert</a:t>
            </a:r>
            <a:r>
              <a:rPr lang="it-IT" sz="1200" i="1" dirty="0">
                <a:solidFill>
                  <a:schemeClr val="bg1"/>
                </a:solidFill>
              </a:rPr>
              <a:t> </a:t>
            </a:r>
            <a:r>
              <a:rPr lang="it-IT" sz="1200" i="1" dirty="0" err="1">
                <a:solidFill>
                  <a:schemeClr val="bg1"/>
                </a:solidFill>
              </a:rPr>
              <a:t>statistical</a:t>
            </a:r>
            <a:r>
              <a:rPr lang="it-IT" sz="1200" i="1" dirty="0">
                <a:solidFill>
                  <a:schemeClr val="bg1"/>
                </a:solidFill>
              </a:rPr>
              <a:t> </a:t>
            </a:r>
            <a:r>
              <a:rPr lang="it-IT" sz="1200" i="1" dirty="0" err="1">
                <a:solidFill>
                  <a:schemeClr val="bg1"/>
                </a:solidFill>
              </a:rPr>
              <a:t>objects</a:t>
            </a:r>
            <a:r>
              <a:rPr lang="it-IT" sz="1200" i="1" dirty="0">
                <a:solidFill>
                  <a:schemeClr val="bg1"/>
                </a:solidFill>
              </a:rPr>
              <a:t> </a:t>
            </a:r>
            <a:r>
              <a:rPr lang="it-IT" sz="1200" i="1" dirty="0" err="1">
                <a:solidFill>
                  <a:schemeClr val="bg1"/>
                </a:solidFill>
              </a:rPr>
              <a:t>into</a:t>
            </a:r>
            <a:r>
              <a:rPr lang="it-IT" sz="1200" i="1" dirty="0">
                <a:solidFill>
                  <a:schemeClr val="bg1"/>
                </a:solidFill>
              </a:rPr>
              <a:t> </a:t>
            </a:r>
            <a:r>
              <a:rPr lang="it-IT" sz="1200" i="1" dirty="0" err="1">
                <a:solidFill>
                  <a:schemeClr val="bg1"/>
                </a:solidFill>
              </a:rPr>
              <a:t>tidy</a:t>
            </a:r>
            <a:r>
              <a:rPr lang="it-IT" sz="1200" i="1" dirty="0">
                <a:solidFill>
                  <a:schemeClr val="bg1"/>
                </a:solidFill>
              </a:rPr>
              <a:t> </a:t>
            </a:r>
            <a:r>
              <a:rPr lang="it-IT" sz="1200" i="1" dirty="0" err="1">
                <a:solidFill>
                  <a:schemeClr val="bg1"/>
                </a:solidFill>
              </a:rPr>
              <a:t>tibbles</a:t>
            </a:r>
            <a:r>
              <a:rPr lang="it-IT" sz="1200" dirty="0">
                <a:solidFill>
                  <a:schemeClr val="bg1"/>
                </a:solidFill>
              </a:rPr>
              <a:t> (R package </a:t>
            </a:r>
            <a:r>
              <a:rPr lang="it-IT" sz="1200" dirty="0" err="1">
                <a:solidFill>
                  <a:schemeClr val="bg1"/>
                </a:solidFill>
              </a:rPr>
              <a:t>version</a:t>
            </a:r>
            <a:r>
              <a:rPr lang="it-IT" sz="1200" dirty="0">
                <a:solidFill>
                  <a:schemeClr val="bg1"/>
                </a:solidFill>
              </a:rPr>
              <a:t> 1.0.11). </a:t>
            </a:r>
            <a:r>
              <a:rPr lang="it-IT" sz="1200" dirty="0">
                <a:solidFill>
                  <a:schemeClr val="bg1"/>
                </a:solidFill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https://doi.org/10.32614/CRAN.package.broom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Walpole, R. E., Myers, R. H., Myers, S. L., &amp; </a:t>
            </a:r>
            <a:r>
              <a:rPr lang="it-IT" sz="1200" dirty="0" err="1">
                <a:solidFill>
                  <a:schemeClr val="bg1"/>
                </a:solidFill>
              </a:rPr>
              <a:t>Ye</a:t>
            </a:r>
            <a:r>
              <a:rPr lang="it-IT" sz="1200" dirty="0">
                <a:solidFill>
                  <a:schemeClr val="bg1"/>
                </a:solidFill>
              </a:rPr>
              <a:t>, K. E. (2016). </a:t>
            </a:r>
            <a:r>
              <a:rPr lang="it-IT" sz="1200" i="1" dirty="0">
                <a:solidFill>
                  <a:schemeClr val="bg1"/>
                </a:solidFill>
              </a:rPr>
              <a:t>Probabilità e statistica per ingegneria e scienze: Strumenti e applicazioni in R</a:t>
            </a:r>
            <a:r>
              <a:rPr lang="it-IT" sz="1200" dirty="0">
                <a:solidFill>
                  <a:schemeClr val="bg1"/>
                </a:solidFill>
              </a:rPr>
              <a:t> (9a ed.). Pearson.</a:t>
            </a:r>
          </a:p>
          <a:p>
            <a:pPr>
              <a:spcAft>
                <a:spcPts val="2000"/>
              </a:spcAft>
            </a:pPr>
            <a:r>
              <a:rPr lang="it-IT" sz="1200" dirty="0">
                <a:solidFill>
                  <a:schemeClr val="bg1"/>
                </a:solidFill>
              </a:rPr>
              <a:t>Wickham, H., </a:t>
            </a:r>
            <a:r>
              <a:rPr lang="it-IT" sz="1200" dirty="0" err="1">
                <a:solidFill>
                  <a:schemeClr val="bg1"/>
                </a:solidFill>
              </a:rPr>
              <a:t>Averick</a:t>
            </a:r>
            <a:r>
              <a:rPr lang="it-IT" sz="1200" dirty="0">
                <a:solidFill>
                  <a:schemeClr val="bg1"/>
                </a:solidFill>
              </a:rPr>
              <a:t>, M., Bryan, J., Chang, W., McGowan, L. D., François, R., </a:t>
            </a:r>
            <a:r>
              <a:rPr lang="it-IT" sz="1200" dirty="0" err="1">
                <a:solidFill>
                  <a:schemeClr val="bg1"/>
                </a:solidFill>
              </a:rPr>
              <a:t>Grolemund</a:t>
            </a:r>
            <a:r>
              <a:rPr lang="it-IT" sz="1200" dirty="0">
                <a:solidFill>
                  <a:schemeClr val="bg1"/>
                </a:solidFill>
              </a:rPr>
              <a:t>, G., Hayes, A., Henry, L., Hester, J., Kuhn, M., Pedersen, T. L., Miller, E., </a:t>
            </a:r>
            <a:r>
              <a:rPr lang="it-IT" sz="1200" dirty="0" err="1">
                <a:solidFill>
                  <a:schemeClr val="bg1"/>
                </a:solidFill>
              </a:rPr>
              <a:t>Bache</a:t>
            </a:r>
            <a:r>
              <a:rPr lang="it-IT" sz="1200" dirty="0">
                <a:solidFill>
                  <a:schemeClr val="bg1"/>
                </a:solidFill>
              </a:rPr>
              <a:t>, S. M., Müller, K., </a:t>
            </a:r>
            <a:r>
              <a:rPr lang="it-IT" sz="1200" dirty="0" err="1">
                <a:solidFill>
                  <a:schemeClr val="bg1"/>
                </a:solidFill>
              </a:rPr>
              <a:t>Ooms</a:t>
            </a:r>
            <a:r>
              <a:rPr lang="it-IT" sz="1200" dirty="0">
                <a:solidFill>
                  <a:schemeClr val="bg1"/>
                </a:solidFill>
              </a:rPr>
              <a:t>, J., Robinson, D., Seidel, D. P., </a:t>
            </a:r>
            <a:r>
              <a:rPr lang="it-IT" sz="1200" dirty="0" err="1">
                <a:solidFill>
                  <a:schemeClr val="bg1"/>
                </a:solidFill>
              </a:rPr>
              <a:t>Spinu</a:t>
            </a:r>
            <a:r>
              <a:rPr lang="it-IT" sz="1200" dirty="0">
                <a:solidFill>
                  <a:schemeClr val="bg1"/>
                </a:solidFill>
              </a:rPr>
              <a:t>, V., … </a:t>
            </a:r>
            <a:r>
              <a:rPr lang="it-IT" sz="1200" dirty="0" err="1">
                <a:solidFill>
                  <a:schemeClr val="bg1"/>
                </a:solidFill>
              </a:rPr>
              <a:t>Yutani</a:t>
            </a:r>
            <a:r>
              <a:rPr lang="it-IT" sz="1200" dirty="0">
                <a:solidFill>
                  <a:schemeClr val="bg1"/>
                </a:solidFill>
              </a:rPr>
              <a:t>, H. (2019). Welcome to the </a:t>
            </a:r>
            <a:r>
              <a:rPr lang="it-IT" sz="1200" dirty="0" err="1">
                <a:solidFill>
                  <a:schemeClr val="bg1"/>
                </a:solidFill>
              </a:rPr>
              <a:t>tidyverse</a:t>
            </a:r>
            <a:r>
              <a:rPr lang="it-IT" sz="1200" dirty="0">
                <a:solidFill>
                  <a:schemeClr val="bg1"/>
                </a:solidFill>
              </a:rPr>
              <a:t>. </a:t>
            </a:r>
            <a:r>
              <a:rPr lang="it-IT" sz="1200" i="1" dirty="0">
                <a:solidFill>
                  <a:schemeClr val="bg1"/>
                </a:solidFill>
              </a:rPr>
              <a:t>Journal of Open Source Software</a:t>
            </a:r>
            <a:r>
              <a:rPr lang="it-IT" sz="1200" dirty="0">
                <a:solidFill>
                  <a:schemeClr val="bg1"/>
                </a:solidFill>
              </a:rPr>
              <a:t>, 4(43), 1686. </a:t>
            </a:r>
            <a:r>
              <a:rPr lang="it-IT" sz="1200" dirty="0">
                <a:solidFill>
                  <a:schemeClr val="bg1"/>
                </a:solidFill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https://doi.org/10.21105/joss.01686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r>
              <a:rPr lang="it-IT" sz="1200" dirty="0" err="1">
                <a:solidFill>
                  <a:schemeClr val="bg1"/>
                </a:solidFill>
              </a:rPr>
              <a:t>Youden</a:t>
            </a:r>
            <a:r>
              <a:rPr lang="it-IT" sz="1200" dirty="0">
                <a:solidFill>
                  <a:schemeClr val="bg1"/>
                </a:solidFill>
              </a:rPr>
              <a:t>, W. J. (1950). Index for rating </a:t>
            </a:r>
            <a:r>
              <a:rPr lang="it-IT" sz="1200" dirty="0" err="1">
                <a:solidFill>
                  <a:schemeClr val="bg1"/>
                </a:solidFill>
              </a:rPr>
              <a:t>diagnostic</a:t>
            </a:r>
            <a:r>
              <a:rPr lang="it-IT" sz="1200" dirty="0">
                <a:solidFill>
                  <a:schemeClr val="bg1"/>
                </a:solidFill>
              </a:rPr>
              <a:t> </a:t>
            </a:r>
            <a:r>
              <a:rPr lang="it-IT" sz="1200" dirty="0" err="1">
                <a:solidFill>
                  <a:schemeClr val="bg1"/>
                </a:solidFill>
              </a:rPr>
              <a:t>tests</a:t>
            </a:r>
            <a:r>
              <a:rPr lang="it-IT" sz="1200" dirty="0">
                <a:solidFill>
                  <a:schemeClr val="bg1"/>
                </a:solidFill>
              </a:rPr>
              <a:t>. </a:t>
            </a:r>
            <a:r>
              <a:rPr lang="it-IT" sz="1200" i="1" dirty="0">
                <a:solidFill>
                  <a:schemeClr val="bg1"/>
                </a:solidFill>
              </a:rPr>
              <a:t>Cancer</a:t>
            </a:r>
            <a:r>
              <a:rPr lang="it-IT" sz="1200" dirty="0">
                <a:solidFill>
                  <a:schemeClr val="bg1"/>
                </a:solidFill>
              </a:rPr>
              <a:t>, 3(1), 32–35. </a:t>
            </a:r>
            <a:r>
              <a:rPr lang="it-IT" sz="1200" dirty="0">
                <a:solidFill>
                  <a:schemeClr val="bg1"/>
                </a:solidFill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https://doi.org/bjw536</a:t>
            </a:r>
            <a:endParaRPr lang="it-IT" sz="1200" dirty="0">
              <a:solidFill>
                <a:schemeClr val="bg1"/>
              </a:solidFill>
            </a:endParaRPr>
          </a:p>
          <a:p>
            <a:pPr>
              <a:spcAft>
                <a:spcPts val="2000"/>
              </a:spcAft>
            </a:pPr>
            <a:endParaRPr lang="it-IT" sz="1200" dirty="0">
              <a:solidFill>
                <a:schemeClr val="bg1"/>
              </a:solidFill>
            </a:endParaRPr>
          </a:p>
        </p:txBody>
      </p:sp>
      <p:pic>
        <p:nvPicPr>
          <p:cNvPr id="2" name="Immagine 1" descr="Immagine che contiene triangolo&#10;&#10;Il contenuto generato dall'IA potrebbe non essere corretto.">
            <a:hlinkClick r:id="rId22" action="ppaction://hlinksldjump"/>
            <a:extLst>
              <a:ext uri="{FF2B5EF4-FFF2-40B4-BE49-F238E27FC236}">
                <a16:creationId xmlns:a16="http://schemas.microsoft.com/office/drawing/2014/main" id="{FD33691E-CADF-DFC7-2843-80BB3EDB31A6}"/>
              </a:ext>
            </a:extLst>
          </p:cNvPr>
          <p:cNvPicPr>
            <a:picLocks noChangeAspect="1"/>
          </p:cNvPicPr>
          <p:nvPr/>
        </p:nvPicPr>
        <p:blipFill>
          <a:blip r:embed="rId2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92" y="5252845"/>
            <a:ext cx="534779" cy="538229"/>
          </a:xfrm>
          <a:prstGeom prst="rect">
            <a:avLst/>
          </a:prstGeom>
        </p:spPr>
      </p:pic>
      <p:pic>
        <p:nvPicPr>
          <p:cNvPr id="4" name="Immagine 3" descr="Immagine che contiene design, linea, bianco, Rettangolo&#10;&#10;Il contenuto generato dall'IA potrebbe non essere corretto.">
            <a:hlinkClick r:id="rId24" action="ppaction://hlinksldjump"/>
            <a:extLst>
              <a:ext uri="{FF2B5EF4-FFF2-40B4-BE49-F238E27FC236}">
                <a16:creationId xmlns:a16="http://schemas.microsoft.com/office/drawing/2014/main" id="{3E69F5E8-7293-F238-1904-9D97BCF98DA6}"/>
              </a:ext>
            </a:extLst>
          </p:cNvPr>
          <p:cNvPicPr>
            <a:picLocks noChangeAspect="1"/>
          </p:cNvPicPr>
          <p:nvPr/>
        </p:nvPicPr>
        <p:blipFill>
          <a:blip r:embed="rId2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4590324"/>
            <a:ext cx="510664" cy="484251"/>
          </a:xfrm>
          <a:prstGeom prst="rect">
            <a:avLst/>
          </a:prstGeom>
        </p:spPr>
      </p:pic>
      <p:pic>
        <p:nvPicPr>
          <p:cNvPr id="5" name="Immagine 4" descr="Immagine che contiene arte, bianco e nero&#10;&#10;Il contenuto generato dall'IA potrebbe non essere corretto.">
            <a:hlinkClick r:id="rId26" action="ppaction://hlinksldjump"/>
            <a:extLst>
              <a:ext uri="{FF2B5EF4-FFF2-40B4-BE49-F238E27FC236}">
                <a16:creationId xmlns:a16="http://schemas.microsoft.com/office/drawing/2014/main" id="{B1A40D7E-7C91-A3EB-A8F9-C4518AFBB4C3}"/>
              </a:ext>
            </a:extLst>
          </p:cNvPr>
          <p:cNvPicPr>
            <a:picLocks noChangeAspect="1"/>
          </p:cNvPicPr>
          <p:nvPr/>
        </p:nvPicPr>
        <p:blipFill>
          <a:blip r:embed="rId27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8" y="3843199"/>
            <a:ext cx="569712" cy="505216"/>
          </a:xfrm>
          <a:prstGeom prst="rect">
            <a:avLst/>
          </a:prstGeom>
        </p:spPr>
      </p:pic>
      <p:pic>
        <p:nvPicPr>
          <p:cNvPr id="7" name="Immagine 6" descr="Immagine che contiene bianco, Utensile da cucina, bianco e nero, monocromatico&#10;&#10;Il contenuto generato dall'IA potrebbe non essere corretto.">
            <a:hlinkClick r:id="rId28" action="ppaction://hlinksldjump"/>
            <a:extLst>
              <a:ext uri="{FF2B5EF4-FFF2-40B4-BE49-F238E27FC236}">
                <a16:creationId xmlns:a16="http://schemas.microsoft.com/office/drawing/2014/main" id="{9B70C842-A2E3-BC7D-D348-3360ECFE564E}"/>
              </a:ext>
            </a:extLst>
          </p:cNvPr>
          <p:cNvPicPr>
            <a:picLocks noChangeAspect="1"/>
          </p:cNvPicPr>
          <p:nvPr/>
        </p:nvPicPr>
        <p:blipFill>
          <a:blip r:embed="rId2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50" y="3064823"/>
            <a:ext cx="532695" cy="536003"/>
          </a:xfrm>
          <a:prstGeom prst="rect">
            <a:avLst/>
          </a:prstGeom>
        </p:spPr>
      </p:pic>
      <p:pic>
        <p:nvPicPr>
          <p:cNvPr id="8" name="Immagine 7" descr="Immagine che contiene ingranaggio, oggetti in metallo, cerchio, ruota&#10;&#10;Il contenuto generato dall'IA potrebbe non essere corretto.">
            <a:hlinkClick r:id="rId30" action="ppaction://hlinksldjump"/>
            <a:extLst>
              <a:ext uri="{FF2B5EF4-FFF2-40B4-BE49-F238E27FC236}">
                <a16:creationId xmlns:a16="http://schemas.microsoft.com/office/drawing/2014/main" id="{FCE7CF2C-FFE5-3EE4-0A56-A8BC6AC7A5F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10" y="2345928"/>
            <a:ext cx="622942" cy="600826"/>
          </a:xfrm>
          <a:prstGeom prst="rect">
            <a:avLst/>
          </a:prstGeom>
        </p:spPr>
      </p:pic>
      <p:pic>
        <p:nvPicPr>
          <p:cNvPr id="9" name="Immagine 8" descr="Immagine che contiene cerchio, bianco e nero&#10;&#10;Il contenuto generato dall'IA potrebbe non essere corretto.">
            <a:hlinkClick r:id="rId32" action="ppaction://hlinksldjump"/>
            <a:extLst>
              <a:ext uri="{FF2B5EF4-FFF2-40B4-BE49-F238E27FC236}">
                <a16:creationId xmlns:a16="http://schemas.microsoft.com/office/drawing/2014/main" id="{E699C283-FF80-03B9-F7B5-933850453FB6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54" y="203687"/>
            <a:ext cx="612617" cy="553569"/>
          </a:xfrm>
          <a:prstGeom prst="rect">
            <a:avLst/>
          </a:prstGeom>
        </p:spPr>
      </p:pic>
      <p:pic>
        <p:nvPicPr>
          <p:cNvPr id="10" name="Immagine 9" descr="Immagine che contiene schermata, design&#10;&#10;Il contenuto generato dall'IA potrebbe non essere corretto.">
            <a:hlinkClick r:id="rId34" action="ppaction://hlinksldjump"/>
            <a:extLst>
              <a:ext uri="{FF2B5EF4-FFF2-40B4-BE49-F238E27FC236}">
                <a16:creationId xmlns:a16="http://schemas.microsoft.com/office/drawing/2014/main" id="{5DB69532-1B1E-97DD-ACEC-0E4F2530800C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84" y="976611"/>
            <a:ext cx="460283" cy="424648"/>
          </a:xfrm>
          <a:prstGeom prst="rect">
            <a:avLst/>
          </a:prstGeom>
        </p:spPr>
      </p:pic>
      <p:pic>
        <p:nvPicPr>
          <p:cNvPr id="11" name="Immagine 10" descr="Immagine che contiene schermata, Rettangolo, design&#10;&#10;Il contenuto generato dall'IA potrebbe non essere corretto.">
            <a:hlinkClick r:id="rId36" action="ppaction://hlinksldjump"/>
            <a:extLst>
              <a:ext uri="{FF2B5EF4-FFF2-40B4-BE49-F238E27FC236}">
                <a16:creationId xmlns:a16="http://schemas.microsoft.com/office/drawing/2014/main" id="{07BDE57D-A3AE-C847-2425-B71754717521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46" y="1726737"/>
            <a:ext cx="521042" cy="433257"/>
          </a:xfrm>
          <a:prstGeom prst="rect">
            <a:avLst/>
          </a:prstGeom>
        </p:spPr>
      </p:pic>
      <p:pic>
        <p:nvPicPr>
          <p:cNvPr id="14" name="Immagine 13" descr="Immagine che contiene schermata, clipart, Elementi grafici, grafica&#10;&#10;Il contenuto generato dall'IA potrebbe non essere corretto.">
            <a:extLst>
              <a:ext uri="{FF2B5EF4-FFF2-40B4-BE49-F238E27FC236}">
                <a16:creationId xmlns:a16="http://schemas.microsoft.com/office/drawing/2014/main" id="{DFCDA793-AFD8-D973-5157-37A3B57DC2A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7130" y="87870"/>
            <a:ext cx="1005169" cy="100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52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</TotalTime>
  <Words>2642</Words>
  <Application>Microsoft Office PowerPoint</Application>
  <PresentationFormat>Widescreen</PresentationFormat>
  <Paragraphs>266</Paragraphs>
  <Slides>32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38" baseType="lpstr">
      <vt:lpstr>Aharoni</vt:lpstr>
      <vt:lpstr>Aptos</vt:lpstr>
      <vt:lpstr>Aptos Display</vt:lpstr>
      <vt:lpstr>Arial</vt:lpstr>
      <vt:lpstr>Cambria Math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Richard Meoli</dc:creator>
  <cp:lastModifiedBy>RICHARD MEOLI</cp:lastModifiedBy>
  <cp:revision>33</cp:revision>
  <dcterms:created xsi:type="dcterms:W3CDTF">2026-01-17T15:57:59Z</dcterms:created>
  <dcterms:modified xsi:type="dcterms:W3CDTF">2026-01-19T16:33:27Z</dcterms:modified>
</cp:coreProperties>
</file>